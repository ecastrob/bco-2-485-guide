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58" r:id="rId5"/>
    <p:sldId id="265" r:id="rId6"/>
    <p:sldId id="259" r:id="rId7"/>
    <p:sldId id="260" r:id="rId8"/>
    <p:sldId id="261" r:id="rId9"/>
    <p:sldId id="262" r:id="rId10"/>
    <p:sldId id="263" r:id="rId11"/>
    <p:sldId id="266" r:id="rId12"/>
    <p:sldId id="269" r:id="rId13"/>
    <p:sldId id="270" r:id="rId14"/>
    <p:sldId id="267" r:id="rId15"/>
    <p:sldId id="268"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72" r:id="rId36"/>
    <p:sldId id="298" r:id="rId37"/>
    <p:sldId id="273" r:id="rId38"/>
    <p:sldId id="294" r:id="rId39"/>
    <p:sldId id="295" r:id="rId40"/>
    <p:sldId id="296" r:id="rId41"/>
    <p:sldId id="297" r:id="rId42"/>
    <p:sldId id="299" r:id="rId43"/>
    <p:sldId id="271"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71FF"/>
    <a:srgbClr val="FA572A"/>
    <a:srgbClr val="56E11F"/>
    <a:srgbClr val="F5F52F"/>
    <a:srgbClr val="EEA82A"/>
    <a:srgbClr val="FA93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9" autoAdjust="0"/>
    <p:restoredTop sz="94660"/>
  </p:normalViewPr>
  <p:slideViewPr>
    <p:cSldViewPr snapToGrid="0">
      <p:cViewPr varScale="1">
        <p:scale>
          <a:sx n="96" d="100"/>
          <a:sy n="96" d="100"/>
        </p:scale>
        <p:origin x="96" y="5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keta Springer" userId="6035ab54679117c1" providerId="LiveId" clId="{01563F8E-7AC2-44D1-8C14-E3DBD7B3F34C}"/>
    <pc:docChg chg="custSel modSld">
      <pc:chgData name="Marketa Springer" userId="6035ab54679117c1" providerId="LiveId" clId="{01563F8E-7AC2-44D1-8C14-E3DBD7B3F34C}" dt="2020-05-13T21:31:48.895" v="34" actId="6549"/>
      <pc:docMkLst>
        <pc:docMk/>
      </pc:docMkLst>
      <pc:sldChg chg="modSp mod">
        <pc:chgData name="Marketa Springer" userId="6035ab54679117c1" providerId="LiveId" clId="{01563F8E-7AC2-44D1-8C14-E3DBD7B3F34C}" dt="2020-05-12T22:08:19.103" v="7" actId="1076"/>
        <pc:sldMkLst>
          <pc:docMk/>
          <pc:sldMk cId="2433668814" sldId="258"/>
        </pc:sldMkLst>
        <pc:spChg chg="mod">
          <ac:chgData name="Marketa Springer" userId="6035ab54679117c1" providerId="LiveId" clId="{01563F8E-7AC2-44D1-8C14-E3DBD7B3F34C}" dt="2020-05-12T22:07:58.057" v="2" actId="1076"/>
          <ac:spMkLst>
            <pc:docMk/>
            <pc:sldMk cId="2433668814" sldId="258"/>
            <ac:spMk id="28" creationId="{00000000-0000-0000-0000-000000000000}"/>
          </ac:spMkLst>
        </pc:spChg>
        <pc:spChg chg="mod">
          <ac:chgData name="Marketa Springer" userId="6035ab54679117c1" providerId="LiveId" clId="{01563F8E-7AC2-44D1-8C14-E3DBD7B3F34C}" dt="2020-05-12T22:08:08.203" v="5" actId="1076"/>
          <ac:spMkLst>
            <pc:docMk/>
            <pc:sldMk cId="2433668814" sldId="258"/>
            <ac:spMk id="35" creationId="{00000000-0000-0000-0000-000000000000}"/>
          </ac:spMkLst>
        </pc:spChg>
        <pc:spChg chg="mod">
          <ac:chgData name="Marketa Springer" userId="6035ab54679117c1" providerId="LiveId" clId="{01563F8E-7AC2-44D1-8C14-E3DBD7B3F34C}" dt="2020-05-12T22:08:19.103" v="7" actId="1076"/>
          <ac:spMkLst>
            <pc:docMk/>
            <pc:sldMk cId="2433668814" sldId="258"/>
            <ac:spMk id="40" creationId="{00000000-0000-0000-0000-000000000000}"/>
          </ac:spMkLst>
        </pc:spChg>
        <pc:spChg chg="mod">
          <ac:chgData name="Marketa Springer" userId="6035ab54679117c1" providerId="LiveId" clId="{01563F8E-7AC2-44D1-8C14-E3DBD7B3F34C}" dt="2020-05-12T22:03:29.052" v="1" actId="1076"/>
          <ac:spMkLst>
            <pc:docMk/>
            <pc:sldMk cId="2433668814" sldId="258"/>
            <ac:spMk id="44" creationId="{00000000-0000-0000-0000-000000000000}"/>
          </ac:spMkLst>
        </pc:spChg>
        <pc:cxnChg chg="mod">
          <ac:chgData name="Marketa Springer" userId="6035ab54679117c1" providerId="LiveId" clId="{01563F8E-7AC2-44D1-8C14-E3DBD7B3F34C}" dt="2020-05-12T22:08:15.551" v="6" actId="1076"/>
          <ac:cxnSpMkLst>
            <pc:docMk/>
            <pc:sldMk cId="2433668814" sldId="258"/>
            <ac:cxnSpMk id="42" creationId="{00000000-0000-0000-0000-000000000000}"/>
          </ac:cxnSpMkLst>
        </pc:cxnChg>
      </pc:sldChg>
      <pc:sldChg chg="modSp mod">
        <pc:chgData name="Marketa Springer" userId="6035ab54679117c1" providerId="LiveId" clId="{01563F8E-7AC2-44D1-8C14-E3DBD7B3F34C}" dt="2020-05-13T12:42:10.871" v="12"/>
        <pc:sldMkLst>
          <pc:docMk/>
          <pc:sldMk cId="1503917573" sldId="260"/>
        </pc:sldMkLst>
        <pc:spChg chg="mod">
          <ac:chgData name="Marketa Springer" userId="6035ab54679117c1" providerId="LiveId" clId="{01563F8E-7AC2-44D1-8C14-E3DBD7B3F34C}" dt="2020-05-13T12:42:10.871" v="12"/>
          <ac:spMkLst>
            <pc:docMk/>
            <pc:sldMk cId="1503917573" sldId="260"/>
            <ac:spMk id="8" creationId="{00000000-0000-0000-0000-000000000000}"/>
          </ac:spMkLst>
        </pc:spChg>
      </pc:sldChg>
      <pc:sldChg chg="modSp mod">
        <pc:chgData name="Marketa Springer" userId="6035ab54679117c1" providerId="LiveId" clId="{01563F8E-7AC2-44D1-8C14-E3DBD7B3F34C}" dt="2020-05-13T21:24:46.268" v="33" actId="33524"/>
        <pc:sldMkLst>
          <pc:docMk/>
          <pc:sldMk cId="361205531" sldId="261"/>
        </pc:sldMkLst>
        <pc:spChg chg="mod">
          <ac:chgData name="Marketa Springer" userId="6035ab54679117c1" providerId="LiveId" clId="{01563F8E-7AC2-44D1-8C14-E3DBD7B3F34C}" dt="2020-05-13T21:24:46.268" v="33" actId="33524"/>
          <ac:spMkLst>
            <pc:docMk/>
            <pc:sldMk cId="361205531" sldId="261"/>
            <ac:spMk id="10" creationId="{00000000-0000-0000-0000-000000000000}"/>
          </ac:spMkLst>
        </pc:spChg>
      </pc:sldChg>
      <pc:sldChg chg="modSp mod">
        <pc:chgData name="Marketa Springer" userId="6035ab54679117c1" providerId="LiveId" clId="{01563F8E-7AC2-44D1-8C14-E3DBD7B3F34C}" dt="2020-05-13T12:43:52.502" v="13"/>
        <pc:sldMkLst>
          <pc:docMk/>
          <pc:sldMk cId="1550913009" sldId="262"/>
        </pc:sldMkLst>
        <pc:spChg chg="mod">
          <ac:chgData name="Marketa Springer" userId="6035ab54679117c1" providerId="LiveId" clId="{01563F8E-7AC2-44D1-8C14-E3DBD7B3F34C}" dt="2020-05-13T12:43:52.502" v="13"/>
          <ac:spMkLst>
            <pc:docMk/>
            <pc:sldMk cId="1550913009" sldId="262"/>
            <ac:spMk id="49" creationId="{00000000-0000-0000-0000-000000000000}"/>
          </ac:spMkLst>
        </pc:spChg>
      </pc:sldChg>
      <pc:sldChg chg="modSp mod">
        <pc:chgData name="Marketa Springer" userId="6035ab54679117c1" providerId="LiveId" clId="{01563F8E-7AC2-44D1-8C14-E3DBD7B3F34C}" dt="2020-05-13T12:46:34.358" v="16" actId="1076"/>
        <pc:sldMkLst>
          <pc:docMk/>
          <pc:sldMk cId="2915795406" sldId="263"/>
        </pc:sldMkLst>
        <pc:spChg chg="mod">
          <ac:chgData name="Marketa Springer" userId="6035ab54679117c1" providerId="LiveId" clId="{01563F8E-7AC2-44D1-8C14-E3DBD7B3F34C}" dt="2020-05-13T12:46:34.358" v="16" actId="1076"/>
          <ac:spMkLst>
            <pc:docMk/>
            <pc:sldMk cId="2915795406" sldId="263"/>
            <ac:spMk id="22" creationId="{00000000-0000-0000-0000-000000000000}"/>
          </ac:spMkLst>
        </pc:spChg>
      </pc:sldChg>
      <pc:sldChg chg="modSp mod">
        <pc:chgData name="Marketa Springer" userId="6035ab54679117c1" providerId="LiveId" clId="{01563F8E-7AC2-44D1-8C14-E3DBD7B3F34C}" dt="2020-05-12T22:11:22.702" v="10" actId="20577"/>
        <pc:sldMkLst>
          <pc:docMk/>
          <pc:sldMk cId="765168054" sldId="264"/>
        </pc:sldMkLst>
        <pc:spChg chg="mod">
          <ac:chgData name="Marketa Springer" userId="6035ab54679117c1" providerId="LiveId" clId="{01563F8E-7AC2-44D1-8C14-E3DBD7B3F34C}" dt="2020-05-12T22:11:22.702" v="10" actId="20577"/>
          <ac:spMkLst>
            <pc:docMk/>
            <pc:sldMk cId="765168054" sldId="264"/>
            <ac:spMk id="2" creationId="{00000000-0000-0000-0000-000000000000}"/>
          </ac:spMkLst>
        </pc:spChg>
      </pc:sldChg>
      <pc:sldChg chg="modSp mod">
        <pc:chgData name="Marketa Springer" userId="6035ab54679117c1" providerId="LiveId" clId="{01563F8E-7AC2-44D1-8C14-E3DBD7B3F34C}" dt="2020-05-13T21:31:48.895" v="34" actId="6549"/>
        <pc:sldMkLst>
          <pc:docMk/>
          <pc:sldMk cId="711369135" sldId="266"/>
        </pc:sldMkLst>
        <pc:spChg chg="mod">
          <ac:chgData name="Marketa Springer" userId="6035ab54679117c1" providerId="LiveId" clId="{01563F8E-7AC2-44D1-8C14-E3DBD7B3F34C}" dt="2020-05-13T21:31:48.895" v="34" actId="6549"/>
          <ac:spMkLst>
            <pc:docMk/>
            <pc:sldMk cId="711369135" sldId="266"/>
            <ac:spMk id="7" creationId="{00000000-0000-0000-0000-000000000000}"/>
          </ac:spMkLst>
        </pc:spChg>
        <pc:spChg chg="mod">
          <ac:chgData name="Marketa Springer" userId="6035ab54679117c1" providerId="LiveId" clId="{01563F8E-7AC2-44D1-8C14-E3DBD7B3F34C}" dt="2020-05-13T12:49:06.399" v="31" actId="20577"/>
          <ac:spMkLst>
            <pc:docMk/>
            <pc:sldMk cId="711369135" sldId="266"/>
            <ac:spMk id="11" creationId="{00000000-0000-0000-0000-000000000000}"/>
          </ac:spMkLst>
        </pc:spChg>
      </pc:sldChg>
      <pc:sldChg chg="modSp mod">
        <pc:chgData name="Marketa Springer" userId="6035ab54679117c1" providerId="LiveId" clId="{01563F8E-7AC2-44D1-8C14-E3DBD7B3F34C}" dt="2020-05-12T22:25:31.036" v="11" actId="313"/>
        <pc:sldMkLst>
          <pc:docMk/>
          <pc:sldMk cId="3839009400" sldId="278"/>
        </pc:sldMkLst>
        <pc:spChg chg="mod">
          <ac:chgData name="Marketa Springer" userId="6035ab54679117c1" providerId="LiveId" clId="{01563F8E-7AC2-44D1-8C14-E3DBD7B3F34C}" dt="2020-05-12T22:25:31.036" v="11" actId="313"/>
          <ac:spMkLst>
            <pc:docMk/>
            <pc:sldMk cId="3839009400" sldId="278"/>
            <ac:spMk id="8"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751CBC5-BF70-429A-B750-2273E517BC07}" type="datetimeFigureOut">
              <a:rPr lang="en-US" smtClean="0"/>
              <a:t>5/22/2024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B93E1D-8F36-441C-8877-A9D98B4983DA}" type="slidenum">
              <a:rPr lang="en-US" smtClean="0"/>
              <a:t>‹#›</a:t>
            </a:fld>
            <a:endParaRPr lang="en-US"/>
          </a:p>
        </p:txBody>
      </p:sp>
    </p:spTree>
    <p:extLst>
      <p:ext uri="{BB962C8B-B14F-4D97-AF65-F5344CB8AC3E}">
        <p14:creationId xmlns:p14="http://schemas.microsoft.com/office/powerpoint/2010/main" val="1182425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51CBC5-BF70-429A-B750-2273E517BC07}" type="datetimeFigureOut">
              <a:rPr lang="en-US" smtClean="0"/>
              <a:t>5/22/2024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B93E1D-8F36-441C-8877-A9D98B4983DA}" type="slidenum">
              <a:rPr lang="en-US" smtClean="0"/>
              <a:t>‹#›</a:t>
            </a:fld>
            <a:endParaRPr lang="en-US"/>
          </a:p>
        </p:txBody>
      </p:sp>
    </p:spTree>
    <p:extLst>
      <p:ext uri="{BB962C8B-B14F-4D97-AF65-F5344CB8AC3E}">
        <p14:creationId xmlns:p14="http://schemas.microsoft.com/office/powerpoint/2010/main" val="1910751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51CBC5-BF70-429A-B750-2273E517BC07}" type="datetimeFigureOut">
              <a:rPr lang="en-US" smtClean="0"/>
              <a:t>5/22/2024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B93E1D-8F36-441C-8877-A9D98B4983DA}" type="slidenum">
              <a:rPr lang="en-US" smtClean="0"/>
              <a:t>‹#›</a:t>
            </a:fld>
            <a:endParaRPr lang="en-US"/>
          </a:p>
        </p:txBody>
      </p:sp>
    </p:spTree>
    <p:extLst>
      <p:ext uri="{BB962C8B-B14F-4D97-AF65-F5344CB8AC3E}">
        <p14:creationId xmlns:p14="http://schemas.microsoft.com/office/powerpoint/2010/main" val="3808419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751CBC5-BF70-429A-B750-2273E517BC07}" type="datetimeFigureOut">
              <a:rPr lang="en-US" smtClean="0"/>
              <a:t>5/22/2024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B93E1D-8F36-441C-8877-A9D98B4983DA}" type="slidenum">
              <a:rPr lang="en-US" smtClean="0"/>
              <a:t>‹#›</a:t>
            </a:fld>
            <a:endParaRPr lang="en-US"/>
          </a:p>
        </p:txBody>
      </p:sp>
    </p:spTree>
    <p:extLst>
      <p:ext uri="{BB962C8B-B14F-4D97-AF65-F5344CB8AC3E}">
        <p14:creationId xmlns:p14="http://schemas.microsoft.com/office/powerpoint/2010/main" val="369643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751CBC5-BF70-429A-B750-2273E517BC07}" type="datetimeFigureOut">
              <a:rPr lang="en-US" smtClean="0"/>
              <a:t>5/22/2024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B93E1D-8F36-441C-8877-A9D98B4983DA}" type="slidenum">
              <a:rPr lang="en-US" smtClean="0"/>
              <a:t>‹#›</a:t>
            </a:fld>
            <a:endParaRPr lang="en-US"/>
          </a:p>
        </p:txBody>
      </p:sp>
    </p:spTree>
    <p:extLst>
      <p:ext uri="{BB962C8B-B14F-4D97-AF65-F5344CB8AC3E}">
        <p14:creationId xmlns:p14="http://schemas.microsoft.com/office/powerpoint/2010/main" val="3203240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751CBC5-BF70-429A-B750-2273E517BC07}" type="datetimeFigureOut">
              <a:rPr lang="en-US" smtClean="0"/>
              <a:t>5/22/2024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9B93E1D-8F36-441C-8877-A9D98B4983DA}" type="slidenum">
              <a:rPr lang="en-US" smtClean="0"/>
              <a:t>‹#›</a:t>
            </a:fld>
            <a:endParaRPr lang="en-US"/>
          </a:p>
        </p:txBody>
      </p:sp>
    </p:spTree>
    <p:extLst>
      <p:ext uri="{BB962C8B-B14F-4D97-AF65-F5344CB8AC3E}">
        <p14:creationId xmlns:p14="http://schemas.microsoft.com/office/powerpoint/2010/main" val="2512132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51CBC5-BF70-429A-B750-2273E517BC07}" type="datetimeFigureOut">
              <a:rPr lang="en-US" smtClean="0"/>
              <a:t>5/22/2024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9B93E1D-8F36-441C-8877-A9D98B4983DA}" type="slidenum">
              <a:rPr lang="en-US" smtClean="0"/>
              <a:t>‹#›</a:t>
            </a:fld>
            <a:endParaRPr lang="en-US"/>
          </a:p>
        </p:txBody>
      </p:sp>
    </p:spTree>
    <p:extLst>
      <p:ext uri="{BB962C8B-B14F-4D97-AF65-F5344CB8AC3E}">
        <p14:creationId xmlns:p14="http://schemas.microsoft.com/office/powerpoint/2010/main" val="16936697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51CBC5-BF70-429A-B750-2273E517BC07}" type="datetimeFigureOut">
              <a:rPr lang="en-US" smtClean="0"/>
              <a:t>5/22/2024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B93E1D-8F36-441C-8877-A9D98B4983DA}" type="slidenum">
              <a:rPr lang="en-US" smtClean="0"/>
              <a:t>‹#›</a:t>
            </a:fld>
            <a:endParaRPr lang="en-US"/>
          </a:p>
        </p:txBody>
      </p:sp>
    </p:spTree>
    <p:extLst>
      <p:ext uri="{BB962C8B-B14F-4D97-AF65-F5344CB8AC3E}">
        <p14:creationId xmlns:p14="http://schemas.microsoft.com/office/powerpoint/2010/main" val="2793098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51CBC5-BF70-429A-B750-2273E517BC07}" type="datetimeFigureOut">
              <a:rPr lang="en-US" smtClean="0"/>
              <a:t>5/22/2024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B93E1D-8F36-441C-8877-A9D98B4983DA}" type="slidenum">
              <a:rPr lang="en-US" smtClean="0"/>
              <a:t>‹#›</a:t>
            </a:fld>
            <a:endParaRPr lang="en-US"/>
          </a:p>
        </p:txBody>
      </p:sp>
    </p:spTree>
    <p:extLst>
      <p:ext uri="{BB962C8B-B14F-4D97-AF65-F5344CB8AC3E}">
        <p14:creationId xmlns:p14="http://schemas.microsoft.com/office/powerpoint/2010/main" val="1156195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51CBC5-BF70-429A-B750-2273E517BC07}" type="datetimeFigureOut">
              <a:rPr lang="en-US" smtClean="0"/>
              <a:t>5/22/2024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B93E1D-8F36-441C-8877-A9D98B4983DA}" type="slidenum">
              <a:rPr lang="en-US" smtClean="0"/>
              <a:t>‹#›</a:t>
            </a:fld>
            <a:endParaRPr lang="en-US"/>
          </a:p>
        </p:txBody>
      </p:sp>
    </p:spTree>
    <p:extLst>
      <p:ext uri="{BB962C8B-B14F-4D97-AF65-F5344CB8AC3E}">
        <p14:creationId xmlns:p14="http://schemas.microsoft.com/office/powerpoint/2010/main" val="1397519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51CBC5-BF70-429A-B750-2273E517BC07}" type="datetimeFigureOut">
              <a:rPr lang="en-US" smtClean="0"/>
              <a:t>5/22/2024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B93E1D-8F36-441C-8877-A9D98B4983DA}" type="slidenum">
              <a:rPr lang="en-US" smtClean="0"/>
              <a:t>‹#›</a:t>
            </a:fld>
            <a:endParaRPr lang="en-US"/>
          </a:p>
        </p:txBody>
      </p:sp>
    </p:spTree>
    <p:extLst>
      <p:ext uri="{BB962C8B-B14F-4D97-AF65-F5344CB8AC3E}">
        <p14:creationId xmlns:p14="http://schemas.microsoft.com/office/powerpoint/2010/main" val="2169773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51CBC5-BF70-429A-B750-2273E517BC07}" type="datetimeFigureOut">
              <a:rPr lang="en-US" smtClean="0"/>
              <a:t>5/22/2024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B93E1D-8F36-441C-8877-A9D98B4983DA}" type="slidenum">
              <a:rPr lang="en-US" smtClean="0"/>
              <a:t>‹#›</a:t>
            </a:fld>
            <a:endParaRPr lang="en-US"/>
          </a:p>
        </p:txBody>
      </p:sp>
    </p:spTree>
    <p:extLst>
      <p:ext uri="{BB962C8B-B14F-4D97-AF65-F5344CB8AC3E}">
        <p14:creationId xmlns:p14="http://schemas.microsoft.com/office/powerpoint/2010/main" val="299929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1064311" y="2281805"/>
            <a:ext cx="10063378" cy="4504727"/>
            <a:chOff x="155273" y="0"/>
            <a:chExt cx="10839298" cy="6858000"/>
          </a:xfrm>
        </p:grpSpPr>
        <p:pic>
          <p:nvPicPr>
            <p:cNvPr id="14" name="Picture 13"/>
            <p:cNvPicPr>
              <a:picLocks noChangeAspect="1"/>
            </p:cNvPicPr>
            <p:nvPr/>
          </p:nvPicPr>
          <p:blipFill rotWithShape="1">
            <a:blip r:embed="rId2">
              <a:extLst>
                <a:ext uri="{28A0092B-C50C-407E-A947-70E740481C1C}">
                  <a14:useLocalDpi xmlns:a14="http://schemas.microsoft.com/office/drawing/2010/main" val="0"/>
                </a:ext>
              </a:extLst>
            </a:blip>
            <a:srcRect l="49941"/>
            <a:stretch/>
          </p:blipFill>
          <p:spPr>
            <a:xfrm>
              <a:off x="6090250" y="1414732"/>
              <a:ext cx="4904321" cy="5443268"/>
            </a:xfrm>
            <a:prstGeom prst="rect">
              <a:avLst/>
            </a:prstGeom>
          </p:spPr>
        </p:pic>
        <p:pic>
          <p:nvPicPr>
            <p:cNvPr id="15" name="Picture 14"/>
            <p:cNvPicPr>
              <a:picLocks noChangeAspect="1"/>
            </p:cNvPicPr>
            <p:nvPr/>
          </p:nvPicPr>
          <p:blipFill rotWithShape="1">
            <a:blip r:embed="rId2">
              <a:extLst>
                <a:ext uri="{28A0092B-C50C-407E-A947-70E740481C1C}">
                  <a14:useLocalDpi xmlns:a14="http://schemas.microsoft.com/office/drawing/2010/main" val="0"/>
                </a:ext>
              </a:extLst>
            </a:blip>
            <a:srcRect l="49619"/>
            <a:stretch/>
          </p:blipFill>
          <p:spPr>
            <a:xfrm flipH="1">
              <a:off x="155273" y="1414732"/>
              <a:ext cx="4710024" cy="5443268"/>
            </a:xfrm>
            <a:prstGeom prst="rect">
              <a:avLst/>
            </a:prstGeom>
          </p:spPr>
        </p:pic>
        <p:pic>
          <p:nvPicPr>
            <p:cNvPr id="16" name="Picture 15"/>
            <p:cNvPicPr>
              <a:picLocks noChangeAspect="1"/>
            </p:cNvPicPr>
            <p:nvPr/>
          </p:nvPicPr>
          <p:blipFill rotWithShape="1">
            <a:blip r:embed="rId2">
              <a:extLst>
                <a:ext uri="{28A0092B-C50C-407E-A947-70E740481C1C}">
                  <a14:useLocalDpi xmlns:a14="http://schemas.microsoft.com/office/drawing/2010/main" val="0"/>
                </a:ext>
              </a:extLst>
            </a:blip>
            <a:srcRect l="39405" r="50205"/>
            <a:stretch/>
          </p:blipFill>
          <p:spPr>
            <a:xfrm>
              <a:off x="4865297" y="0"/>
              <a:ext cx="1017917" cy="6858000"/>
            </a:xfrm>
            <a:prstGeom prst="rect">
              <a:avLst/>
            </a:prstGeom>
          </p:spPr>
        </p:pic>
      </p:grpSp>
      <p:graphicFrame>
        <p:nvGraphicFramePr>
          <p:cNvPr id="19" name="Table 18"/>
          <p:cNvGraphicFramePr>
            <a:graphicFrameLocks noGrp="1"/>
          </p:cNvGraphicFramePr>
          <p:nvPr>
            <p:extLst>
              <p:ext uri="{D42A27DB-BD31-4B8C-83A1-F6EECF244321}">
                <p14:modId xmlns:p14="http://schemas.microsoft.com/office/powerpoint/2010/main" val="491805778"/>
              </p:ext>
            </p:extLst>
          </p:nvPr>
        </p:nvGraphicFramePr>
        <p:xfrm>
          <a:off x="8227859" y="211621"/>
          <a:ext cx="3720860" cy="1484126"/>
        </p:xfrm>
        <a:graphic>
          <a:graphicData uri="http://schemas.openxmlformats.org/drawingml/2006/table">
            <a:tbl>
              <a:tblPr firstRow="1" bandRow="1">
                <a:tableStyleId>{073A0DAA-6AF3-43AB-8588-CEC1D06C72B9}</a:tableStyleId>
              </a:tblPr>
              <a:tblGrid>
                <a:gridCol w="474901">
                  <a:extLst>
                    <a:ext uri="{9D8B030D-6E8A-4147-A177-3AD203B41FA5}">
                      <a16:colId xmlns:a16="http://schemas.microsoft.com/office/drawing/2014/main" val="20000"/>
                    </a:ext>
                  </a:extLst>
                </a:gridCol>
                <a:gridCol w="3245959">
                  <a:extLst>
                    <a:ext uri="{9D8B030D-6E8A-4147-A177-3AD203B41FA5}">
                      <a16:colId xmlns:a16="http://schemas.microsoft.com/office/drawing/2014/main" val="20001"/>
                    </a:ext>
                  </a:extLst>
                </a:gridCol>
              </a:tblGrid>
              <a:tr h="332999">
                <a:tc>
                  <a:txBody>
                    <a:bodyPr/>
                    <a:lstStyle/>
                    <a:p>
                      <a:endParaRPr lang="en-US" dirty="0">
                        <a:solidFill>
                          <a:schemeClr val="bg1"/>
                        </a:solidFill>
                        <a:latin typeface="Bahnschrift SemiBold" panose="020B0502040204020203" pitchFamily="34" charset="0"/>
                      </a:endParaRPr>
                    </a:p>
                  </a:txBody>
                  <a:tcPr>
                    <a:solidFill>
                      <a:schemeClr val="accent4">
                        <a:lumMod val="75000"/>
                      </a:schemeClr>
                    </a:solidFill>
                  </a:tcPr>
                </a:tc>
                <a:tc>
                  <a:txBody>
                    <a:bodyPr/>
                    <a:lstStyle/>
                    <a:p>
                      <a:r>
                        <a:rPr lang="en-US" dirty="0">
                          <a:solidFill>
                            <a:schemeClr val="bg1"/>
                          </a:solidFill>
                          <a:latin typeface="Bahnschrift SemiBold" panose="020B0502040204020203" pitchFamily="34" charset="0"/>
                        </a:rPr>
                        <a:t>FAR</a:t>
                      </a:r>
                      <a:r>
                        <a:rPr lang="en-US" baseline="0" dirty="0">
                          <a:solidFill>
                            <a:schemeClr val="bg1"/>
                          </a:solidFill>
                          <a:latin typeface="Bahnschrift SemiBold" panose="020B0502040204020203" pitchFamily="34" charset="0"/>
                        </a:rPr>
                        <a:t> EXCEEDED STANDARDS</a:t>
                      </a:r>
                    </a:p>
                  </a:txBody>
                  <a:tcPr>
                    <a:solidFill>
                      <a:schemeClr val="accent4">
                        <a:lumMod val="75000"/>
                      </a:schemeClr>
                    </a:solidFill>
                  </a:tcPr>
                </a:tc>
                <a:extLst>
                  <a:ext uri="{0D108BD9-81ED-4DB2-BD59-A6C34878D82A}">
                    <a16:rowId xmlns:a16="http://schemas.microsoft.com/office/drawing/2014/main" val="10000"/>
                  </a:ext>
                </a:extLst>
              </a:tr>
              <a:tr h="374187">
                <a:tc>
                  <a:txBody>
                    <a:bodyPr/>
                    <a:lstStyle/>
                    <a:p>
                      <a:endParaRPr lang="en-US" dirty="0">
                        <a:solidFill>
                          <a:schemeClr val="bg1"/>
                        </a:solidFill>
                        <a:latin typeface="Bahnschrift SemiBold" panose="020B0502040204020203" pitchFamily="34" charset="0"/>
                      </a:endParaRPr>
                    </a:p>
                  </a:txBody>
                  <a:tcPr>
                    <a:solidFill>
                      <a:schemeClr val="accent4">
                        <a:lumMod val="75000"/>
                      </a:schemeClr>
                    </a:solidFill>
                  </a:tcPr>
                </a:tc>
                <a:tc>
                  <a:txBody>
                    <a:bodyPr/>
                    <a:lstStyle/>
                    <a:p>
                      <a:r>
                        <a:rPr lang="en-US" dirty="0">
                          <a:solidFill>
                            <a:schemeClr val="bg1"/>
                          </a:solidFill>
                          <a:latin typeface="Bahnschrift SemiBold" panose="020B0502040204020203" pitchFamily="34" charset="0"/>
                        </a:rPr>
                        <a:t>EXCEEDED</a:t>
                      </a:r>
                      <a:r>
                        <a:rPr lang="en-US" baseline="0" dirty="0">
                          <a:solidFill>
                            <a:schemeClr val="bg1"/>
                          </a:solidFill>
                          <a:latin typeface="Bahnschrift SemiBold" panose="020B0502040204020203" pitchFamily="34" charset="0"/>
                        </a:rPr>
                        <a:t> STANDARD</a:t>
                      </a:r>
                      <a:endParaRPr lang="en-US" dirty="0">
                        <a:solidFill>
                          <a:schemeClr val="bg1"/>
                        </a:solidFill>
                        <a:latin typeface="Bahnschrift SemiBold" panose="020B0502040204020203" pitchFamily="34" charset="0"/>
                      </a:endParaRPr>
                    </a:p>
                  </a:txBody>
                  <a:tcPr>
                    <a:solidFill>
                      <a:schemeClr val="accent4">
                        <a:lumMod val="75000"/>
                      </a:schemeClr>
                    </a:solidFill>
                  </a:tcPr>
                </a:tc>
                <a:extLst>
                  <a:ext uri="{0D108BD9-81ED-4DB2-BD59-A6C34878D82A}">
                    <a16:rowId xmlns:a16="http://schemas.microsoft.com/office/drawing/2014/main" val="10001"/>
                  </a:ext>
                </a:extLst>
              </a:tr>
              <a:tr h="376980">
                <a:tc>
                  <a:txBody>
                    <a:bodyPr/>
                    <a:lstStyle/>
                    <a:p>
                      <a:endParaRPr lang="en-US" dirty="0">
                        <a:solidFill>
                          <a:schemeClr val="bg1"/>
                        </a:solidFill>
                        <a:latin typeface="Bahnschrift SemiBold" panose="020B0502040204020203" pitchFamily="34" charset="0"/>
                      </a:endParaRPr>
                    </a:p>
                  </a:txBody>
                  <a:tcPr>
                    <a:solidFill>
                      <a:schemeClr val="accent4">
                        <a:lumMod val="75000"/>
                      </a:schemeClr>
                    </a:solidFill>
                  </a:tcPr>
                </a:tc>
                <a:tc>
                  <a:txBody>
                    <a:bodyPr/>
                    <a:lstStyle/>
                    <a:p>
                      <a:r>
                        <a:rPr lang="en-US" dirty="0">
                          <a:solidFill>
                            <a:schemeClr val="bg1"/>
                          </a:solidFill>
                          <a:latin typeface="Bahnschrift SemiBold" panose="020B0502040204020203" pitchFamily="34" charset="0"/>
                        </a:rPr>
                        <a:t>MET</a:t>
                      </a:r>
                      <a:r>
                        <a:rPr lang="en-US" baseline="0" dirty="0">
                          <a:solidFill>
                            <a:schemeClr val="bg1"/>
                          </a:solidFill>
                          <a:latin typeface="Bahnschrift SemiBold" panose="020B0502040204020203" pitchFamily="34" charset="0"/>
                        </a:rPr>
                        <a:t> STANDARD</a:t>
                      </a:r>
                      <a:endParaRPr lang="en-US" dirty="0">
                        <a:solidFill>
                          <a:schemeClr val="bg1"/>
                        </a:solidFill>
                        <a:latin typeface="Bahnschrift SemiBold" panose="020B0502040204020203" pitchFamily="34" charset="0"/>
                      </a:endParaRPr>
                    </a:p>
                  </a:txBody>
                  <a:tcPr>
                    <a:solidFill>
                      <a:schemeClr val="accent4">
                        <a:lumMod val="75000"/>
                      </a:schemeClr>
                    </a:solidFill>
                  </a:tcPr>
                </a:tc>
                <a:extLst>
                  <a:ext uri="{0D108BD9-81ED-4DB2-BD59-A6C34878D82A}">
                    <a16:rowId xmlns:a16="http://schemas.microsoft.com/office/drawing/2014/main" val="10002"/>
                  </a:ext>
                </a:extLst>
              </a:tr>
              <a:tr h="367199">
                <a:tc>
                  <a:txBody>
                    <a:bodyPr/>
                    <a:lstStyle/>
                    <a:p>
                      <a:endParaRPr lang="en-US" dirty="0">
                        <a:solidFill>
                          <a:schemeClr val="bg1"/>
                        </a:solidFill>
                        <a:latin typeface="Bahnschrift SemiBold" panose="020B0502040204020203" pitchFamily="34" charset="0"/>
                      </a:endParaRPr>
                    </a:p>
                  </a:txBody>
                  <a:tcPr>
                    <a:solidFill>
                      <a:schemeClr val="accent4">
                        <a:lumMod val="75000"/>
                      </a:schemeClr>
                    </a:solidFill>
                  </a:tcPr>
                </a:tc>
                <a:tc>
                  <a:txBody>
                    <a:bodyPr/>
                    <a:lstStyle/>
                    <a:p>
                      <a:r>
                        <a:rPr lang="en-US" dirty="0">
                          <a:solidFill>
                            <a:schemeClr val="bg1"/>
                          </a:solidFill>
                          <a:latin typeface="Bahnschrift SemiBold" panose="020B0502040204020203" pitchFamily="34" charset="0"/>
                        </a:rPr>
                        <a:t>DID NOT MEET STANDARD</a:t>
                      </a:r>
                    </a:p>
                  </a:txBody>
                  <a:tcPr>
                    <a:solidFill>
                      <a:schemeClr val="accent4">
                        <a:lumMod val="75000"/>
                      </a:schemeClr>
                    </a:solidFill>
                  </a:tcPr>
                </a:tc>
                <a:extLst>
                  <a:ext uri="{0D108BD9-81ED-4DB2-BD59-A6C34878D82A}">
                    <a16:rowId xmlns:a16="http://schemas.microsoft.com/office/drawing/2014/main" val="10003"/>
                  </a:ext>
                </a:extLst>
              </a:tr>
            </a:tbl>
          </a:graphicData>
        </a:graphic>
      </p:graphicFrame>
      <p:sp>
        <p:nvSpPr>
          <p:cNvPr id="24" name="Multiply 23"/>
          <p:cNvSpPr/>
          <p:nvPr/>
        </p:nvSpPr>
        <p:spPr>
          <a:xfrm>
            <a:off x="8298128" y="211621"/>
            <a:ext cx="365595" cy="362692"/>
          </a:xfrm>
          <a:prstGeom prst="mathMultiply">
            <a:avLst>
              <a:gd name="adj1" fmla="val 4853"/>
            </a:avLst>
          </a:prstGeom>
          <a:solidFill>
            <a:schemeClr val="bg1"/>
          </a:solidFill>
          <a:ln>
            <a:solidFill>
              <a:schemeClr val="tx1"/>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5" name="TextBox 24"/>
          <p:cNvSpPr txBox="1"/>
          <p:nvPr/>
        </p:nvSpPr>
        <p:spPr>
          <a:xfrm>
            <a:off x="459237" y="807452"/>
            <a:ext cx="7415868" cy="1938992"/>
          </a:xfrm>
          <a:prstGeom prst="rect">
            <a:avLst/>
          </a:prstGeom>
          <a:noFill/>
        </p:spPr>
        <p:txBody>
          <a:bodyPr wrap="square" rtlCol="0" anchor="ctr">
            <a:spAutoFit/>
          </a:bodyPr>
          <a:lstStyle/>
          <a:p>
            <a:pPr algn="ctr"/>
            <a:r>
              <a:rPr lang="en-US" sz="4000" dirty="0">
                <a:latin typeface="Arial Rounded MT Bold" panose="020F0704030504030204" pitchFamily="34" charset="0"/>
              </a:rPr>
              <a:t>Writing an Evaluation Silver Bullet: Mastering NCOER </a:t>
            </a:r>
          </a:p>
          <a:p>
            <a:pPr algn="ctr"/>
            <a:r>
              <a:rPr lang="en-US" sz="4000" dirty="0">
                <a:latin typeface="Arial Rounded MT Bold" panose="020F0704030504030204" pitchFamily="34" charset="0"/>
              </a:rPr>
              <a:t>Writing </a:t>
            </a:r>
          </a:p>
        </p:txBody>
      </p:sp>
      <p:sp>
        <p:nvSpPr>
          <p:cNvPr id="3" name="Frame 2">
            <a:extLst>
              <a:ext uri="{FF2B5EF4-FFF2-40B4-BE49-F238E27FC236}">
                <a16:creationId xmlns:a16="http://schemas.microsoft.com/office/drawing/2014/main" id="{836B0C41-DBE1-2848-EDB3-8F66F30B728D}"/>
              </a:ext>
            </a:extLst>
          </p:cNvPr>
          <p:cNvSpPr/>
          <p:nvPr/>
        </p:nvSpPr>
        <p:spPr>
          <a:xfrm>
            <a:off x="0" y="0"/>
            <a:ext cx="12192000" cy="6858000"/>
          </a:xfrm>
          <a:prstGeom prst="frame">
            <a:avLst>
              <a:gd name="adj1" fmla="val 271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805627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1999" cy="1138773"/>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The Mechanics</a:t>
            </a:r>
          </a:p>
          <a:p>
            <a:pPr algn="ctr"/>
            <a:r>
              <a:rPr lang="en-US" sz="3200" dirty="0">
                <a:latin typeface="Arial" panose="020B0604020202020204" pitchFamily="34" charset="0"/>
                <a:cs typeface="Arial" panose="020B0604020202020204" pitchFamily="34" charset="0"/>
              </a:rPr>
              <a:t>Following the Basic Guidelines </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sp>
        <p:nvSpPr>
          <p:cNvPr id="7" name="TextBox 6"/>
          <p:cNvSpPr txBox="1"/>
          <p:nvPr/>
        </p:nvSpPr>
        <p:spPr>
          <a:xfrm>
            <a:off x="6780362" y="6573328"/>
            <a:ext cx="5411637" cy="369332"/>
          </a:xfrm>
          <a:prstGeom prst="rect">
            <a:avLst/>
          </a:prstGeom>
          <a:noFill/>
        </p:spPr>
        <p:txBody>
          <a:bodyPr wrap="square" rtlCol="0">
            <a:spAutoFit/>
          </a:bodyPr>
          <a:lstStyle/>
          <a:p>
            <a:r>
              <a:rPr lang="en-US" dirty="0"/>
              <a:t>Information is based on DA Pam 623-3 dated 10 NOV 15</a:t>
            </a:r>
          </a:p>
        </p:txBody>
      </p:sp>
      <p:pic>
        <p:nvPicPr>
          <p:cNvPr id="12" name="Picture 11"/>
          <p:cNvPicPr>
            <a:picLocks noChangeAspect="1"/>
          </p:cNvPicPr>
          <p:nvPr/>
        </p:nvPicPr>
        <p:blipFill>
          <a:blip r:embed="rId3"/>
          <a:stretch>
            <a:fillRect/>
          </a:stretch>
        </p:blipFill>
        <p:spPr>
          <a:xfrm>
            <a:off x="0" y="1343406"/>
            <a:ext cx="3754518" cy="5281235"/>
          </a:xfrm>
          <a:prstGeom prst="rect">
            <a:avLst/>
          </a:prstGeom>
          <a:ln>
            <a:solidFill>
              <a:schemeClr val="tx1"/>
            </a:solidFill>
          </a:ln>
        </p:spPr>
      </p:pic>
      <p:pic>
        <p:nvPicPr>
          <p:cNvPr id="13" name="Picture 12"/>
          <p:cNvPicPr>
            <a:picLocks noChangeAspect="1"/>
          </p:cNvPicPr>
          <p:nvPr/>
        </p:nvPicPr>
        <p:blipFill>
          <a:blip r:embed="rId4"/>
          <a:stretch>
            <a:fillRect/>
          </a:stretch>
        </p:blipFill>
        <p:spPr>
          <a:xfrm>
            <a:off x="3822849" y="1343406"/>
            <a:ext cx="5915025" cy="3314700"/>
          </a:xfrm>
          <a:prstGeom prst="rect">
            <a:avLst/>
          </a:prstGeom>
          <a:ln>
            <a:solidFill>
              <a:schemeClr val="tx1"/>
            </a:solidFill>
          </a:ln>
        </p:spPr>
      </p:pic>
      <p:pic>
        <p:nvPicPr>
          <p:cNvPr id="14" name="Picture 13"/>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pic>
        <p:nvPicPr>
          <p:cNvPr id="15" name="Picture 14"/>
          <p:cNvPicPr>
            <a:picLocks noChangeAspect="1"/>
          </p:cNvPicPr>
          <p:nvPr/>
        </p:nvPicPr>
        <p:blipFill>
          <a:blip r:embed="rId5"/>
          <a:stretch>
            <a:fillRect/>
          </a:stretch>
        </p:blipFill>
        <p:spPr>
          <a:xfrm>
            <a:off x="3822848" y="4719641"/>
            <a:ext cx="5915025" cy="1905000"/>
          </a:xfrm>
          <a:prstGeom prst="rect">
            <a:avLst/>
          </a:prstGeom>
          <a:ln>
            <a:solidFill>
              <a:schemeClr val="tx1"/>
            </a:solidFill>
          </a:ln>
        </p:spPr>
      </p:pic>
      <p:pic>
        <p:nvPicPr>
          <p:cNvPr id="17" name="Picture 16"/>
          <p:cNvPicPr>
            <a:picLocks noChangeAspect="1"/>
          </p:cNvPicPr>
          <p:nvPr/>
        </p:nvPicPr>
        <p:blipFill>
          <a:blip r:embed="rId6"/>
          <a:stretch>
            <a:fillRect/>
          </a:stretch>
        </p:blipFill>
        <p:spPr>
          <a:xfrm>
            <a:off x="9806203" y="1343406"/>
            <a:ext cx="2293864" cy="5265193"/>
          </a:xfrm>
          <a:prstGeom prst="rect">
            <a:avLst/>
          </a:prstGeom>
          <a:ln>
            <a:solidFill>
              <a:schemeClr val="tx1"/>
            </a:solidFill>
          </a:ln>
        </p:spPr>
      </p:pic>
    </p:spTree>
    <p:extLst>
      <p:ext uri="{BB962C8B-B14F-4D97-AF65-F5344CB8AC3E}">
        <p14:creationId xmlns:p14="http://schemas.microsoft.com/office/powerpoint/2010/main" val="3505240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1999" cy="1138773"/>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Disclaimer </a:t>
            </a:r>
          </a:p>
          <a:p>
            <a:pPr algn="ctr"/>
            <a:r>
              <a:rPr lang="en-US" sz="3200" dirty="0">
                <a:latin typeface="Arial" panose="020B0604020202020204" pitchFamily="34" charset="0"/>
                <a:cs typeface="Arial" panose="020B0604020202020204" pitchFamily="34" charset="0"/>
              </a:rPr>
              <a:t>A Seniors Warning </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2" name="TextBox 1"/>
          <p:cNvSpPr txBox="1"/>
          <p:nvPr/>
        </p:nvSpPr>
        <p:spPr>
          <a:xfrm>
            <a:off x="463214" y="1651379"/>
            <a:ext cx="11423176" cy="3139321"/>
          </a:xfrm>
          <a:prstGeom prst="rect">
            <a:avLst/>
          </a:prstGeom>
          <a:noFill/>
        </p:spPr>
        <p:txBody>
          <a:bodyPr wrap="square" rtlCol="0">
            <a:spAutoFit/>
          </a:bodyPr>
          <a:lstStyle/>
          <a:p>
            <a:pPr marL="342900" indent="-342900">
              <a:buFont typeface="+mj-lt"/>
              <a:buAutoNum type="arabicPeriod"/>
            </a:pPr>
            <a:r>
              <a:rPr lang="en-US" dirty="0"/>
              <a:t>This presentation is based solely on personal experience of the senior NCO that created this slide deck and their interpretations of the associative regulation(s).</a:t>
            </a:r>
          </a:p>
          <a:p>
            <a:pPr marL="342900" indent="-342900">
              <a:buFont typeface="+mj-lt"/>
              <a:buAutoNum type="arabicPeriod"/>
            </a:pPr>
            <a:endParaRPr lang="en-US" dirty="0"/>
          </a:p>
          <a:p>
            <a:pPr marL="342900" indent="-342900">
              <a:buFont typeface="+mj-lt"/>
              <a:buAutoNum type="arabicPeriod"/>
            </a:pPr>
            <a:r>
              <a:rPr lang="en-US" dirty="0"/>
              <a:t>This presentation is not the only to approach to NCOER writing.</a:t>
            </a:r>
          </a:p>
          <a:p>
            <a:pPr marL="342900" indent="-342900">
              <a:buFont typeface="+mj-lt"/>
              <a:buAutoNum type="arabicPeriod"/>
            </a:pPr>
            <a:endParaRPr lang="en-US" dirty="0"/>
          </a:p>
          <a:p>
            <a:pPr marL="342900" indent="-342900">
              <a:buFont typeface="+mj-lt"/>
              <a:buAutoNum type="arabicPeriod"/>
            </a:pPr>
            <a:r>
              <a:rPr lang="en-US" dirty="0"/>
              <a:t>The intent, provide a method that can sustain repetition and achieve the same or similar results. </a:t>
            </a:r>
          </a:p>
          <a:p>
            <a:pPr marL="342900" indent="-342900">
              <a:buFont typeface="+mj-lt"/>
              <a:buAutoNum type="arabicPeriod"/>
            </a:pPr>
            <a:endParaRPr lang="en-US" dirty="0"/>
          </a:p>
          <a:p>
            <a:pPr marL="342900" indent="-342900">
              <a:buFont typeface="+mj-lt"/>
              <a:buAutoNum type="arabicPeriod"/>
            </a:pPr>
            <a:r>
              <a:rPr lang="en-US" dirty="0"/>
              <a:t>This presentation serves as a tool to add to your respective toolkits as NCO’s, Officers, or Civilians responsible for writing evaluations. </a:t>
            </a:r>
          </a:p>
          <a:p>
            <a:pPr marL="342900" indent="-342900">
              <a:buFont typeface="+mj-lt"/>
              <a:buAutoNum type="arabicPeriod"/>
            </a:pPr>
            <a:endParaRPr lang="en-US" dirty="0"/>
          </a:p>
          <a:p>
            <a:pPr marL="342900" indent="-342900">
              <a:buFont typeface="+mj-lt"/>
              <a:buAutoNum type="arabicPeriod"/>
            </a:pPr>
            <a:r>
              <a:rPr lang="en-US" b="1" dirty="0"/>
              <a:t>Areas containing purple writing or highlights may be bias or partial.  </a:t>
            </a:r>
          </a:p>
        </p:txBody>
      </p:sp>
    </p:spTree>
    <p:extLst>
      <p:ext uri="{BB962C8B-B14F-4D97-AF65-F5344CB8AC3E}">
        <p14:creationId xmlns:p14="http://schemas.microsoft.com/office/powerpoint/2010/main" val="765168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 y="25372"/>
            <a:ext cx="12191999" cy="1138773"/>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Assessing Rated NCO</a:t>
            </a:r>
          </a:p>
          <a:p>
            <a:pPr algn="ctr"/>
            <a:r>
              <a:rPr lang="en-US" sz="3200" dirty="0">
                <a:latin typeface="Arial" panose="020B0604020202020204" pitchFamily="34" charset="0"/>
                <a:cs typeface="Arial" panose="020B0604020202020204" pitchFamily="34" charset="0"/>
              </a:rPr>
              <a:t>Identifying Overall Message of the Evaluation</a:t>
            </a:r>
          </a:p>
        </p:txBody>
      </p:sp>
      <p:pic>
        <p:nvPicPr>
          <p:cNvPr id="12" name="Picture 11"/>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13" name="Picture 12"/>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18" name="TextBox 17"/>
          <p:cNvSpPr txBox="1"/>
          <p:nvPr/>
        </p:nvSpPr>
        <p:spPr>
          <a:xfrm>
            <a:off x="4648363" y="1248872"/>
            <a:ext cx="3305938" cy="1200329"/>
          </a:xfrm>
          <a:prstGeom prst="rect">
            <a:avLst/>
          </a:prstGeom>
          <a:solidFill>
            <a:srgbClr val="FA937E"/>
          </a:solidFill>
          <a:ln w="38100">
            <a:solidFill>
              <a:schemeClr val="tx1"/>
            </a:solidFill>
          </a:ln>
          <a:scene3d>
            <a:camera prst="orthographicFront"/>
            <a:lightRig rig="threePt" dir="t"/>
          </a:scene3d>
          <a:sp3d>
            <a:bevelT w="165100" prst="coolSlant"/>
          </a:sp3d>
        </p:spPr>
        <p:txBody>
          <a:bodyPr wrap="square" rtlCol="0">
            <a:spAutoFit/>
          </a:bodyPr>
          <a:lstStyle/>
          <a:p>
            <a:pPr algn="ctr"/>
            <a:r>
              <a:rPr lang="en-US" sz="1200" i="1" dirty="0"/>
              <a:t>No to any of these questions is a leadership failure. Ethically the NCO should not receive a poor rating (did not met standard) unless NCO fail to meet a well-known Army Standard i.e., HT/WT, APFT, drug test, etc. Rater should acknowledge and consider rater’s failure in writing evaluation.</a:t>
            </a:r>
          </a:p>
        </p:txBody>
      </p:sp>
      <p:sp>
        <p:nvSpPr>
          <p:cNvPr id="20" name="TextBox 19"/>
          <p:cNvSpPr txBox="1"/>
          <p:nvPr/>
        </p:nvSpPr>
        <p:spPr>
          <a:xfrm>
            <a:off x="95984" y="1651732"/>
            <a:ext cx="3657599" cy="1631216"/>
          </a:xfrm>
          <a:prstGeom prst="rect">
            <a:avLst/>
          </a:prstGeom>
          <a:noFill/>
          <a:ln w="38100">
            <a:solidFill>
              <a:schemeClr val="tx1"/>
            </a:solidFill>
          </a:ln>
        </p:spPr>
        <p:txBody>
          <a:bodyPr wrap="square" rtlCol="0">
            <a:spAutoFit/>
          </a:bodyPr>
          <a:lstStyle/>
          <a:p>
            <a:pPr algn="ctr"/>
            <a:r>
              <a:rPr lang="en-US" sz="1600" b="1" dirty="0"/>
              <a:t>Leader’s Responsibilities</a:t>
            </a:r>
          </a:p>
          <a:p>
            <a:pPr marL="168275" indent="-168275">
              <a:buAutoNum type="arabicPeriod"/>
            </a:pPr>
            <a:r>
              <a:rPr lang="en-US" sz="1400" dirty="0"/>
              <a:t>Did I conduct quarterly counselings?</a:t>
            </a:r>
          </a:p>
          <a:p>
            <a:pPr marL="168275" indent="-168275">
              <a:buAutoNum type="arabicPeriod"/>
            </a:pPr>
            <a:r>
              <a:rPr lang="en-US" sz="1400" dirty="0"/>
              <a:t>Did I clearly define the rated NCO's role?</a:t>
            </a:r>
          </a:p>
          <a:p>
            <a:pPr marL="168275" indent="-168275">
              <a:buAutoNum type="arabicPeriod"/>
            </a:pPr>
            <a:r>
              <a:rPr lang="en-US" sz="1400" dirty="0"/>
              <a:t>Did I clearly articulate expectations?</a:t>
            </a:r>
          </a:p>
          <a:p>
            <a:pPr marL="168275" indent="-168275">
              <a:buAutoNum type="arabicPeriod"/>
            </a:pPr>
            <a:r>
              <a:rPr lang="en-US" sz="1400" dirty="0"/>
              <a:t>Did I manage expectations (provided NCO updates of their standing/ranking among peers during counselings)?</a:t>
            </a:r>
          </a:p>
        </p:txBody>
      </p:sp>
      <p:sp>
        <p:nvSpPr>
          <p:cNvPr id="22" name="Rectangle 21"/>
          <p:cNvSpPr/>
          <p:nvPr/>
        </p:nvSpPr>
        <p:spPr>
          <a:xfrm>
            <a:off x="95984" y="3683984"/>
            <a:ext cx="3657599" cy="2923877"/>
          </a:xfrm>
          <a:prstGeom prst="rect">
            <a:avLst/>
          </a:prstGeom>
          <a:ln w="38100">
            <a:solidFill>
              <a:schemeClr val="tx1"/>
            </a:solidFill>
          </a:ln>
        </p:spPr>
        <p:txBody>
          <a:bodyPr wrap="square">
            <a:spAutoFit/>
          </a:bodyPr>
          <a:lstStyle/>
          <a:p>
            <a:pPr algn="ctr"/>
            <a:r>
              <a:rPr lang="en-US" sz="1600" b="1" dirty="0"/>
              <a:t>Leader’s Quick Assessment </a:t>
            </a:r>
          </a:p>
          <a:p>
            <a:pPr marL="168275" indent="-168275">
              <a:buFont typeface="+mj-lt"/>
              <a:buAutoNum type="arabicPeriod"/>
            </a:pPr>
            <a:r>
              <a:rPr lang="en-US" sz="1400" dirty="0"/>
              <a:t>Did rated NCO met standard (executed requirements)?</a:t>
            </a:r>
          </a:p>
          <a:p>
            <a:pPr marL="168275" indent="-168275">
              <a:buFont typeface="+mj-lt"/>
              <a:buAutoNum type="arabicPeriod"/>
            </a:pPr>
            <a:r>
              <a:rPr lang="en-US" sz="1400" dirty="0"/>
              <a:t>Did NCO positively impact unit, mission, section, etc.?</a:t>
            </a:r>
          </a:p>
          <a:p>
            <a:pPr marL="168275" indent="-168275">
              <a:buFont typeface="+mj-lt"/>
              <a:buAutoNum type="arabicPeriod"/>
            </a:pPr>
            <a:r>
              <a:rPr lang="en-US" sz="1400" dirty="0"/>
              <a:t>Did NCO do anything above and beyond requirements? Achieved more than 4Rs (right place, right time, right uniform, right attitude)</a:t>
            </a:r>
          </a:p>
          <a:p>
            <a:pPr marL="168275" indent="-168275">
              <a:buFont typeface="+mj-lt"/>
              <a:buAutoNum type="arabicPeriod"/>
            </a:pPr>
            <a:r>
              <a:rPr lang="en-US" sz="1400" dirty="0"/>
              <a:t>Did NCO demonstrate potential? (ability to handle more challenging tasks, increase authority, require little to no supervision, problem solver, reliable etc.)</a:t>
            </a:r>
          </a:p>
        </p:txBody>
      </p:sp>
      <p:sp>
        <p:nvSpPr>
          <p:cNvPr id="8" name="TextBox 7"/>
          <p:cNvSpPr txBox="1"/>
          <p:nvPr/>
        </p:nvSpPr>
        <p:spPr>
          <a:xfrm>
            <a:off x="4648363" y="2642022"/>
            <a:ext cx="3305938" cy="461665"/>
          </a:xfrm>
          <a:prstGeom prst="rect">
            <a:avLst/>
          </a:prstGeom>
          <a:solidFill>
            <a:schemeClr val="accent1">
              <a:lumMod val="60000"/>
              <a:lumOff val="40000"/>
            </a:schemeClr>
          </a:solidFill>
          <a:ln w="38100">
            <a:solidFill>
              <a:schemeClr val="tx1"/>
            </a:solidFill>
          </a:ln>
          <a:scene3d>
            <a:camera prst="orthographicFront"/>
            <a:lightRig rig="threePt" dir="t"/>
          </a:scene3d>
          <a:sp3d>
            <a:bevelT w="165100" prst="coolSlant"/>
          </a:sp3d>
        </p:spPr>
        <p:txBody>
          <a:bodyPr wrap="square" rtlCol="0">
            <a:spAutoFit/>
          </a:bodyPr>
          <a:lstStyle/>
          <a:p>
            <a:pPr algn="ctr"/>
            <a:r>
              <a:rPr lang="en-US" sz="1200" i="1" dirty="0"/>
              <a:t>Yes, to all these questions requires further decomposition. </a:t>
            </a:r>
          </a:p>
        </p:txBody>
      </p:sp>
      <p:sp>
        <p:nvSpPr>
          <p:cNvPr id="2" name="Rectangle 1"/>
          <p:cNvSpPr/>
          <p:nvPr/>
        </p:nvSpPr>
        <p:spPr>
          <a:xfrm>
            <a:off x="8849081" y="1788856"/>
            <a:ext cx="3202546" cy="738664"/>
          </a:xfrm>
          <a:prstGeom prst="rect">
            <a:avLst/>
          </a:prstGeom>
          <a:solidFill>
            <a:srgbClr val="7030A0"/>
          </a:solidFill>
          <a:ln w="38100">
            <a:solidFill>
              <a:schemeClr val="tx1"/>
            </a:solidFill>
          </a:ln>
          <a:scene3d>
            <a:camera prst="orthographicFront"/>
            <a:lightRig rig="threePt" dir="t"/>
          </a:scene3d>
          <a:sp3d>
            <a:bevelT w="165100" prst="coolSlant"/>
          </a:sp3d>
        </p:spPr>
        <p:txBody>
          <a:bodyPr wrap="square">
            <a:spAutoFit/>
          </a:bodyPr>
          <a:lstStyle/>
          <a:p>
            <a:pPr algn="ctr"/>
            <a:r>
              <a:rPr lang="en-US" sz="1400" dirty="0">
                <a:solidFill>
                  <a:schemeClr val="bg1"/>
                </a:solidFill>
              </a:rPr>
              <a:t>Recommend proceeding with empathy. Tone of eval should generally be positive and beneficial to the rated NCO</a:t>
            </a:r>
          </a:p>
        </p:txBody>
      </p:sp>
      <p:cxnSp>
        <p:nvCxnSpPr>
          <p:cNvPr id="5" name="Elbow Connector 4"/>
          <p:cNvCxnSpPr>
            <a:stCxn id="20" idx="3"/>
            <a:endCxn id="18" idx="1"/>
          </p:cNvCxnSpPr>
          <p:nvPr/>
        </p:nvCxnSpPr>
        <p:spPr>
          <a:xfrm flipV="1">
            <a:off x="3753583" y="1849037"/>
            <a:ext cx="894780" cy="618303"/>
          </a:xfrm>
          <a:prstGeom prst="bentConnector3">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6"/>
          <p:cNvCxnSpPr>
            <a:stCxn id="18" idx="3"/>
            <a:endCxn id="2" idx="1"/>
          </p:cNvCxnSpPr>
          <p:nvPr/>
        </p:nvCxnSpPr>
        <p:spPr>
          <a:xfrm>
            <a:off x="7954301" y="1849037"/>
            <a:ext cx="894780" cy="309151"/>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Elbow Connector 9"/>
          <p:cNvCxnSpPr>
            <a:stCxn id="20" idx="3"/>
            <a:endCxn id="8" idx="1"/>
          </p:cNvCxnSpPr>
          <p:nvPr/>
        </p:nvCxnSpPr>
        <p:spPr>
          <a:xfrm>
            <a:off x="3753583" y="2467340"/>
            <a:ext cx="894780" cy="405515"/>
          </a:xfrm>
          <a:prstGeom prst="bentConnector3">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8" idx="2"/>
          </p:cNvCxnSpPr>
          <p:nvPr/>
        </p:nvCxnSpPr>
        <p:spPr>
          <a:xfrm rot="5400000">
            <a:off x="4745615" y="2111654"/>
            <a:ext cx="563684" cy="2547751"/>
          </a:xfrm>
          <a:prstGeom prst="bent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4381011" y="3842054"/>
            <a:ext cx="908386" cy="461665"/>
          </a:xfrm>
          <a:prstGeom prst="rect">
            <a:avLst/>
          </a:prstGeom>
          <a:noFill/>
        </p:spPr>
        <p:txBody>
          <a:bodyPr wrap="square" rtlCol="0">
            <a:spAutoFit/>
          </a:bodyPr>
          <a:lstStyle/>
          <a:p>
            <a:pPr algn="ctr"/>
            <a:r>
              <a:rPr lang="en-US" sz="1200" b="1" dirty="0">
                <a:solidFill>
                  <a:schemeClr val="accent4">
                    <a:lumMod val="75000"/>
                  </a:schemeClr>
                </a:solidFill>
              </a:rPr>
              <a:t>Yes, and only yes</a:t>
            </a:r>
          </a:p>
        </p:txBody>
      </p:sp>
      <p:sp>
        <p:nvSpPr>
          <p:cNvPr id="33" name="Rectangle 32"/>
          <p:cNvSpPr/>
          <p:nvPr/>
        </p:nvSpPr>
        <p:spPr>
          <a:xfrm>
            <a:off x="5986633" y="3749021"/>
            <a:ext cx="3226459" cy="461665"/>
          </a:xfrm>
          <a:prstGeom prst="rect">
            <a:avLst/>
          </a:prstGeom>
          <a:solidFill>
            <a:schemeClr val="accent4">
              <a:lumMod val="60000"/>
              <a:lumOff val="40000"/>
            </a:schemeClr>
          </a:solidFill>
          <a:ln w="38100">
            <a:solidFill>
              <a:schemeClr val="tx1"/>
            </a:solidFill>
          </a:ln>
          <a:scene3d>
            <a:camera prst="orthographicFront"/>
            <a:lightRig rig="threePt" dir="t"/>
          </a:scene3d>
          <a:sp3d>
            <a:bevelT prst="slope"/>
          </a:sp3d>
        </p:spPr>
        <p:txBody>
          <a:bodyPr wrap="square">
            <a:spAutoFit/>
          </a:bodyPr>
          <a:lstStyle/>
          <a:p>
            <a:pPr algn="ctr"/>
            <a:r>
              <a:rPr lang="en-US" sz="1200" dirty="0"/>
              <a:t>Recommend a transparent approach. Stick to the facts, limited to no numeration </a:t>
            </a:r>
          </a:p>
        </p:txBody>
      </p:sp>
      <p:sp>
        <p:nvSpPr>
          <p:cNvPr id="35" name="TextBox 34"/>
          <p:cNvSpPr txBox="1"/>
          <p:nvPr/>
        </p:nvSpPr>
        <p:spPr>
          <a:xfrm>
            <a:off x="4578483" y="4500896"/>
            <a:ext cx="558340" cy="276999"/>
          </a:xfrm>
          <a:prstGeom prst="rect">
            <a:avLst/>
          </a:prstGeom>
          <a:noFill/>
        </p:spPr>
        <p:txBody>
          <a:bodyPr wrap="square" rtlCol="0">
            <a:spAutoFit/>
          </a:bodyPr>
          <a:lstStyle/>
          <a:p>
            <a:pPr algn="ctr"/>
            <a:r>
              <a:rPr lang="en-US" sz="1200" b="1" dirty="0">
                <a:solidFill>
                  <a:schemeClr val="accent2">
                    <a:lumMod val="50000"/>
                  </a:schemeClr>
                </a:solidFill>
              </a:rPr>
              <a:t>Yes</a:t>
            </a:r>
          </a:p>
        </p:txBody>
      </p:sp>
      <p:cxnSp>
        <p:nvCxnSpPr>
          <p:cNvPr id="36" name="Straight Arrow Connector 35"/>
          <p:cNvCxnSpPr/>
          <p:nvPr/>
        </p:nvCxnSpPr>
        <p:spPr>
          <a:xfrm>
            <a:off x="3788579" y="4645606"/>
            <a:ext cx="894782" cy="1"/>
          </a:xfrm>
          <a:prstGeom prst="straightConnector1">
            <a:avLst/>
          </a:prstGeom>
          <a:ln>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5986633" y="4380556"/>
            <a:ext cx="3226459" cy="461665"/>
          </a:xfrm>
          <a:prstGeom prst="rect">
            <a:avLst/>
          </a:prstGeom>
          <a:solidFill>
            <a:schemeClr val="accent2">
              <a:lumMod val="60000"/>
              <a:lumOff val="40000"/>
            </a:schemeClr>
          </a:solidFill>
          <a:ln w="38100">
            <a:solidFill>
              <a:schemeClr val="tx1"/>
            </a:solidFill>
          </a:ln>
          <a:scene3d>
            <a:camera prst="orthographicFront"/>
            <a:lightRig rig="threePt" dir="t"/>
          </a:scene3d>
          <a:sp3d>
            <a:bevelT prst="slope"/>
          </a:sp3d>
        </p:spPr>
        <p:txBody>
          <a:bodyPr wrap="square">
            <a:spAutoFit/>
          </a:bodyPr>
          <a:lstStyle/>
          <a:p>
            <a:pPr algn="ctr"/>
            <a:r>
              <a:rPr lang="en-US" sz="1200" dirty="0"/>
              <a:t>Recommend elaboration on impacts, include numeration and quantify where possible </a:t>
            </a:r>
          </a:p>
        </p:txBody>
      </p:sp>
      <p:cxnSp>
        <p:nvCxnSpPr>
          <p:cNvPr id="38" name="Straight Arrow Connector 37"/>
          <p:cNvCxnSpPr/>
          <p:nvPr/>
        </p:nvCxnSpPr>
        <p:spPr>
          <a:xfrm>
            <a:off x="5027457" y="4632483"/>
            <a:ext cx="894782" cy="1"/>
          </a:xfrm>
          <a:prstGeom prst="straightConnector1">
            <a:avLst/>
          </a:prstGeom>
          <a:ln>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616833" y="5184508"/>
            <a:ext cx="558340" cy="276999"/>
          </a:xfrm>
          <a:prstGeom prst="rect">
            <a:avLst/>
          </a:prstGeom>
          <a:noFill/>
          <a:ln>
            <a:noFill/>
          </a:ln>
        </p:spPr>
        <p:txBody>
          <a:bodyPr wrap="square" rtlCol="0">
            <a:spAutoFit/>
          </a:bodyPr>
          <a:lstStyle/>
          <a:p>
            <a:r>
              <a:rPr lang="en-US" sz="1200" b="1" dirty="0">
                <a:solidFill>
                  <a:schemeClr val="accent6">
                    <a:lumMod val="75000"/>
                  </a:schemeClr>
                </a:solidFill>
              </a:rPr>
              <a:t>Yes</a:t>
            </a:r>
          </a:p>
        </p:txBody>
      </p:sp>
      <p:cxnSp>
        <p:nvCxnSpPr>
          <p:cNvPr id="41" name="Straight Arrow Connector 40"/>
          <p:cNvCxnSpPr/>
          <p:nvPr/>
        </p:nvCxnSpPr>
        <p:spPr>
          <a:xfrm>
            <a:off x="3774100" y="5323008"/>
            <a:ext cx="894782" cy="1"/>
          </a:xfrm>
          <a:prstGeom prst="straightConnector1">
            <a:avLst/>
          </a:prstGeom>
          <a:ln>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4978290" y="5339956"/>
            <a:ext cx="894782" cy="1"/>
          </a:xfrm>
          <a:prstGeom prst="straightConnector1">
            <a:avLst/>
          </a:prstGeom>
          <a:ln>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5986633" y="5065042"/>
            <a:ext cx="3226459" cy="461665"/>
          </a:xfrm>
          <a:prstGeom prst="rect">
            <a:avLst/>
          </a:prstGeom>
          <a:solidFill>
            <a:schemeClr val="accent6">
              <a:lumMod val="60000"/>
              <a:lumOff val="40000"/>
            </a:schemeClr>
          </a:solidFill>
          <a:ln w="38100">
            <a:solidFill>
              <a:schemeClr val="tx1"/>
            </a:solidFill>
          </a:ln>
          <a:scene3d>
            <a:camera prst="orthographicFront"/>
            <a:lightRig rig="threePt" dir="t"/>
          </a:scene3d>
          <a:sp3d>
            <a:bevelT prst="slope"/>
          </a:sp3d>
        </p:spPr>
        <p:txBody>
          <a:bodyPr wrap="square">
            <a:spAutoFit/>
          </a:bodyPr>
          <a:lstStyle/>
          <a:p>
            <a:pPr algn="ctr"/>
            <a:r>
              <a:rPr lang="en-US" sz="1200" dirty="0"/>
              <a:t>Recommend a detailed, decomposed approach. Quantify as much as possible </a:t>
            </a:r>
          </a:p>
        </p:txBody>
      </p:sp>
      <p:sp>
        <p:nvSpPr>
          <p:cNvPr id="44" name="TextBox 43"/>
          <p:cNvSpPr txBox="1"/>
          <p:nvPr/>
        </p:nvSpPr>
        <p:spPr>
          <a:xfrm>
            <a:off x="4731057" y="5907212"/>
            <a:ext cx="558340" cy="276999"/>
          </a:xfrm>
          <a:prstGeom prst="rect">
            <a:avLst/>
          </a:prstGeom>
          <a:noFill/>
          <a:ln>
            <a:noFill/>
          </a:ln>
        </p:spPr>
        <p:txBody>
          <a:bodyPr wrap="square" rtlCol="0">
            <a:spAutoFit/>
          </a:bodyPr>
          <a:lstStyle/>
          <a:p>
            <a:r>
              <a:rPr lang="en-US" sz="1200" b="1" dirty="0">
                <a:solidFill>
                  <a:schemeClr val="accent5">
                    <a:lumMod val="50000"/>
                  </a:schemeClr>
                </a:solidFill>
              </a:rPr>
              <a:t>Yes</a:t>
            </a:r>
          </a:p>
        </p:txBody>
      </p:sp>
      <p:cxnSp>
        <p:nvCxnSpPr>
          <p:cNvPr id="45" name="Straight Arrow Connector 44"/>
          <p:cNvCxnSpPr/>
          <p:nvPr/>
        </p:nvCxnSpPr>
        <p:spPr>
          <a:xfrm>
            <a:off x="3869059" y="6045712"/>
            <a:ext cx="894782" cy="1"/>
          </a:xfrm>
          <a:prstGeom prst="straightConnector1">
            <a:avLst/>
          </a:prstGeom>
          <a:ln>
            <a:solidFill>
              <a:schemeClr val="accent5">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V="1">
            <a:off x="5136823" y="6045712"/>
            <a:ext cx="785416" cy="1373"/>
          </a:xfrm>
          <a:prstGeom prst="straightConnector1">
            <a:avLst/>
          </a:prstGeom>
          <a:ln>
            <a:solidFill>
              <a:schemeClr val="accent5">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3788579" y="4056610"/>
            <a:ext cx="596252" cy="1"/>
          </a:xfrm>
          <a:prstGeom prst="straightConnector1">
            <a:avLst/>
          </a:prstGeom>
          <a:ln>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V="1">
            <a:off x="5191446" y="4055116"/>
            <a:ext cx="728414" cy="1"/>
          </a:xfrm>
          <a:prstGeom prst="straightConnector1">
            <a:avLst/>
          </a:prstGeom>
          <a:ln>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6" name="Rectangle 55"/>
          <p:cNvSpPr/>
          <p:nvPr/>
        </p:nvSpPr>
        <p:spPr>
          <a:xfrm>
            <a:off x="5986633" y="5756052"/>
            <a:ext cx="3226460" cy="646331"/>
          </a:xfrm>
          <a:prstGeom prst="rect">
            <a:avLst/>
          </a:prstGeom>
          <a:solidFill>
            <a:schemeClr val="accent5">
              <a:lumMod val="40000"/>
              <a:lumOff val="60000"/>
            </a:schemeClr>
          </a:solidFill>
          <a:ln w="38100">
            <a:solidFill>
              <a:schemeClr val="tx1"/>
            </a:solidFill>
          </a:ln>
          <a:scene3d>
            <a:camera prst="orthographicFront"/>
            <a:lightRig rig="threePt" dir="t"/>
          </a:scene3d>
          <a:sp3d>
            <a:bevelT prst="slope"/>
          </a:sp3d>
        </p:spPr>
        <p:txBody>
          <a:bodyPr wrap="square">
            <a:spAutoFit/>
          </a:bodyPr>
          <a:lstStyle/>
          <a:p>
            <a:pPr algn="ctr"/>
            <a:r>
              <a:rPr lang="en-US" sz="1200" dirty="0"/>
              <a:t>Recommend focusing on achievements in higher grade/greater potential. Always use stratification with peers and higher grades </a:t>
            </a:r>
          </a:p>
        </p:txBody>
      </p:sp>
      <p:cxnSp>
        <p:nvCxnSpPr>
          <p:cNvPr id="58" name="Straight Arrow Connector 57"/>
          <p:cNvCxnSpPr>
            <a:stCxn id="33" idx="2"/>
            <a:endCxn id="37" idx="0"/>
          </p:cNvCxnSpPr>
          <p:nvPr/>
        </p:nvCxnSpPr>
        <p:spPr>
          <a:xfrm>
            <a:off x="7599863" y="4210686"/>
            <a:ext cx="0" cy="1698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7599862" y="4879173"/>
            <a:ext cx="0" cy="1698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43" idx="2"/>
            <a:endCxn id="56" idx="0"/>
          </p:cNvCxnSpPr>
          <p:nvPr/>
        </p:nvCxnSpPr>
        <p:spPr>
          <a:xfrm>
            <a:off x="7599863" y="5526707"/>
            <a:ext cx="0" cy="2293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9440214" y="3625715"/>
            <a:ext cx="2539559" cy="3040413"/>
          </a:xfrm>
          <a:prstGeom prst="rect">
            <a:avLst/>
          </a:prstGeom>
          <a:gradFill>
            <a:gsLst>
              <a:gs pos="0">
                <a:schemeClr val="accent4">
                  <a:lumMod val="60000"/>
                  <a:lumOff val="40000"/>
                </a:schemeClr>
              </a:gs>
              <a:gs pos="38000">
                <a:schemeClr val="accent2">
                  <a:lumMod val="60000"/>
                  <a:lumOff val="40000"/>
                </a:schemeClr>
              </a:gs>
              <a:gs pos="66000">
                <a:schemeClr val="accent6">
                  <a:lumMod val="75000"/>
                </a:schemeClr>
              </a:gs>
              <a:gs pos="88000">
                <a:schemeClr val="accent1">
                  <a:lumMod val="30000"/>
                  <a:lumOff val="70000"/>
                </a:schemeClr>
              </a:gs>
            </a:gsLst>
            <a:lin ang="5400000" scaled="1"/>
          </a:gradFill>
          <a:scene3d>
            <a:camera prst="orthographicFront"/>
            <a:lightRig rig="threePt" dir="t"/>
          </a:scene3d>
          <a:sp3d>
            <a:bevelT w="16510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356323" y="6335174"/>
            <a:ext cx="2734105" cy="307777"/>
          </a:xfrm>
          <a:prstGeom prst="rect">
            <a:avLst/>
          </a:prstGeom>
        </p:spPr>
        <p:txBody>
          <a:bodyPr wrap="square">
            <a:spAutoFit/>
          </a:bodyPr>
          <a:lstStyle/>
          <a:p>
            <a:pPr algn="ctr"/>
            <a:r>
              <a:rPr lang="en-US" sz="1400" b="1" dirty="0">
                <a:latin typeface="Arial" panose="020B0604020202020204" pitchFamily="34" charset="0"/>
              </a:rPr>
              <a:t>FAR EXCEEDED STANDARD</a:t>
            </a:r>
            <a:endParaRPr lang="en-US" sz="1400" b="1" dirty="0"/>
          </a:p>
        </p:txBody>
      </p:sp>
      <p:sp>
        <p:nvSpPr>
          <p:cNvPr id="49" name="Rectangle 48"/>
          <p:cNvSpPr/>
          <p:nvPr/>
        </p:nvSpPr>
        <p:spPr>
          <a:xfrm>
            <a:off x="9510581" y="5526707"/>
            <a:ext cx="2541046" cy="307777"/>
          </a:xfrm>
          <a:prstGeom prst="rect">
            <a:avLst/>
          </a:prstGeom>
        </p:spPr>
        <p:txBody>
          <a:bodyPr wrap="square">
            <a:spAutoFit/>
          </a:bodyPr>
          <a:lstStyle/>
          <a:p>
            <a:pPr algn="ctr"/>
            <a:r>
              <a:rPr lang="en-US" sz="1400" b="1" dirty="0">
                <a:latin typeface="Arial" panose="020B0604020202020204" pitchFamily="34" charset="0"/>
              </a:rPr>
              <a:t>EXCEEDED STANDARD</a:t>
            </a:r>
            <a:endParaRPr lang="en-US" sz="1400" b="1" dirty="0"/>
          </a:p>
        </p:txBody>
      </p:sp>
      <p:sp>
        <p:nvSpPr>
          <p:cNvPr id="50" name="Rectangle 49"/>
          <p:cNvSpPr/>
          <p:nvPr/>
        </p:nvSpPr>
        <p:spPr>
          <a:xfrm>
            <a:off x="9405953" y="4163332"/>
            <a:ext cx="2541046" cy="307777"/>
          </a:xfrm>
          <a:prstGeom prst="rect">
            <a:avLst/>
          </a:prstGeom>
        </p:spPr>
        <p:txBody>
          <a:bodyPr wrap="square">
            <a:spAutoFit/>
          </a:bodyPr>
          <a:lstStyle/>
          <a:p>
            <a:pPr algn="ctr"/>
            <a:r>
              <a:rPr lang="en-US" sz="1400" b="1" dirty="0">
                <a:latin typeface="Arial" panose="020B0604020202020204" pitchFamily="34" charset="0"/>
              </a:rPr>
              <a:t>MET STANDARD</a:t>
            </a:r>
            <a:endParaRPr lang="en-US" sz="1400" b="1" dirty="0"/>
          </a:p>
        </p:txBody>
      </p:sp>
      <p:sp>
        <p:nvSpPr>
          <p:cNvPr id="51" name="Rectangle 50"/>
          <p:cNvSpPr/>
          <p:nvPr/>
        </p:nvSpPr>
        <p:spPr>
          <a:xfrm>
            <a:off x="9423147" y="3262967"/>
            <a:ext cx="2541046" cy="307777"/>
          </a:xfrm>
          <a:prstGeom prst="rect">
            <a:avLst/>
          </a:prstGeom>
        </p:spPr>
        <p:txBody>
          <a:bodyPr wrap="square">
            <a:spAutoFit/>
          </a:bodyPr>
          <a:lstStyle/>
          <a:p>
            <a:pPr algn="ctr"/>
            <a:r>
              <a:rPr lang="en-US" sz="1400" b="1" dirty="0">
                <a:solidFill>
                  <a:srgbClr val="FF0000"/>
                </a:solidFill>
                <a:latin typeface="Arial" panose="020B0604020202020204" pitchFamily="34" charset="0"/>
              </a:rPr>
              <a:t>DID NOT MEET STANDARD</a:t>
            </a:r>
            <a:endParaRPr lang="en-US" sz="1400" b="1" dirty="0">
              <a:solidFill>
                <a:srgbClr val="FF0000"/>
              </a:solidFill>
            </a:endParaRPr>
          </a:p>
        </p:txBody>
      </p:sp>
    </p:spTree>
    <p:extLst>
      <p:ext uri="{BB962C8B-B14F-4D97-AF65-F5344CB8AC3E}">
        <p14:creationId xmlns:p14="http://schemas.microsoft.com/office/powerpoint/2010/main" val="2433668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0491" y="2094522"/>
            <a:ext cx="7903336" cy="1200329"/>
          </a:xfrm>
          <a:prstGeom prst="rect">
            <a:avLst/>
          </a:prstGeom>
          <a:solidFill>
            <a:schemeClr val="accent1">
              <a:lumMod val="60000"/>
              <a:lumOff val="40000"/>
            </a:schemeClr>
          </a:solidFill>
          <a:ln w="38100">
            <a:solidFill>
              <a:schemeClr val="tx1"/>
            </a:solidFill>
          </a:ln>
        </p:spPr>
        <p:txBody>
          <a:bodyPr wrap="square">
            <a:spAutoFit/>
          </a:bodyPr>
          <a:lstStyle/>
          <a:p>
            <a:r>
              <a:rPr lang="en-US" sz="1200" b="1" dirty="0">
                <a:latin typeface="Arial" panose="020B0604020202020204" pitchFamily="34" charset="0"/>
                <a:cs typeface="Arial" panose="020B0604020202020204" pitchFamily="34" charset="0"/>
              </a:rPr>
              <a:t>FAR EXCEEDED STANDARD. </a:t>
            </a:r>
            <a:r>
              <a:rPr lang="en-US" sz="1200" dirty="0">
                <a:latin typeface="Arial" panose="020B0604020202020204" pitchFamily="34" charset="0"/>
                <a:cs typeface="Arial" panose="020B0604020202020204" pitchFamily="34" charset="0"/>
              </a:rPr>
              <a:t>Rated NCO performs extraordinarily above the required Army standards and organizational goals of leader competencies and attributes; leadership enables Soldiers and unit to far surpass required organizational and Army standards; demonstrated performance epitomizes excellence in all aspects; this NCO and his/her Soldiers consistently take disciplined initiative in applying leader competencies and attributes; results have an immediate impact and enduring effect on the mission, their Soldiers, the unit, and the Army; demonstrated by the best of the upper third of NCOs of the same grade.</a:t>
            </a:r>
          </a:p>
        </p:txBody>
      </p:sp>
      <p:sp>
        <p:nvSpPr>
          <p:cNvPr id="5" name="Rectangle 4"/>
          <p:cNvSpPr/>
          <p:nvPr/>
        </p:nvSpPr>
        <p:spPr>
          <a:xfrm>
            <a:off x="4592969" y="5686470"/>
            <a:ext cx="6941715" cy="830997"/>
          </a:xfrm>
          <a:prstGeom prst="rect">
            <a:avLst/>
          </a:prstGeom>
          <a:solidFill>
            <a:srgbClr val="FA572A"/>
          </a:solidFill>
          <a:ln w="38100">
            <a:solidFill>
              <a:schemeClr val="tx1"/>
            </a:solidFill>
          </a:ln>
        </p:spPr>
        <p:txBody>
          <a:bodyPr wrap="square">
            <a:spAutoFit/>
          </a:bodyPr>
          <a:lstStyle/>
          <a:p>
            <a:r>
              <a:rPr lang="en-US" sz="1200" b="1" dirty="0">
                <a:latin typeface="Arial" panose="020B0604020202020204" pitchFamily="34" charset="0"/>
                <a:cs typeface="Arial" panose="020B0604020202020204" pitchFamily="34" charset="0"/>
              </a:rPr>
              <a:t> DID NOT MEET STANDARD</a:t>
            </a:r>
            <a:r>
              <a:rPr lang="en-US" sz="1200" dirty="0">
                <a:latin typeface="Arial" panose="020B0604020202020204" pitchFamily="34" charset="0"/>
                <a:cs typeface="Arial" panose="020B0604020202020204" pitchFamily="34" charset="0"/>
              </a:rPr>
              <a:t>. Rated NCO fails to meet or maintain the required Army standards and organizational goals of leader competencies and attributes; does not enforce or meet the standard for the unit or those in his/her charge; exhibits/displays minimal or no effort; actions often have a negative effect on the mission, their Soldiers, the unit, and the Army.</a:t>
            </a:r>
          </a:p>
        </p:txBody>
      </p:sp>
      <p:sp>
        <p:nvSpPr>
          <p:cNvPr id="6" name="Rectangle 5"/>
          <p:cNvSpPr/>
          <p:nvPr/>
        </p:nvSpPr>
        <p:spPr>
          <a:xfrm>
            <a:off x="3009700" y="4568596"/>
            <a:ext cx="7946269" cy="1015663"/>
          </a:xfrm>
          <a:prstGeom prst="rect">
            <a:avLst/>
          </a:prstGeom>
          <a:solidFill>
            <a:schemeClr val="accent4">
              <a:lumMod val="40000"/>
              <a:lumOff val="60000"/>
            </a:schemeClr>
          </a:solidFill>
          <a:ln w="38100">
            <a:solidFill>
              <a:schemeClr val="tx1"/>
            </a:solidFill>
          </a:ln>
        </p:spPr>
        <p:txBody>
          <a:bodyPr wrap="square">
            <a:spAutoFit/>
          </a:bodyPr>
          <a:lstStyle/>
          <a:p>
            <a:r>
              <a:rPr lang="en-US" sz="1200" b="1" dirty="0">
                <a:latin typeface="Arial" panose="020B0604020202020204" pitchFamily="34" charset="0"/>
                <a:cs typeface="Arial" panose="020B0604020202020204" pitchFamily="34" charset="0"/>
              </a:rPr>
              <a:t>MET STANDARD. </a:t>
            </a:r>
            <a:r>
              <a:rPr lang="en-US" sz="1200" dirty="0">
                <a:latin typeface="Arial" panose="020B0604020202020204" pitchFamily="34" charset="0"/>
                <a:cs typeface="Arial" panose="020B0604020202020204" pitchFamily="34" charset="0"/>
              </a:rPr>
              <a:t>Rated NCO successfully achieves and maintains the required Army standards and organizational goals of leader competencies and attributes; effectively meets and enforces the standard for the unit and those in his/her charge; succeeds by taking appropriate initiative in applying the leader competencies and attributes; results have a positive impact on the mission, their Soldiers, the unit, and the Army; this level of performance is considered normal and typically demonstrated by a majority of NCOs of the same grade.</a:t>
            </a:r>
          </a:p>
        </p:txBody>
      </p:sp>
      <p:sp>
        <p:nvSpPr>
          <p:cNvPr id="7" name="Rectangle 6"/>
          <p:cNvSpPr/>
          <p:nvPr/>
        </p:nvSpPr>
        <p:spPr>
          <a:xfrm>
            <a:off x="1131475" y="3411480"/>
            <a:ext cx="7257243" cy="1015663"/>
          </a:xfrm>
          <a:prstGeom prst="rect">
            <a:avLst/>
          </a:prstGeom>
          <a:solidFill>
            <a:schemeClr val="accent6">
              <a:lumMod val="60000"/>
              <a:lumOff val="40000"/>
            </a:schemeClr>
          </a:solidFill>
          <a:ln w="38100">
            <a:solidFill>
              <a:schemeClr val="tx1"/>
            </a:solidFill>
          </a:ln>
        </p:spPr>
        <p:txBody>
          <a:bodyPr wrap="square">
            <a:spAutoFit/>
          </a:bodyPr>
          <a:lstStyle/>
          <a:p>
            <a:r>
              <a:rPr lang="en-US" sz="1200" b="1" dirty="0">
                <a:latin typeface="Arial" panose="020B0604020202020204" pitchFamily="34" charset="0"/>
                <a:cs typeface="Arial" panose="020B0604020202020204" pitchFamily="34" charset="0"/>
              </a:rPr>
              <a:t>EXCEEDED STANDARD. </a:t>
            </a:r>
            <a:r>
              <a:rPr lang="en-US" sz="1200" dirty="0">
                <a:latin typeface="Arial" panose="020B0604020202020204" pitchFamily="34" charset="0"/>
                <a:cs typeface="Arial" panose="020B0604020202020204" pitchFamily="34" charset="0"/>
              </a:rPr>
              <a:t>Rated NCO performs above the required Army standards and organizational goals of leader competencies and attributes; this NCO and his/her Soldiers often take disciplined initiative in applying leader competencies and attributes; results have an immediate impact on the mission, their Soldiers, the unit, and the Army; this level of performance is not common, typically demonstrated by the upper third of NCOs of the same grade</a:t>
            </a:r>
          </a:p>
        </p:txBody>
      </p:sp>
      <p:sp>
        <p:nvSpPr>
          <p:cNvPr id="8" name="Rectangle 7"/>
          <p:cNvSpPr/>
          <p:nvPr/>
        </p:nvSpPr>
        <p:spPr>
          <a:xfrm>
            <a:off x="8229600" y="2120728"/>
            <a:ext cx="3974728" cy="1169551"/>
          </a:xfrm>
          <a:prstGeom prst="rect">
            <a:avLst/>
          </a:prstGeom>
        </p:spPr>
        <p:txBody>
          <a:bodyPr wrap="square">
            <a:spAutoFit/>
          </a:bodyPr>
          <a:lstStyle/>
          <a:p>
            <a:pPr algn="ctr"/>
            <a:r>
              <a:rPr lang="en-US" sz="1400" b="1" dirty="0"/>
              <a:t>Qualitative and substantiated bullet comments</a:t>
            </a:r>
            <a:r>
              <a:rPr lang="en-US" sz="1400" dirty="0"/>
              <a:t>.</a:t>
            </a:r>
          </a:p>
          <a:p>
            <a:pPr marL="58738" lvl="1"/>
            <a:endParaRPr lang="en-US" sz="1400" b="1" dirty="0"/>
          </a:p>
          <a:p>
            <a:pPr marL="58738" lvl="1" algn="ctr"/>
            <a:r>
              <a:rPr lang="en-US" sz="1400" b="1" dirty="0"/>
              <a:t>DA PAM 623-3</a:t>
            </a:r>
            <a:r>
              <a:rPr lang="en-US" sz="1400" dirty="0"/>
              <a:t>: utilized to explain areas where a rated NCO is particularly strong or requires improvement.</a:t>
            </a:r>
          </a:p>
        </p:txBody>
      </p:sp>
      <p:sp>
        <p:nvSpPr>
          <p:cNvPr id="9" name="Rectangle 8"/>
          <p:cNvSpPr/>
          <p:nvPr/>
        </p:nvSpPr>
        <p:spPr>
          <a:xfrm>
            <a:off x="459937" y="1471402"/>
            <a:ext cx="11272126" cy="307777"/>
          </a:xfrm>
          <a:prstGeom prst="rect">
            <a:avLst/>
          </a:prstGeom>
          <a:solidFill>
            <a:schemeClr val="bg1">
              <a:lumMod val="85000"/>
            </a:schemeClr>
          </a:solidFill>
          <a:effectLst>
            <a:glow rad="63500">
              <a:schemeClr val="accent4">
                <a:satMod val="175000"/>
                <a:alpha val="40000"/>
              </a:schemeClr>
            </a:glow>
          </a:effectLst>
        </p:spPr>
        <p:txBody>
          <a:bodyPr wrap="square">
            <a:spAutoFit/>
          </a:bodyPr>
          <a:lstStyle/>
          <a:p>
            <a:pPr algn="ctr"/>
            <a:r>
              <a:rPr lang="en-US" sz="1400" b="1" dirty="0">
                <a:latin typeface="Arial" panose="020B0604020202020204" pitchFamily="34" charset="0"/>
                <a:cs typeface="Arial" panose="020B0604020202020204" pitchFamily="34" charset="0"/>
              </a:rPr>
              <a:t>Bullet comments are mandatory regardless of the box check rating provided (</a:t>
            </a:r>
            <a:r>
              <a:rPr lang="en-US" sz="1200" b="1" dirty="0">
                <a:latin typeface="Arial" panose="020B0604020202020204" pitchFamily="34" charset="0"/>
                <a:cs typeface="Arial" panose="020B0604020202020204" pitchFamily="34" charset="0"/>
              </a:rPr>
              <a:t>at least one bullet will be entered in each block of c through i</a:t>
            </a:r>
            <a:r>
              <a:rPr lang="en-US" sz="1400" b="1" dirty="0">
                <a:latin typeface="Arial" panose="020B0604020202020204" pitchFamily="34" charset="0"/>
                <a:cs typeface="Arial" panose="020B0604020202020204" pitchFamily="34" charset="0"/>
              </a:rPr>
              <a:t>).</a:t>
            </a:r>
          </a:p>
        </p:txBody>
      </p:sp>
      <p:sp>
        <p:nvSpPr>
          <p:cNvPr id="10" name="TextBox 9"/>
          <p:cNvSpPr txBox="1"/>
          <p:nvPr/>
        </p:nvSpPr>
        <p:spPr>
          <a:xfrm>
            <a:off x="1" y="25372"/>
            <a:ext cx="12191999"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Bullets Basics</a:t>
            </a:r>
          </a:p>
          <a:p>
            <a:pPr algn="ctr"/>
            <a:r>
              <a:rPr lang="en-US" sz="3600" dirty="0">
                <a:latin typeface="Arial" panose="020B0604020202020204" pitchFamily="34" charset="0"/>
                <a:cs typeface="Arial" panose="020B0604020202020204" pitchFamily="34" charset="0"/>
              </a:rPr>
              <a:t>The </a:t>
            </a:r>
            <a:r>
              <a:rPr lang="en-US" sz="3200" dirty="0">
                <a:latin typeface="Arial" panose="020B0604020202020204" pitchFamily="34" charset="0"/>
                <a:cs typeface="Arial" panose="020B0604020202020204" pitchFamily="34" charset="0"/>
              </a:rPr>
              <a:t>Mechanics</a:t>
            </a:r>
            <a:r>
              <a:rPr lang="en-US" sz="3600" dirty="0">
                <a:latin typeface="Arial" panose="020B0604020202020204" pitchFamily="34" charset="0"/>
                <a:cs typeface="Arial" panose="020B0604020202020204" pitchFamily="34" charset="0"/>
              </a:rPr>
              <a:t> of Bullets </a:t>
            </a:r>
            <a:endParaRPr lang="en-US" sz="3600" b="1" dirty="0">
              <a:latin typeface="Arial" panose="020B0604020202020204" pitchFamily="34" charset="0"/>
              <a:cs typeface="Arial" panose="020B0604020202020204" pitchFamily="34" charset="0"/>
            </a:endParaRPr>
          </a:p>
        </p:txBody>
      </p:sp>
      <p:pic>
        <p:nvPicPr>
          <p:cNvPr id="11" name="Picture 10"/>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12" name="Picture 11"/>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13" name="TextBox 12"/>
          <p:cNvSpPr txBox="1"/>
          <p:nvPr/>
        </p:nvSpPr>
        <p:spPr>
          <a:xfrm>
            <a:off x="-6436" y="4820004"/>
            <a:ext cx="3406460" cy="307777"/>
          </a:xfrm>
          <a:prstGeom prst="rect">
            <a:avLst/>
          </a:prstGeom>
          <a:noFill/>
          <a:ln>
            <a:noFill/>
          </a:ln>
        </p:spPr>
        <p:txBody>
          <a:bodyPr wrap="square" rtlCol="0">
            <a:spAutoFit/>
          </a:bodyPr>
          <a:lstStyle/>
          <a:p>
            <a:pPr marL="115888" indent="-115888">
              <a:buAutoNum type="arabicPeriod"/>
            </a:pPr>
            <a:r>
              <a:rPr lang="en-US" sz="1400" b="1" dirty="0">
                <a:latin typeface="Arial" panose="020B0604020202020204" pitchFamily="34" charset="0"/>
                <a:cs typeface="Arial" panose="020B0604020202020204" pitchFamily="34" charset="0"/>
              </a:rPr>
              <a:t>Short concise and to the point</a:t>
            </a:r>
            <a:endParaRPr lang="en-US" sz="1200" b="1" dirty="0">
              <a:latin typeface="Arial" panose="020B0604020202020204" pitchFamily="34" charset="0"/>
              <a:cs typeface="Arial" panose="020B0604020202020204" pitchFamily="34" charset="0"/>
            </a:endParaRPr>
          </a:p>
        </p:txBody>
      </p:sp>
      <p:sp>
        <p:nvSpPr>
          <p:cNvPr id="14" name="Rectangle 13"/>
          <p:cNvSpPr/>
          <p:nvPr/>
        </p:nvSpPr>
        <p:spPr>
          <a:xfrm>
            <a:off x="-6437" y="5226915"/>
            <a:ext cx="3406462" cy="307777"/>
          </a:xfrm>
          <a:prstGeom prst="rect">
            <a:avLst/>
          </a:prstGeom>
          <a:ln>
            <a:noFill/>
          </a:ln>
        </p:spPr>
        <p:txBody>
          <a:bodyPr wrap="square">
            <a:spAutoFit/>
          </a:bodyPr>
          <a:lstStyle/>
          <a:p>
            <a:r>
              <a:rPr lang="en-US" sz="1400" b="1" dirty="0">
                <a:latin typeface="Arial" panose="020B0604020202020204" pitchFamily="34" charset="0"/>
                <a:cs typeface="Arial" panose="020B0604020202020204" pitchFamily="34" charset="0"/>
              </a:rPr>
              <a:t>2. No longer than 2 lines</a:t>
            </a:r>
          </a:p>
        </p:txBody>
      </p:sp>
      <p:sp>
        <p:nvSpPr>
          <p:cNvPr id="15" name="Rectangle 14"/>
          <p:cNvSpPr/>
          <p:nvPr/>
        </p:nvSpPr>
        <p:spPr>
          <a:xfrm>
            <a:off x="-6436" y="5633826"/>
            <a:ext cx="3406460" cy="307777"/>
          </a:xfrm>
          <a:prstGeom prst="rect">
            <a:avLst/>
          </a:prstGeom>
          <a:ln>
            <a:noFill/>
          </a:ln>
        </p:spPr>
        <p:txBody>
          <a:bodyPr wrap="square">
            <a:spAutoFit/>
          </a:bodyPr>
          <a:lstStyle/>
          <a:p>
            <a:r>
              <a:rPr lang="en-US" sz="1400" b="1" dirty="0">
                <a:latin typeface="Arial" panose="020B0604020202020204" pitchFamily="34" charset="0"/>
                <a:cs typeface="Arial" panose="020B0604020202020204" pitchFamily="34" charset="0"/>
              </a:rPr>
              <a:t>3. Must start with an action word</a:t>
            </a:r>
          </a:p>
        </p:txBody>
      </p:sp>
      <p:sp>
        <p:nvSpPr>
          <p:cNvPr id="16" name="Rectangle 15"/>
          <p:cNvSpPr/>
          <p:nvPr/>
        </p:nvSpPr>
        <p:spPr>
          <a:xfrm>
            <a:off x="-6437" y="6040737"/>
            <a:ext cx="3406461" cy="307777"/>
          </a:xfrm>
          <a:prstGeom prst="rect">
            <a:avLst/>
          </a:prstGeom>
          <a:ln>
            <a:noFill/>
          </a:ln>
        </p:spPr>
        <p:txBody>
          <a:bodyPr wrap="square">
            <a:spAutoFit/>
          </a:bodyPr>
          <a:lstStyle/>
          <a:p>
            <a:r>
              <a:rPr lang="en-US" sz="1400" b="1" dirty="0">
                <a:latin typeface="Arial" panose="020B0604020202020204" pitchFamily="34" charset="0"/>
                <a:cs typeface="Arial" panose="020B0604020202020204" pitchFamily="34" charset="0"/>
              </a:rPr>
              <a:t>4. Double spaced between bullets </a:t>
            </a:r>
          </a:p>
        </p:txBody>
      </p:sp>
      <p:sp>
        <p:nvSpPr>
          <p:cNvPr id="17" name="Rectangle 16"/>
          <p:cNvSpPr/>
          <p:nvPr/>
        </p:nvSpPr>
        <p:spPr>
          <a:xfrm>
            <a:off x="-6437" y="6447648"/>
            <a:ext cx="3406462" cy="307777"/>
          </a:xfrm>
          <a:prstGeom prst="rect">
            <a:avLst/>
          </a:prstGeom>
          <a:ln>
            <a:noFill/>
          </a:ln>
        </p:spPr>
        <p:txBody>
          <a:bodyPr wrap="square">
            <a:spAutoFit/>
          </a:bodyPr>
          <a:lstStyle/>
          <a:p>
            <a:r>
              <a:rPr lang="en-US" sz="1400" b="1" dirty="0">
                <a:latin typeface="Arial" panose="020B0604020202020204" pitchFamily="34" charset="0"/>
                <a:cs typeface="Arial" panose="020B0604020202020204" pitchFamily="34" charset="0"/>
              </a:rPr>
              <a:t>5. Start with “o”</a:t>
            </a:r>
          </a:p>
        </p:txBody>
      </p:sp>
      <p:sp>
        <p:nvSpPr>
          <p:cNvPr id="18" name="TextBox 17"/>
          <p:cNvSpPr txBox="1"/>
          <p:nvPr/>
        </p:nvSpPr>
        <p:spPr>
          <a:xfrm>
            <a:off x="6724555" y="6517467"/>
            <a:ext cx="5411637" cy="338554"/>
          </a:xfrm>
          <a:prstGeom prst="rect">
            <a:avLst/>
          </a:prstGeom>
          <a:noFill/>
        </p:spPr>
        <p:txBody>
          <a:bodyPr wrap="square" rtlCol="0">
            <a:spAutoFit/>
          </a:bodyPr>
          <a:lstStyle/>
          <a:p>
            <a:pPr algn="r"/>
            <a:r>
              <a:rPr lang="en-US" sz="1600" b="1" dirty="0">
                <a:solidFill>
                  <a:srgbClr val="FF0000"/>
                </a:solidFill>
                <a:effectLst>
                  <a:outerShdw blurRad="38100" dist="38100" dir="2700000" algn="tl">
                    <a:srgbClr val="000000">
                      <a:alpha val="43137"/>
                    </a:srgbClr>
                  </a:outerShdw>
                </a:effectLst>
              </a:rPr>
              <a:t>Information based on DA Pam 623-3 dated 10 NOV 15</a:t>
            </a:r>
          </a:p>
        </p:txBody>
      </p:sp>
    </p:spTree>
    <p:extLst>
      <p:ext uri="{BB962C8B-B14F-4D97-AF65-F5344CB8AC3E}">
        <p14:creationId xmlns:p14="http://schemas.microsoft.com/office/powerpoint/2010/main" val="136013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25372"/>
            <a:ext cx="12191999" cy="1138773"/>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Assessing Rated NCO</a:t>
            </a:r>
          </a:p>
          <a:p>
            <a:pPr algn="ctr"/>
            <a:r>
              <a:rPr lang="en-US" sz="3200" dirty="0">
                <a:latin typeface="Arial" panose="020B0604020202020204" pitchFamily="34" charset="0"/>
                <a:cs typeface="Arial" panose="020B0604020202020204" pitchFamily="34" charset="0"/>
              </a:rPr>
              <a:t>Data Collection</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7" name="TextBox 6"/>
          <p:cNvSpPr txBox="1"/>
          <p:nvPr/>
        </p:nvSpPr>
        <p:spPr>
          <a:xfrm>
            <a:off x="122829" y="1684546"/>
            <a:ext cx="5012871" cy="584775"/>
          </a:xfrm>
          <a:prstGeom prst="rect">
            <a:avLst/>
          </a:prstGeom>
          <a:noFill/>
          <a:ln w="38100">
            <a:solidFill>
              <a:schemeClr val="tx1"/>
            </a:solidFill>
          </a:ln>
        </p:spPr>
        <p:txBody>
          <a:bodyPr wrap="square" rtlCol="0">
            <a:spAutoFit/>
          </a:bodyPr>
          <a:lstStyle/>
          <a:p>
            <a:pPr marL="342900" indent="-342900">
              <a:buAutoNum type="arabicPeriod"/>
            </a:pPr>
            <a:r>
              <a:rPr lang="en-US" sz="1600" b="1" dirty="0">
                <a:latin typeface="Times New Roman" panose="02020603050405020304" pitchFamily="18" charset="0"/>
                <a:cs typeface="Times New Roman" panose="02020603050405020304" pitchFamily="18" charset="0"/>
              </a:rPr>
              <a:t>Identify NCO official/primary title/role </a:t>
            </a:r>
          </a:p>
          <a:p>
            <a:r>
              <a:rPr lang="en-US" sz="1600" dirty="0">
                <a:latin typeface="Times New Roman" panose="02020603050405020304" pitchFamily="18" charset="0"/>
                <a:cs typeface="Times New Roman" panose="02020603050405020304" pitchFamily="18" charset="0"/>
              </a:rPr>
              <a:t>i.e., analyst, logistician, network specialist (title on TDA)</a:t>
            </a:r>
          </a:p>
        </p:txBody>
      </p:sp>
      <p:sp>
        <p:nvSpPr>
          <p:cNvPr id="8" name="TextBox 7"/>
          <p:cNvSpPr txBox="1"/>
          <p:nvPr/>
        </p:nvSpPr>
        <p:spPr>
          <a:xfrm>
            <a:off x="122829" y="2679769"/>
            <a:ext cx="5012871" cy="584775"/>
          </a:xfrm>
          <a:prstGeom prst="rect">
            <a:avLst/>
          </a:prstGeom>
          <a:noFill/>
          <a:ln w="38100">
            <a:solidFill>
              <a:schemeClr val="tx1"/>
            </a:solidFill>
          </a:ln>
        </p:spPr>
        <p:txBody>
          <a:bodyPr wrap="square" rtlCol="0">
            <a:spAutoFit/>
          </a:bodyPr>
          <a:lstStyle/>
          <a:p>
            <a:r>
              <a:rPr lang="en-US" sz="1600" b="1" dirty="0">
                <a:latin typeface="Times New Roman" panose="02020603050405020304" pitchFamily="18" charset="0"/>
                <a:cs typeface="Times New Roman" panose="02020603050405020304" pitchFamily="18" charset="0"/>
              </a:rPr>
              <a:t>2. Identify NCO additional roles</a:t>
            </a:r>
          </a:p>
          <a:p>
            <a:r>
              <a:rPr lang="en-US" sz="1600" dirty="0">
                <a:latin typeface="Times New Roman" panose="02020603050405020304" pitchFamily="18" charset="0"/>
                <a:cs typeface="Times New Roman" panose="02020603050405020304" pitchFamily="18" charset="0"/>
              </a:rPr>
              <a:t>Sqd leader, team lead, section NCO, shift lead</a:t>
            </a:r>
          </a:p>
        </p:txBody>
      </p:sp>
      <p:sp>
        <p:nvSpPr>
          <p:cNvPr id="9" name="TextBox 8"/>
          <p:cNvSpPr txBox="1"/>
          <p:nvPr/>
        </p:nvSpPr>
        <p:spPr>
          <a:xfrm>
            <a:off x="122829" y="3448979"/>
            <a:ext cx="5012871" cy="584775"/>
          </a:xfrm>
          <a:prstGeom prst="rect">
            <a:avLst/>
          </a:prstGeom>
          <a:noFill/>
          <a:ln w="38100">
            <a:solidFill>
              <a:schemeClr val="tx1"/>
            </a:solidFill>
          </a:ln>
        </p:spPr>
        <p:txBody>
          <a:bodyPr wrap="square" rtlCol="0">
            <a:spAutoFit/>
          </a:bodyPr>
          <a:lstStyle/>
          <a:p>
            <a:r>
              <a:rPr lang="en-US" sz="1600" b="1" dirty="0">
                <a:latin typeface="Times New Roman" panose="02020603050405020304" pitchFamily="18" charset="0"/>
                <a:cs typeface="Times New Roman" panose="02020603050405020304" pitchFamily="18" charset="0"/>
              </a:rPr>
              <a:t>3. Appointed and additional duties/roles </a:t>
            </a:r>
          </a:p>
          <a:p>
            <a:r>
              <a:rPr lang="en-US" sz="1600" dirty="0">
                <a:latin typeface="Times New Roman" panose="02020603050405020304" pitchFamily="18" charset="0"/>
                <a:cs typeface="Times New Roman" panose="02020603050405020304" pitchFamily="18" charset="0"/>
              </a:rPr>
              <a:t>EOA, SHARP, UA, Training NCO, IG, Master Fitness</a:t>
            </a:r>
          </a:p>
        </p:txBody>
      </p:sp>
      <p:sp>
        <p:nvSpPr>
          <p:cNvPr id="10" name="TextBox 9"/>
          <p:cNvSpPr txBox="1"/>
          <p:nvPr/>
        </p:nvSpPr>
        <p:spPr>
          <a:xfrm>
            <a:off x="122829" y="4218189"/>
            <a:ext cx="5012871" cy="1815882"/>
          </a:xfrm>
          <a:prstGeom prst="rect">
            <a:avLst/>
          </a:prstGeom>
          <a:noFill/>
          <a:ln w="38100">
            <a:solidFill>
              <a:schemeClr val="tx1"/>
            </a:solidFill>
          </a:ln>
        </p:spPr>
        <p:txBody>
          <a:bodyPr wrap="square" rtlCol="0">
            <a:spAutoFit/>
          </a:bodyPr>
          <a:lstStyle/>
          <a:p>
            <a:pPr marL="168275" indent="-168275">
              <a:buAutoNum type="arabicPeriod" startAt="4"/>
            </a:pPr>
            <a:r>
              <a:rPr lang="en-US" sz="1600" b="1" dirty="0">
                <a:latin typeface="Times New Roman" panose="02020603050405020304" pitchFamily="18" charset="0"/>
                <a:cs typeface="Times New Roman" panose="02020603050405020304" pitchFamily="18" charset="0"/>
              </a:rPr>
              <a:t>Quantify (see your 1SG, </a:t>
            </a:r>
            <a:r>
              <a:rPr lang="en-US" sz="1600" b="1" dirty="0" err="1">
                <a:latin typeface="Times New Roman" panose="02020603050405020304" pitchFamily="18" charset="0"/>
                <a:cs typeface="Times New Roman" panose="02020603050405020304" pitchFamily="18" charset="0"/>
              </a:rPr>
              <a:t>Trng</a:t>
            </a:r>
            <a:r>
              <a:rPr lang="en-US" sz="1600" b="1" dirty="0">
                <a:latin typeface="Times New Roman" panose="02020603050405020304" pitchFamily="18" charset="0"/>
                <a:cs typeface="Times New Roman" panose="02020603050405020304" pitchFamily="18" charset="0"/>
              </a:rPr>
              <a:t> NCO, Orderly Rm Clerk)</a:t>
            </a:r>
          </a:p>
          <a:p>
            <a:pPr marL="0" lvl="1" indent="168275">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How many NCOs / Soldiers are in the company / unit / section / squad</a:t>
            </a:r>
          </a:p>
          <a:p>
            <a:pPr marL="0" lvl="1" indent="168275">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Company/unit/section/squad/PLT PT averages</a:t>
            </a:r>
          </a:p>
          <a:p>
            <a:pPr marL="0" lvl="1" indent="168275">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How many soldiers qualified on weapons</a:t>
            </a:r>
          </a:p>
          <a:p>
            <a:pPr marL="0" lvl="1" indent="168275">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How many soldiers attended last range</a:t>
            </a:r>
          </a:p>
        </p:txBody>
      </p:sp>
      <p:cxnSp>
        <p:nvCxnSpPr>
          <p:cNvPr id="12" name="Straight Arrow Connector 11"/>
          <p:cNvCxnSpPr/>
          <p:nvPr/>
        </p:nvCxnSpPr>
        <p:spPr>
          <a:xfrm>
            <a:off x="5192145" y="2115433"/>
            <a:ext cx="51447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8804676" y="1746330"/>
            <a:ext cx="3314489" cy="738664"/>
          </a:xfrm>
          <a:prstGeom prst="rect">
            <a:avLst/>
          </a:prstGeom>
          <a:gradFill>
            <a:gsLst>
              <a:gs pos="0">
                <a:schemeClr val="accent1">
                  <a:lumMod val="5000"/>
                  <a:lumOff val="95000"/>
                </a:schemeClr>
              </a:gs>
              <a:gs pos="100000">
                <a:schemeClr val="accent1">
                  <a:lumMod val="30000"/>
                  <a:lumOff val="70000"/>
                </a:schemeClr>
              </a:gs>
            </a:gsLst>
            <a:lin ang="5400000" scaled="1"/>
          </a:gradFill>
          <a:ln w="12700">
            <a:solidFill>
              <a:schemeClr val="tx1"/>
            </a:solidFill>
          </a:ln>
          <a:effectLst>
            <a:outerShdw blurRad="50800" dist="38100" dir="16200000" rotWithShape="0">
              <a:prstClr val="black">
                <a:alpha val="40000"/>
              </a:prstClr>
            </a:outerShdw>
          </a:effectLst>
        </p:spPr>
        <p:txBody>
          <a:bodyPr wrap="square" rtlCol="0">
            <a:spAutoFit/>
          </a:bodyPr>
          <a:lstStyle/>
          <a:p>
            <a:pPr algn="ctr"/>
            <a:r>
              <a:rPr lang="en-US" sz="1400" dirty="0">
                <a:solidFill>
                  <a:srgbClr val="7030A0"/>
                </a:solidFill>
              </a:rPr>
              <a:t>Performed, maintained, executed, managed, created, established, operated, led, supervised, etc. </a:t>
            </a:r>
          </a:p>
        </p:txBody>
      </p:sp>
      <p:sp>
        <p:nvSpPr>
          <p:cNvPr id="15" name="TextBox 14"/>
          <p:cNvSpPr txBox="1"/>
          <p:nvPr/>
        </p:nvSpPr>
        <p:spPr>
          <a:xfrm>
            <a:off x="8804677" y="2631158"/>
            <a:ext cx="3314489" cy="738664"/>
          </a:xfrm>
          <a:prstGeom prst="rect">
            <a:avLst/>
          </a:prstGeom>
          <a:gradFill>
            <a:gsLst>
              <a:gs pos="0">
                <a:schemeClr val="accent1">
                  <a:lumMod val="5000"/>
                  <a:lumOff val="95000"/>
                </a:schemeClr>
              </a:gs>
              <a:gs pos="100000">
                <a:schemeClr val="accent1">
                  <a:lumMod val="30000"/>
                  <a:lumOff val="70000"/>
                </a:schemeClr>
              </a:gs>
            </a:gsLst>
            <a:lin ang="5400000" scaled="1"/>
          </a:gradFill>
          <a:ln w="12700">
            <a:solidFill>
              <a:schemeClr val="tx1"/>
            </a:solidFill>
          </a:ln>
          <a:effectLst>
            <a:outerShdw blurRad="50800" dist="38100" dir="16200000" rotWithShape="0">
              <a:prstClr val="black">
                <a:alpha val="40000"/>
              </a:prstClr>
            </a:outerShdw>
          </a:effectLst>
        </p:spPr>
        <p:txBody>
          <a:bodyPr wrap="square" rtlCol="0">
            <a:spAutoFit/>
          </a:bodyPr>
          <a:lstStyle/>
          <a:p>
            <a:pPr algn="ctr"/>
            <a:r>
              <a:rPr lang="en-US" sz="1400" dirty="0">
                <a:solidFill>
                  <a:srgbClr val="7030A0"/>
                </a:solidFill>
              </a:rPr>
              <a:t>In addition to the above - Excelled, achieved, influenced, organized, improved, increased, sponsored, etc. </a:t>
            </a:r>
          </a:p>
        </p:txBody>
      </p:sp>
      <p:sp>
        <p:nvSpPr>
          <p:cNvPr id="18" name="TextBox 17"/>
          <p:cNvSpPr txBox="1"/>
          <p:nvPr/>
        </p:nvSpPr>
        <p:spPr>
          <a:xfrm>
            <a:off x="8804675" y="3448979"/>
            <a:ext cx="3314489" cy="523220"/>
          </a:xfrm>
          <a:prstGeom prst="rect">
            <a:avLst/>
          </a:prstGeom>
          <a:gradFill>
            <a:gsLst>
              <a:gs pos="0">
                <a:schemeClr val="accent1">
                  <a:lumMod val="5000"/>
                  <a:lumOff val="95000"/>
                </a:schemeClr>
              </a:gs>
              <a:gs pos="100000">
                <a:schemeClr val="accent1">
                  <a:lumMod val="30000"/>
                  <a:lumOff val="70000"/>
                </a:schemeClr>
              </a:gs>
            </a:gsLst>
            <a:lin ang="5400000" scaled="1"/>
          </a:gradFill>
          <a:ln w="12700">
            <a:solidFill>
              <a:schemeClr val="tx1"/>
            </a:solidFill>
          </a:ln>
          <a:effectLst>
            <a:outerShdw blurRad="50800" dist="38100" dir="16200000" rotWithShape="0">
              <a:prstClr val="black">
                <a:alpha val="40000"/>
              </a:prstClr>
            </a:outerShdw>
          </a:effectLst>
        </p:spPr>
        <p:txBody>
          <a:bodyPr wrap="square" rtlCol="0">
            <a:spAutoFit/>
          </a:bodyPr>
          <a:lstStyle/>
          <a:p>
            <a:pPr algn="ctr"/>
            <a:r>
              <a:rPr lang="en-US" sz="1400" dirty="0">
                <a:solidFill>
                  <a:srgbClr val="7030A0"/>
                </a:solidFill>
              </a:rPr>
              <a:t>In addition to above - selected above, appointed, recognized, nominated, chosen. </a:t>
            </a:r>
          </a:p>
        </p:txBody>
      </p:sp>
      <p:sp>
        <p:nvSpPr>
          <p:cNvPr id="19" name="TextBox 18"/>
          <p:cNvSpPr txBox="1"/>
          <p:nvPr/>
        </p:nvSpPr>
        <p:spPr>
          <a:xfrm>
            <a:off x="5806718" y="1746330"/>
            <a:ext cx="2338722" cy="738664"/>
          </a:xfrm>
          <a:prstGeom prst="rect">
            <a:avLst/>
          </a:prstGeom>
          <a:noFill/>
          <a:ln>
            <a:solidFill>
              <a:schemeClr val="tx1"/>
            </a:solidFill>
          </a:ln>
        </p:spPr>
        <p:txBody>
          <a:bodyPr wrap="square" rtlCol="0">
            <a:spAutoFit/>
          </a:bodyPr>
          <a:lstStyle/>
          <a:p>
            <a:r>
              <a:rPr lang="en-US" sz="1400" dirty="0"/>
              <a:t>typically highlights MOS functions, level of proficiency and expertise  </a:t>
            </a:r>
          </a:p>
        </p:txBody>
      </p:sp>
      <p:cxnSp>
        <p:nvCxnSpPr>
          <p:cNvPr id="21" name="Straight Arrow Connector 20"/>
          <p:cNvCxnSpPr/>
          <p:nvPr/>
        </p:nvCxnSpPr>
        <p:spPr>
          <a:xfrm>
            <a:off x="8229600" y="2115433"/>
            <a:ext cx="51447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692323" y="1164145"/>
            <a:ext cx="1856095" cy="369332"/>
          </a:xfrm>
          <a:prstGeom prst="rect">
            <a:avLst/>
          </a:prstGeom>
          <a:noFill/>
        </p:spPr>
        <p:txBody>
          <a:bodyPr wrap="square" rtlCol="0">
            <a:spAutoFit/>
          </a:bodyPr>
          <a:lstStyle/>
          <a:p>
            <a:r>
              <a:rPr lang="en-US" b="1" dirty="0"/>
              <a:t>Roles/functions  </a:t>
            </a:r>
          </a:p>
        </p:txBody>
      </p:sp>
      <p:sp>
        <p:nvSpPr>
          <p:cNvPr id="23" name="TextBox 22"/>
          <p:cNvSpPr txBox="1"/>
          <p:nvPr/>
        </p:nvSpPr>
        <p:spPr>
          <a:xfrm>
            <a:off x="6496861" y="1158740"/>
            <a:ext cx="946651" cy="369332"/>
          </a:xfrm>
          <a:prstGeom prst="rect">
            <a:avLst/>
          </a:prstGeom>
          <a:noFill/>
        </p:spPr>
        <p:txBody>
          <a:bodyPr wrap="square" rtlCol="0">
            <a:spAutoFit/>
          </a:bodyPr>
          <a:lstStyle/>
          <a:p>
            <a:pPr algn="ctr"/>
            <a:r>
              <a:rPr lang="en-US" b="1" dirty="0"/>
              <a:t>Area</a:t>
            </a:r>
            <a:r>
              <a:rPr lang="en-US" dirty="0"/>
              <a:t>  </a:t>
            </a:r>
          </a:p>
        </p:txBody>
      </p:sp>
      <p:sp>
        <p:nvSpPr>
          <p:cNvPr id="24" name="TextBox 23"/>
          <p:cNvSpPr txBox="1"/>
          <p:nvPr/>
        </p:nvSpPr>
        <p:spPr>
          <a:xfrm>
            <a:off x="9095877" y="1184112"/>
            <a:ext cx="2330230" cy="369332"/>
          </a:xfrm>
          <a:prstGeom prst="rect">
            <a:avLst/>
          </a:prstGeom>
          <a:noFill/>
        </p:spPr>
        <p:txBody>
          <a:bodyPr wrap="square" rtlCol="0">
            <a:spAutoFit/>
          </a:bodyPr>
          <a:lstStyle/>
          <a:p>
            <a:pPr algn="ctr"/>
            <a:r>
              <a:rPr lang="en-US" b="1" dirty="0"/>
              <a:t>Action Verbs</a:t>
            </a:r>
          </a:p>
        </p:txBody>
      </p:sp>
      <p:sp>
        <p:nvSpPr>
          <p:cNvPr id="25" name="TextBox 24"/>
          <p:cNvSpPr txBox="1"/>
          <p:nvPr/>
        </p:nvSpPr>
        <p:spPr>
          <a:xfrm>
            <a:off x="5806718" y="2729836"/>
            <a:ext cx="2338722" cy="523220"/>
          </a:xfrm>
          <a:prstGeom prst="rect">
            <a:avLst/>
          </a:prstGeom>
          <a:noFill/>
          <a:ln>
            <a:solidFill>
              <a:schemeClr val="tx1"/>
            </a:solidFill>
          </a:ln>
        </p:spPr>
        <p:txBody>
          <a:bodyPr wrap="square" rtlCol="0">
            <a:spAutoFit/>
          </a:bodyPr>
          <a:lstStyle/>
          <a:p>
            <a:r>
              <a:rPr lang="en-US" sz="1400" dirty="0"/>
              <a:t>typically highlights leadership roles and quality of NCO</a:t>
            </a:r>
          </a:p>
        </p:txBody>
      </p:sp>
      <p:cxnSp>
        <p:nvCxnSpPr>
          <p:cNvPr id="26" name="Straight Arrow Connector 25"/>
          <p:cNvCxnSpPr/>
          <p:nvPr/>
        </p:nvCxnSpPr>
        <p:spPr>
          <a:xfrm>
            <a:off x="8229600" y="3000490"/>
            <a:ext cx="51447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5192145" y="2972156"/>
            <a:ext cx="51447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5192145" y="3710589"/>
            <a:ext cx="51447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8229600" y="3741366"/>
            <a:ext cx="51447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800826" y="3479756"/>
            <a:ext cx="2338722" cy="523220"/>
          </a:xfrm>
          <a:prstGeom prst="rect">
            <a:avLst/>
          </a:prstGeom>
          <a:noFill/>
          <a:ln>
            <a:solidFill>
              <a:schemeClr val="tx1"/>
            </a:solidFill>
          </a:ln>
        </p:spPr>
        <p:txBody>
          <a:bodyPr wrap="square" rtlCol="0">
            <a:spAutoFit/>
          </a:bodyPr>
          <a:lstStyle/>
          <a:p>
            <a:r>
              <a:rPr lang="en-US" sz="1400" dirty="0"/>
              <a:t>Highlights separation or distinguishes NCO from peers </a:t>
            </a:r>
          </a:p>
        </p:txBody>
      </p:sp>
      <p:sp>
        <p:nvSpPr>
          <p:cNvPr id="33" name="TextBox 32"/>
          <p:cNvSpPr txBox="1"/>
          <p:nvPr/>
        </p:nvSpPr>
        <p:spPr>
          <a:xfrm>
            <a:off x="5800826" y="4226796"/>
            <a:ext cx="6253617" cy="2277547"/>
          </a:xfrm>
          <a:prstGeom prst="rect">
            <a:avLst/>
          </a:prstGeom>
          <a:noFill/>
          <a:ln>
            <a:solidFill>
              <a:schemeClr val="tx1"/>
            </a:solidFill>
          </a:ln>
        </p:spPr>
        <p:txBody>
          <a:bodyPr wrap="square" rtlCol="0">
            <a:spAutoFit/>
          </a:bodyPr>
          <a:lstStyle/>
          <a:p>
            <a:r>
              <a:rPr lang="en-US" sz="1400" b="1" dirty="0">
                <a:solidFill>
                  <a:srgbClr val="7030A0"/>
                </a:solidFill>
              </a:rPr>
              <a:t>Use numeration whenever and wherever possible, never too much, DO THE MATH</a:t>
            </a:r>
          </a:p>
          <a:p>
            <a:r>
              <a:rPr lang="en-US" sz="1400" b="1" dirty="0"/>
              <a:t>Examples:</a:t>
            </a:r>
          </a:p>
          <a:p>
            <a:r>
              <a:rPr lang="en-US" sz="1400" b="1" u="sng" dirty="0"/>
              <a:t>Company/unit: </a:t>
            </a:r>
            <a:r>
              <a:rPr lang="en-US" sz="1400" dirty="0"/>
              <a:t>135 soldiers total (NCOs 58, Officers, 15, E4 –E1 62)  </a:t>
            </a:r>
          </a:p>
          <a:p>
            <a:r>
              <a:rPr lang="en-US" sz="1400" b="1" u="sng" dirty="0"/>
              <a:t>NCO Breakdown: </a:t>
            </a:r>
            <a:r>
              <a:rPr lang="en-US" sz="1400" dirty="0"/>
              <a:t>SGT: 26, SSG: 19 SFC: 8, MSG: 3, SGM: 2</a:t>
            </a:r>
          </a:p>
          <a:p>
            <a:r>
              <a:rPr lang="en-US" sz="1400" b="1" u="sng" dirty="0"/>
              <a:t>Section/squad: </a:t>
            </a:r>
            <a:r>
              <a:rPr lang="en-US" sz="1400" dirty="0"/>
              <a:t>15, OF: 1, SFC: 1, SSG: 3 SGT: 2, E4-E1: 8</a:t>
            </a:r>
          </a:p>
          <a:p>
            <a:r>
              <a:rPr lang="en-US" sz="1600" b="1" dirty="0">
                <a:solidFill>
                  <a:schemeClr val="accent5">
                    <a:lumMod val="75000"/>
                  </a:schemeClr>
                </a:solidFill>
              </a:rPr>
              <a:t>____of 135 soldiers/58 NCOs/26 SGT/19 SSG/8 SFC/ 3 MSG to… </a:t>
            </a:r>
          </a:p>
          <a:p>
            <a:r>
              <a:rPr lang="en-US" sz="1400" dirty="0"/>
              <a:t>Top 5 or 5% of NCOs (58 x.10=5.8 or 5) (rounding down is stronger)</a:t>
            </a:r>
          </a:p>
          <a:p>
            <a:r>
              <a:rPr lang="en-US" sz="1400" dirty="0"/>
              <a:t>Top 2 or 5% of SSGs (19 x .10= 1. 9 or 2 (round up if required)</a:t>
            </a:r>
          </a:p>
          <a:p>
            <a:r>
              <a:rPr lang="en-US" sz="1400" dirty="0"/>
              <a:t>45 soldiers attended range, 42 qualified = increased readiness/qualifications by 31% (42/135=.31111 or 31%)</a:t>
            </a:r>
          </a:p>
        </p:txBody>
      </p:sp>
      <p:cxnSp>
        <p:nvCxnSpPr>
          <p:cNvPr id="35" name="Straight Arrow Connector 34"/>
          <p:cNvCxnSpPr/>
          <p:nvPr/>
        </p:nvCxnSpPr>
        <p:spPr>
          <a:xfrm>
            <a:off x="5192145" y="5361588"/>
            <a:ext cx="605867" cy="398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0" y="6583990"/>
            <a:ext cx="12192000" cy="276999"/>
          </a:xfrm>
          <a:prstGeom prst="rect">
            <a:avLst/>
          </a:prstGeom>
          <a:noFill/>
        </p:spPr>
        <p:txBody>
          <a:bodyPr wrap="square" rtlCol="0">
            <a:spAutoFit/>
          </a:bodyPr>
          <a:lstStyle/>
          <a:p>
            <a:pPr algn="ctr"/>
            <a:r>
              <a:rPr lang="en-US" sz="1200" dirty="0"/>
              <a:t>*lists are not all inclusive and are interchangeable, may be grouped if warranted. MOS emphasizes proficiency, Leadership emphasizes impact, Additional responsibilities distinguishes *  </a:t>
            </a:r>
          </a:p>
        </p:txBody>
      </p:sp>
    </p:spTree>
    <p:extLst>
      <p:ext uri="{BB962C8B-B14F-4D97-AF65-F5344CB8AC3E}">
        <p14:creationId xmlns:p14="http://schemas.microsoft.com/office/powerpoint/2010/main" val="3202565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9722"/>
            <a:ext cx="12191999" cy="1138773"/>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Assessing Rated NCO</a:t>
            </a:r>
          </a:p>
          <a:p>
            <a:pPr algn="ctr"/>
            <a:r>
              <a:rPr lang="en-US" sz="3200" dirty="0">
                <a:latin typeface="Arial" panose="020B0604020202020204" pitchFamily="34" charset="0"/>
                <a:cs typeface="Arial" panose="020B0604020202020204" pitchFamily="34" charset="0"/>
              </a:rPr>
              <a:t>Identifying Accomplishments </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7" name="TextBox 6"/>
          <p:cNvSpPr txBox="1"/>
          <p:nvPr/>
        </p:nvSpPr>
        <p:spPr>
          <a:xfrm>
            <a:off x="0" y="1311589"/>
            <a:ext cx="5691116" cy="5516895"/>
          </a:xfrm>
          <a:prstGeom prst="rect">
            <a:avLst/>
          </a:prstGeom>
          <a:solidFill>
            <a:schemeClr val="accent2">
              <a:lumMod val="40000"/>
              <a:lumOff val="60000"/>
            </a:schemeClr>
          </a:solidFill>
          <a:ln w="38100">
            <a:noFill/>
          </a:ln>
          <a:scene3d>
            <a:camera prst="orthographicFront"/>
            <a:lightRig rig="threePt" dir="t"/>
          </a:scene3d>
          <a:sp3d>
            <a:bevelT/>
          </a:sp3d>
        </p:spPr>
        <p:txBody>
          <a:bodyPr wrap="square" rtlCol="0">
            <a:spAutoFit/>
          </a:bodyPr>
          <a:lstStyle/>
          <a:p>
            <a:pPr algn="ctr"/>
            <a:r>
              <a:rPr lang="en-US" b="1" dirty="0">
                <a:latin typeface="Arial" panose="020B0604020202020204" pitchFamily="34" charset="0"/>
                <a:cs typeface="Arial" panose="020B0604020202020204" pitchFamily="34" charset="0"/>
              </a:rPr>
              <a:t>List everything NCO completed/did not complete </a:t>
            </a:r>
          </a:p>
          <a:p>
            <a:r>
              <a:rPr lang="en-US" sz="1600" b="1" u="sng" dirty="0">
                <a:latin typeface="Arial" panose="020B0604020202020204" pitchFamily="34" charset="0"/>
                <a:cs typeface="Arial" panose="020B0604020202020204" pitchFamily="34" charset="0"/>
              </a:rPr>
              <a:t>Examples</a:t>
            </a:r>
            <a:r>
              <a:rPr lang="en-US" sz="1600" dirty="0">
                <a:latin typeface="Arial" panose="020B0604020202020204" pitchFamily="34" charset="0"/>
                <a:cs typeface="Arial" panose="020B0604020202020204" pitchFamily="34" charset="0"/>
              </a:rPr>
              <a:t>:</a:t>
            </a: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Conducted PT sessions </a:t>
            </a: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Provided daily threat briefings</a:t>
            </a: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Helped Soldier pass ACFT</a:t>
            </a: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Conducted PAI for a M4 range</a:t>
            </a:r>
          </a:p>
          <a:p>
            <a:pPr marL="288925" lvl="1" indent="-169863">
              <a:buFont typeface="Arial" panose="020B0604020202020204" pitchFamily="34" charset="0"/>
              <a:buChar char="•"/>
            </a:pPr>
            <a:r>
              <a:rPr lang="en-US" sz="1400" b="1" dirty="0">
                <a:solidFill>
                  <a:srgbClr val="FF0000"/>
                </a:solidFill>
                <a:latin typeface="Arial" panose="020B0604020202020204" pitchFamily="34" charset="0"/>
                <a:cs typeface="Arial" panose="020B0604020202020204" pitchFamily="34" charset="0"/>
              </a:rPr>
              <a:t>Conduct gate guard/staff </a:t>
            </a:r>
            <a:r>
              <a:rPr lang="en-US" sz="1050" b="1" dirty="0">
                <a:solidFill>
                  <a:srgbClr val="FF0000"/>
                </a:solidFill>
                <a:latin typeface="Arial" panose="020B0604020202020204" pitchFamily="34" charset="0"/>
                <a:cs typeface="Arial" panose="020B0604020202020204" pitchFamily="34" charset="0"/>
              </a:rPr>
              <a:t>duty (extended period of time due to mission. NCO should not be punished if requirement had to be filled)</a:t>
            </a:r>
            <a:endParaRPr lang="en-US" sz="1400" b="1" dirty="0">
              <a:solidFill>
                <a:srgbClr val="FF0000"/>
              </a:solidFill>
              <a:latin typeface="Arial" panose="020B0604020202020204" pitchFamily="34" charset="0"/>
              <a:cs typeface="Arial" panose="020B0604020202020204" pitchFamily="34" charset="0"/>
            </a:endParaRP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Completed master fitness training</a:t>
            </a: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Company Sharp Advisor </a:t>
            </a: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Company Equal Opportunity Advisor </a:t>
            </a: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UA coordinator </a:t>
            </a: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Sent soldier to promotion or completive boards</a:t>
            </a: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Supervised/managed  ___ soldiers </a:t>
            </a: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Monitored message traffic </a:t>
            </a: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Gain eligibility to be an ACFT grader </a:t>
            </a: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Conducted a NCOPD sessions, topic _____________</a:t>
            </a: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Completed collegiate goal, number of credit hours:________</a:t>
            </a: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Earned a certification:______________________</a:t>
            </a: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Gained promotable status </a:t>
            </a: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Promoted </a:t>
            </a: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Assisted Soldiers/NCOs obtain promotable status: #_________ </a:t>
            </a: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Won or placed 2 or 3</a:t>
            </a:r>
            <a:r>
              <a:rPr lang="en-US" sz="1400" baseline="30000" dirty="0">
                <a:latin typeface="Arial" panose="020B0604020202020204" pitchFamily="34" charset="0"/>
                <a:cs typeface="Arial" panose="020B0604020202020204" pitchFamily="34" charset="0"/>
              </a:rPr>
              <a:t>rd</a:t>
            </a:r>
            <a:r>
              <a:rPr lang="en-US" sz="1400" dirty="0">
                <a:latin typeface="Arial" panose="020B0604020202020204" pitchFamily="34" charset="0"/>
                <a:cs typeface="Arial" panose="020B0604020202020204" pitchFamily="34" charset="0"/>
              </a:rPr>
              <a:t> at NCO of month/quarter/year</a:t>
            </a:r>
          </a:p>
          <a:p>
            <a:pPr marL="288925" lvl="1" indent="-169863">
              <a:buFont typeface="Arial" panose="020B0604020202020204" pitchFamily="34" charset="0"/>
              <a:buChar char="•"/>
            </a:pPr>
            <a:r>
              <a:rPr lang="en-US" sz="1400" dirty="0">
                <a:latin typeface="Arial" panose="020B0604020202020204" pitchFamily="34" charset="0"/>
                <a:cs typeface="Arial" panose="020B0604020202020204" pitchFamily="34" charset="0"/>
              </a:rPr>
              <a:t>Gave an important brief or class to a VIP or large audience (CSM, CG, company, battalion, brigade, etc.)</a:t>
            </a:r>
            <a:endParaRPr lang="en-US" sz="2400" dirty="0">
              <a:latin typeface="Arial" panose="020B0604020202020204" pitchFamily="34" charset="0"/>
              <a:cs typeface="Arial" panose="020B0604020202020204" pitchFamily="34" charset="0"/>
            </a:endParaRPr>
          </a:p>
        </p:txBody>
      </p:sp>
      <p:sp>
        <p:nvSpPr>
          <p:cNvPr id="8" name="TextBox 7"/>
          <p:cNvSpPr txBox="1"/>
          <p:nvPr/>
        </p:nvSpPr>
        <p:spPr>
          <a:xfrm>
            <a:off x="5781792" y="6297246"/>
            <a:ext cx="6346869" cy="461665"/>
          </a:xfrm>
          <a:prstGeom prst="rect">
            <a:avLst/>
          </a:prstGeom>
          <a:noFill/>
        </p:spPr>
        <p:txBody>
          <a:bodyPr wrap="square" rtlCol="0">
            <a:spAutoFit/>
          </a:bodyPr>
          <a:lstStyle/>
          <a:p>
            <a:pPr algn="ctr"/>
            <a:r>
              <a:rPr lang="en-US" sz="1200" b="1" dirty="0"/>
              <a:t>These lists are only examples of typical tasks performed by NCOs at any level. These lists are not  comprehensive. These are only guides to get you thinking or brainstorming.</a:t>
            </a:r>
          </a:p>
        </p:txBody>
      </p:sp>
      <p:sp>
        <p:nvSpPr>
          <p:cNvPr id="14" name="TextBox 13"/>
          <p:cNvSpPr txBox="1"/>
          <p:nvPr/>
        </p:nvSpPr>
        <p:spPr>
          <a:xfrm>
            <a:off x="5778087" y="1368918"/>
            <a:ext cx="6360513" cy="2369880"/>
          </a:xfrm>
          <a:prstGeom prst="rect">
            <a:avLst/>
          </a:prstGeom>
          <a:solidFill>
            <a:schemeClr val="accent6">
              <a:lumMod val="40000"/>
              <a:lumOff val="60000"/>
            </a:schemeClr>
          </a:solidFill>
          <a:scene3d>
            <a:camera prst="orthographicFront"/>
            <a:lightRig rig="threePt" dir="t"/>
          </a:scene3d>
          <a:sp3d>
            <a:bevelT w="165100" prst="coolSlant"/>
          </a:sp3d>
        </p:spPr>
        <p:txBody>
          <a:bodyPr wrap="square" rtlCol="0">
            <a:spAutoFit/>
          </a:bodyPr>
          <a:lstStyle/>
          <a:p>
            <a:pPr algn="ctr"/>
            <a:r>
              <a:rPr lang="en-US" b="1" dirty="0">
                <a:latin typeface="Arial" panose="020B0604020202020204" pitchFamily="34" charset="0"/>
                <a:cs typeface="Arial" panose="020B0604020202020204" pitchFamily="34" charset="0"/>
              </a:rPr>
              <a:t>List major events &amp; desired or realized outcome / results / impact</a:t>
            </a:r>
          </a:p>
          <a:p>
            <a:r>
              <a:rPr lang="en-US" sz="1400" b="1" u="sng" dirty="0">
                <a:latin typeface="Arial" panose="020B0604020202020204" pitchFamily="34" charset="0"/>
                <a:cs typeface="Arial" panose="020B0604020202020204" pitchFamily="34" charset="0"/>
              </a:rPr>
              <a:t>Examples</a:t>
            </a:r>
            <a:r>
              <a:rPr lang="en-US" sz="1400" dirty="0">
                <a:latin typeface="Arial" panose="020B0604020202020204" pitchFamily="34" charset="0"/>
                <a:cs typeface="Arial" panose="020B0604020202020204" pitchFamily="34" charset="0"/>
              </a:rPr>
              <a:t>:</a:t>
            </a:r>
          </a:p>
          <a:p>
            <a:pPr marL="119063" indent="-119063">
              <a:buFont typeface="Arial" panose="020B0604020202020204" pitchFamily="34" charset="0"/>
              <a:buChar char="•"/>
            </a:pPr>
            <a:r>
              <a:rPr lang="en-US" sz="1400" dirty="0">
                <a:latin typeface="Arial" panose="020B0604020202020204" pitchFamily="34" charset="0"/>
                <a:cs typeface="Arial" panose="020B0604020202020204" pitchFamily="34" charset="0"/>
              </a:rPr>
              <a:t>Field training exercise – to evaluate readiness for upcoming deployment</a:t>
            </a:r>
          </a:p>
          <a:p>
            <a:pPr marL="119063" indent="-119063">
              <a:buFont typeface="Arial" panose="020B0604020202020204" pitchFamily="34" charset="0"/>
              <a:buChar char="•"/>
            </a:pPr>
            <a:r>
              <a:rPr lang="en-US" sz="1400" dirty="0">
                <a:latin typeface="Arial" panose="020B0604020202020204" pitchFamily="34" charset="0"/>
                <a:cs typeface="Arial" panose="020B0604020202020204" pitchFamily="34" charset="0"/>
              </a:rPr>
              <a:t>Operational Inspection Program - determine level of unit compliance to standards and regulations</a:t>
            </a:r>
          </a:p>
          <a:p>
            <a:pPr marL="119063" indent="-119063">
              <a:buFont typeface="Arial" panose="020B0604020202020204" pitchFamily="34" charset="0"/>
              <a:buChar char="•"/>
            </a:pPr>
            <a:r>
              <a:rPr lang="en-US" sz="1400" dirty="0">
                <a:latin typeface="Arial" panose="020B0604020202020204" pitchFamily="34" charset="0"/>
                <a:cs typeface="Arial" panose="020B0604020202020204" pitchFamily="34" charset="0"/>
              </a:rPr>
              <a:t>Planned/organized EO event – increase situational awareness on a particular issue</a:t>
            </a:r>
          </a:p>
          <a:p>
            <a:pPr marL="119063" indent="-119063">
              <a:buFont typeface="Arial" panose="020B0604020202020204" pitchFamily="34" charset="0"/>
              <a:buChar char="•"/>
            </a:pPr>
            <a:r>
              <a:rPr lang="en-US" sz="1400" dirty="0">
                <a:latin typeface="Arial" panose="020B0604020202020204" pitchFamily="34" charset="0"/>
                <a:cs typeface="Arial" panose="020B0604020202020204" pitchFamily="34" charset="0"/>
              </a:rPr>
              <a:t>Ceremonies - change of command, change of responsibility, etc.</a:t>
            </a:r>
          </a:p>
          <a:p>
            <a:pPr marL="119063" indent="-119063">
              <a:buFont typeface="Arial" panose="020B0604020202020204" pitchFamily="34" charset="0"/>
              <a:buChar char="•"/>
            </a:pPr>
            <a:r>
              <a:rPr lang="en-US" sz="1400" dirty="0">
                <a:latin typeface="Arial" panose="020B0604020202020204" pitchFamily="34" charset="0"/>
                <a:cs typeface="Arial" panose="020B0604020202020204" pitchFamily="34" charset="0"/>
              </a:rPr>
              <a:t>Planned NCO induction, NCO Week, etc.</a:t>
            </a:r>
          </a:p>
        </p:txBody>
      </p:sp>
      <p:sp>
        <p:nvSpPr>
          <p:cNvPr id="15" name="TextBox 14"/>
          <p:cNvSpPr txBox="1"/>
          <p:nvPr/>
        </p:nvSpPr>
        <p:spPr>
          <a:xfrm>
            <a:off x="5778086" y="4003309"/>
            <a:ext cx="6360513" cy="1938992"/>
          </a:xfrm>
          <a:prstGeom prst="rect">
            <a:avLst/>
          </a:prstGeom>
          <a:solidFill>
            <a:schemeClr val="accent5">
              <a:lumMod val="60000"/>
              <a:lumOff val="40000"/>
            </a:schemeClr>
          </a:solidFill>
          <a:scene3d>
            <a:camera prst="orthographicFront"/>
            <a:lightRig rig="threePt" dir="t"/>
          </a:scene3d>
          <a:sp3d>
            <a:bevelT/>
          </a:sp3d>
        </p:spPr>
        <p:txBody>
          <a:bodyPr wrap="square" rtlCol="0">
            <a:spAutoFit/>
          </a:bodyPr>
          <a:lstStyle/>
          <a:p>
            <a:pPr algn="ctr"/>
            <a:r>
              <a:rPr lang="en-US" b="1" dirty="0">
                <a:latin typeface="Arial" panose="020B0604020202020204" pitchFamily="34" charset="0"/>
                <a:cs typeface="Arial" panose="020B0604020202020204" pitchFamily="34" charset="0"/>
              </a:rPr>
              <a:t>List major accomplishments or actions with major impact to mission or organization </a:t>
            </a:r>
          </a:p>
          <a:p>
            <a:r>
              <a:rPr lang="en-US" sz="1400" b="1" u="sng" dirty="0">
                <a:latin typeface="Arial" panose="020B0604020202020204" pitchFamily="34" charset="0"/>
                <a:cs typeface="Arial" panose="020B0604020202020204" pitchFamily="34" charset="0"/>
              </a:rPr>
              <a:t>Examples</a:t>
            </a:r>
            <a:r>
              <a:rPr lang="en-US" sz="1400"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Earned a spot on the Brigade’s Army 10 miler team </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Decreased in-processing time by streamlining the process  </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Decreased unit late evaluations/award submissions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Prevented a major issue from occurring by identifying and reporting ……</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Created a Battalion or above level training to address a specific problem </a:t>
            </a:r>
          </a:p>
        </p:txBody>
      </p:sp>
    </p:spTree>
    <p:extLst>
      <p:ext uri="{BB962C8B-B14F-4D97-AF65-F5344CB8AC3E}">
        <p14:creationId xmlns:p14="http://schemas.microsoft.com/office/powerpoint/2010/main" val="1503917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9722"/>
            <a:ext cx="12191999" cy="1138773"/>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Preparing the Evaluation</a:t>
            </a:r>
          </a:p>
          <a:p>
            <a:pPr algn="ctr"/>
            <a:r>
              <a:rPr lang="en-US" sz="3200" dirty="0">
                <a:latin typeface="Arial" panose="020B0604020202020204" pitchFamily="34" charset="0"/>
                <a:cs typeface="Arial" panose="020B0604020202020204" pitchFamily="34" charset="0"/>
              </a:rPr>
              <a:t>Understanding </a:t>
            </a:r>
            <a:r>
              <a:rPr lang="en-US" sz="3200" b="1" u="sng" dirty="0">
                <a:latin typeface="Arial" panose="020B0604020202020204" pitchFamily="34" charset="0"/>
                <a:cs typeface="Arial" panose="020B0604020202020204" pitchFamily="34" charset="0"/>
              </a:rPr>
              <a:t>AIR</a:t>
            </a:r>
            <a:r>
              <a:rPr lang="en-US" sz="3200" dirty="0">
                <a:latin typeface="Arial" panose="020B0604020202020204" pitchFamily="34" charset="0"/>
                <a:cs typeface="Arial" panose="020B0604020202020204" pitchFamily="34" charset="0"/>
              </a:rPr>
              <a:t> Framework</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8" name="TextBox 7"/>
          <p:cNvSpPr txBox="1"/>
          <p:nvPr/>
        </p:nvSpPr>
        <p:spPr>
          <a:xfrm>
            <a:off x="163773" y="1357712"/>
            <a:ext cx="6878472" cy="646331"/>
          </a:xfrm>
          <a:prstGeom prst="rect">
            <a:avLst/>
          </a:prstGeom>
          <a:noFill/>
        </p:spPr>
        <p:txBody>
          <a:bodyPr wrap="square" rtlCol="0">
            <a:spAutoFit/>
          </a:bodyPr>
          <a:lstStyle/>
          <a:p>
            <a:r>
              <a:rPr lang="en-US" sz="3600" b="1" u="sng" dirty="0">
                <a:effectLst>
                  <a:outerShdw blurRad="38100" dist="38100" dir="2700000" algn="tl">
                    <a:srgbClr val="000000">
                      <a:alpha val="43137"/>
                    </a:srgbClr>
                  </a:outerShdw>
                </a:effectLst>
              </a:rPr>
              <a:t>A</a:t>
            </a:r>
            <a:r>
              <a:rPr lang="en-US" sz="3600" b="1" dirty="0">
                <a:effectLst>
                  <a:outerShdw blurRad="38100" dist="38100" dir="2700000" algn="tl">
                    <a:srgbClr val="000000">
                      <a:alpha val="43137"/>
                    </a:srgbClr>
                  </a:outerShdw>
                </a:effectLst>
              </a:rPr>
              <a:t>CTION </a:t>
            </a:r>
            <a:r>
              <a:rPr lang="en-US" sz="3600" b="1" u="sng" dirty="0">
                <a:effectLst>
                  <a:outerShdw blurRad="38100" dist="38100" dir="2700000" algn="tl">
                    <a:srgbClr val="000000">
                      <a:alpha val="43137"/>
                    </a:srgbClr>
                  </a:outerShdw>
                </a:effectLst>
              </a:rPr>
              <a:t>I</a:t>
            </a:r>
            <a:r>
              <a:rPr lang="en-US" sz="3600" b="1" dirty="0">
                <a:effectLst>
                  <a:outerShdw blurRad="38100" dist="38100" dir="2700000" algn="tl">
                    <a:srgbClr val="000000">
                      <a:alpha val="43137"/>
                    </a:srgbClr>
                  </a:outerShdw>
                </a:effectLst>
              </a:rPr>
              <a:t>MPACT </a:t>
            </a:r>
            <a:r>
              <a:rPr lang="en-US" sz="3600" b="1" u="sng" dirty="0">
                <a:effectLst>
                  <a:outerShdw blurRad="38100" dist="38100" dir="2700000" algn="tl">
                    <a:srgbClr val="000000">
                      <a:alpha val="43137"/>
                    </a:srgbClr>
                  </a:outerShdw>
                </a:effectLst>
              </a:rPr>
              <a:t>R</a:t>
            </a:r>
            <a:r>
              <a:rPr lang="en-US" sz="3600" b="1" dirty="0">
                <a:effectLst>
                  <a:outerShdw blurRad="38100" dist="38100" dir="2700000" algn="tl">
                    <a:srgbClr val="000000">
                      <a:alpha val="43137"/>
                    </a:srgbClr>
                  </a:outerShdw>
                </a:effectLst>
              </a:rPr>
              <a:t>ESULTS</a:t>
            </a:r>
          </a:p>
        </p:txBody>
      </p:sp>
      <p:sp>
        <p:nvSpPr>
          <p:cNvPr id="9" name="TextBox 8"/>
          <p:cNvSpPr txBox="1"/>
          <p:nvPr/>
        </p:nvSpPr>
        <p:spPr>
          <a:xfrm>
            <a:off x="163773" y="1943571"/>
            <a:ext cx="5513695" cy="1754326"/>
          </a:xfrm>
          <a:prstGeom prst="rect">
            <a:avLst/>
          </a:prstGeom>
          <a:noFill/>
        </p:spPr>
        <p:txBody>
          <a:bodyPr wrap="square" rtlCol="0">
            <a:spAutoFit/>
          </a:bodyPr>
          <a:lstStyle/>
          <a:p>
            <a:r>
              <a:rPr lang="en-US" b="1" dirty="0"/>
              <a:t>What is the action?</a:t>
            </a:r>
          </a:p>
          <a:p>
            <a:pPr marL="228600" lvl="1" indent="-109538">
              <a:buFont typeface="Arial" panose="020B0604020202020204" pitchFamily="34" charset="0"/>
              <a:buChar char="•"/>
            </a:pPr>
            <a:r>
              <a:rPr lang="en-US" dirty="0"/>
              <a:t>What did the NCO do/accomplished?</a:t>
            </a:r>
          </a:p>
          <a:p>
            <a:pPr marL="228600" lvl="1" indent="-109538">
              <a:buFont typeface="Arial" panose="020B0604020202020204" pitchFamily="34" charset="0"/>
              <a:buChar char="•"/>
            </a:pPr>
            <a:r>
              <a:rPr lang="en-US" dirty="0"/>
              <a:t>When was this accomplished?</a:t>
            </a:r>
          </a:p>
          <a:p>
            <a:pPr marL="228600" lvl="1" indent="-109538">
              <a:buFont typeface="Arial" panose="020B0604020202020204" pitchFamily="34" charset="0"/>
              <a:buChar char="•"/>
            </a:pPr>
            <a:r>
              <a:rPr lang="en-US" dirty="0"/>
              <a:t>How often was it done?</a:t>
            </a:r>
          </a:p>
          <a:p>
            <a:pPr marL="228600" lvl="1" indent="-109538">
              <a:buFont typeface="Arial" panose="020B0604020202020204" pitchFamily="34" charset="0"/>
              <a:buChar char="•"/>
            </a:pPr>
            <a:r>
              <a:rPr lang="en-US" dirty="0"/>
              <a:t>What were the conditions?</a:t>
            </a:r>
          </a:p>
          <a:p>
            <a:pPr marL="228600" lvl="1" indent="-109538">
              <a:buFont typeface="Arial" panose="020B0604020202020204" pitchFamily="34" charset="0"/>
              <a:buChar char="•"/>
            </a:pPr>
            <a:r>
              <a:rPr lang="en-US" dirty="0"/>
              <a:t>How did the NCO accomplish this task? </a:t>
            </a:r>
          </a:p>
        </p:txBody>
      </p:sp>
      <p:sp>
        <p:nvSpPr>
          <p:cNvPr id="10" name="TextBox 9"/>
          <p:cNvSpPr txBox="1"/>
          <p:nvPr/>
        </p:nvSpPr>
        <p:spPr>
          <a:xfrm>
            <a:off x="163773" y="3679504"/>
            <a:ext cx="6550925" cy="1908215"/>
          </a:xfrm>
          <a:prstGeom prst="rect">
            <a:avLst/>
          </a:prstGeom>
          <a:noFill/>
        </p:spPr>
        <p:txBody>
          <a:bodyPr wrap="square" rtlCol="0">
            <a:spAutoFit/>
          </a:bodyPr>
          <a:lstStyle/>
          <a:p>
            <a:r>
              <a:rPr lang="en-US" b="1" dirty="0"/>
              <a:t>How did it impact the team, section, unit, organization or mission?</a:t>
            </a:r>
          </a:p>
          <a:p>
            <a:pPr marL="228600" lvl="1" indent="-109538">
              <a:buFont typeface="Arial" panose="020B0604020202020204" pitchFamily="34" charset="0"/>
              <a:buChar char="•"/>
            </a:pPr>
            <a:r>
              <a:rPr lang="en-US" dirty="0"/>
              <a:t>Did NCO’s action help an organization?</a:t>
            </a:r>
          </a:p>
          <a:p>
            <a:pPr marL="228600" lvl="1" indent="-109538">
              <a:buFont typeface="Arial" panose="020B0604020202020204" pitchFamily="34" charset="0"/>
              <a:buChar char="•"/>
            </a:pPr>
            <a:r>
              <a:rPr lang="en-US" dirty="0"/>
              <a:t>Did NCO’s action improved processes?</a:t>
            </a:r>
          </a:p>
          <a:p>
            <a:pPr marL="228600" lvl="1" indent="-109538">
              <a:buFont typeface="Arial" panose="020B0604020202020204" pitchFamily="34" charset="0"/>
              <a:buChar char="•"/>
            </a:pPr>
            <a:r>
              <a:rPr lang="en-US" dirty="0"/>
              <a:t>Did  NCO’s action solved/identify a problem?</a:t>
            </a:r>
          </a:p>
          <a:p>
            <a:pPr marL="228600" lvl="1" indent="-109538">
              <a:buFont typeface="Arial" panose="020B0604020202020204" pitchFamily="34" charset="0"/>
              <a:buChar char="•"/>
            </a:pPr>
            <a:r>
              <a:rPr lang="en-US" dirty="0"/>
              <a:t>Did NCO’s action lead to something else?</a:t>
            </a:r>
          </a:p>
          <a:p>
            <a:pPr marL="228600" lvl="1" indent="-228600"/>
            <a:r>
              <a:rPr lang="en-US" sz="1200" b="1" dirty="0">
                <a:solidFill>
                  <a:srgbClr val="7030A0"/>
                </a:solidFill>
              </a:rPr>
              <a:t>Seasoned E6 or E6s in leadership positions, evals should focus on impact on others instead of personal accomplishment</a:t>
            </a:r>
          </a:p>
        </p:txBody>
      </p:sp>
      <p:sp>
        <p:nvSpPr>
          <p:cNvPr id="11" name="TextBox 10"/>
          <p:cNvSpPr txBox="1"/>
          <p:nvPr/>
        </p:nvSpPr>
        <p:spPr>
          <a:xfrm>
            <a:off x="163773" y="5587719"/>
            <a:ext cx="6291618" cy="1200329"/>
          </a:xfrm>
          <a:prstGeom prst="rect">
            <a:avLst/>
          </a:prstGeom>
          <a:noFill/>
        </p:spPr>
        <p:txBody>
          <a:bodyPr wrap="square" rtlCol="0">
            <a:spAutoFit/>
          </a:bodyPr>
          <a:lstStyle/>
          <a:p>
            <a:r>
              <a:rPr lang="en-US" b="1" dirty="0"/>
              <a:t>What was the results of the NCO’s action?</a:t>
            </a:r>
          </a:p>
          <a:p>
            <a:pPr marL="288925" lvl="1" indent="-169863">
              <a:buFont typeface="Arial" panose="020B0604020202020204" pitchFamily="34" charset="0"/>
              <a:buChar char="•"/>
            </a:pPr>
            <a:r>
              <a:rPr lang="en-US" dirty="0"/>
              <a:t>Who/what was impacted and how?</a:t>
            </a:r>
          </a:p>
          <a:p>
            <a:pPr marL="288925" lvl="1" indent="-169863">
              <a:buFont typeface="Arial" panose="020B0604020202020204" pitchFamily="34" charset="0"/>
              <a:buChar char="•"/>
            </a:pPr>
            <a:r>
              <a:rPr lang="en-US" dirty="0"/>
              <a:t>How many people/ how wide was the impact/where?</a:t>
            </a:r>
          </a:p>
          <a:p>
            <a:pPr marL="119062" lvl="1"/>
            <a:r>
              <a:rPr lang="en-US" b="1" dirty="0"/>
              <a:t>Provide the so what? The why behind highlighting the action?</a:t>
            </a:r>
          </a:p>
        </p:txBody>
      </p:sp>
      <p:sp>
        <p:nvSpPr>
          <p:cNvPr id="12" name="TextBox 11"/>
          <p:cNvSpPr txBox="1"/>
          <p:nvPr/>
        </p:nvSpPr>
        <p:spPr>
          <a:xfrm>
            <a:off x="6714699" y="3812863"/>
            <a:ext cx="5336930" cy="2831544"/>
          </a:xfrm>
          <a:prstGeom prst="rect">
            <a:avLst/>
          </a:prstGeom>
          <a:solidFill>
            <a:srgbClr val="7030A0"/>
          </a:solidFill>
          <a:scene3d>
            <a:camera prst="orthographicFront"/>
            <a:lightRig rig="threePt" dir="t"/>
          </a:scene3d>
          <a:sp3d>
            <a:bevelT w="165100" prst="coolSlant"/>
          </a:sp3d>
        </p:spPr>
        <p:txBody>
          <a:bodyPr wrap="square" rtlCol="0">
            <a:spAutoFit/>
          </a:bodyPr>
          <a:lstStyle/>
          <a:p>
            <a:pPr algn="ctr"/>
            <a:r>
              <a:rPr lang="en-US" b="1" u="sng" dirty="0">
                <a:solidFill>
                  <a:schemeClr val="bg1"/>
                </a:solidFill>
              </a:rPr>
              <a:t>TIPS</a:t>
            </a:r>
            <a:r>
              <a:rPr lang="en-US" b="1" dirty="0">
                <a:solidFill>
                  <a:schemeClr val="bg1"/>
                </a:solidFill>
              </a:rPr>
              <a:t> </a:t>
            </a:r>
          </a:p>
          <a:p>
            <a:pPr marL="168275" indent="-168275">
              <a:buAutoNum type="arabicPeriod"/>
            </a:pPr>
            <a:r>
              <a:rPr lang="en-US" sz="1600" dirty="0">
                <a:solidFill>
                  <a:schemeClr val="bg1"/>
                </a:solidFill>
              </a:rPr>
              <a:t> When identifying the three elements (listed on the left) start out by just writing.</a:t>
            </a:r>
          </a:p>
          <a:p>
            <a:pPr marL="168275" indent="-168275">
              <a:buAutoNum type="arabicPeriod"/>
            </a:pPr>
            <a:r>
              <a:rPr lang="en-US" sz="1600" dirty="0">
                <a:solidFill>
                  <a:schemeClr val="bg1"/>
                </a:solidFill>
              </a:rPr>
              <a:t> Do not worry about length, format, or wording</a:t>
            </a:r>
          </a:p>
          <a:p>
            <a:pPr marL="168275" indent="-168275">
              <a:buAutoNum type="arabicPeriod"/>
            </a:pPr>
            <a:r>
              <a:rPr lang="en-US" sz="1600" dirty="0">
                <a:solidFill>
                  <a:schemeClr val="bg1"/>
                </a:solidFill>
              </a:rPr>
              <a:t> Take your time and write out what your Soldier did</a:t>
            </a:r>
          </a:p>
          <a:p>
            <a:pPr marL="168275" indent="-168275">
              <a:buAutoNum type="arabicPeriod"/>
            </a:pPr>
            <a:r>
              <a:rPr lang="en-US" sz="1600" dirty="0">
                <a:solidFill>
                  <a:schemeClr val="bg1"/>
                </a:solidFill>
              </a:rPr>
              <a:t> Do not worry about spelling or if you have a complete sentence; bullet development will come later</a:t>
            </a:r>
          </a:p>
          <a:p>
            <a:pPr marL="168275" indent="-168275">
              <a:buAutoNum type="arabicPeriod"/>
            </a:pPr>
            <a:r>
              <a:rPr lang="en-US" sz="1600" dirty="0">
                <a:solidFill>
                  <a:schemeClr val="bg1"/>
                </a:solidFill>
              </a:rPr>
              <a:t> The goal here </a:t>
            </a:r>
            <a:r>
              <a:rPr lang="en-US" sz="1600" dirty="0">
                <a:solidFill>
                  <a:schemeClr val="bg1"/>
                </a:solidFill>
                <a:sym typeface="Wingdings" panose="05000000000000000000" pitchFamily="2" charset="2"/>
              </a:rPr>
              <a:t> capture accomplishments of your Soldier</a:t>
            </a:r>
            <a:endParaRPr lang="en-US" sz="1600" dirty="0">
              <a:solidFill>
                <a:schemeClr val="bg1"/>
              </a:solidFill>
            </a:endParaRPr>
          </a:p>
          <a:p>
            <a:pPr marL="168275" indent="-168275">
              <a:buAutoNum type="arabicPeriod"/>
            </a:pPr>
            <a:r>
              <a:rPr lang="en-US" sz="1600" dirty="0">
                <a:solidFill>
                  <a:schemeClr val="bg1"/>
                </a:solidFill>
              </a:rPr>
              <a:t> Start everything within a word document first to brainstorm</a:t>
            </a:r>
          </a:p>
          <a:p>
            <a:pPr marL="168275" indent="-168275">
              <a:buAutoNum type="arabicPeriod"/>
            </a:pPr>
            <a:r>
              <a:rPr lang="en-US" sz="1600" dirty="0">
                <a:solidFill>
                  <a:schemeClr val="bg1"/>
                </a:solidFill>
              </a:rPr>
              <a:t> Have a discussion with your Soldier, make sure you capture everything they’ve done </a:t>
            </a:r>
          </a:p>
        </p:txBody>
      </p:sp>
      <p:sp>
        <p:nvSpPr>
          <p:cNvPr id="13" name="TextBox 12"/>
          <p:cNvSpPr txBox="1"/>
          <p:nvPr/>
        </p:nvSpPr>
        <p:spPr>
          <a:xfrm>
            <a:off x="6417332" y="1516393"/>
            <a:ext cx="5610895" cy="2246769"/>
          </a:xfrm>
          <a:prstGeom prst="rect">
            <a:avLst/>
          </a:prstGeom>
          <a:noFill/>
        </p:spPr>
        <p:txBody>
          <a:bodyPr wrap="square" rtlCol="0">
            <a:spAutoFit/>
          </a:bodyPr>
          <a:lstStyle/>
          <a:p>
            <a:r>
              <a:rPr lang="en-US" sz="2000" b="1" dirty="0"/>
              <a:t>Other considerations: action verb identification </a:t>
            </a:r>
          </a:p>
          <a:p>
            <a:pPr marL="347663" lvl="1" indent="-179388">
              <a:buFont typeface="Arial" panose="020B0604020202020204" pitchFamily="34" charset="0"/>
              <a:buChar char="•"/>
            </a:pPr>
            <a:r>
              <a:rPr lang="en-US" sz="1600" dirty="0"/>
              <a:t>How well was the task performed? </a:t>
            </a:r>
            <a:r>
              <a:rPr lang="en-US" sz="1200" dirty="0"/>
              <a:t>Exceptionally, superbly, professionally</a:t>
            </a:r>
          </a:p>
          <a:p>
            <a:pPr marL="347663" lvl="1" indent="-179388">
              <a:buFont typeface="Arial" panose="020B0604020202020204" pitchFamily="34" charset="0"/>
              <a:buChar char="•"/>
            </a:pPr>
            <a:r>
              <a:rPr lang="en-US" sz="1600" dirty="0"/>
              <a:t>How was task assigned? S</a:t>
            </a:r>
            <a:r>
              <a:rPr lang="en-US" sz="1200" dirty="0"/>
              <a:t>election, volunteered, assigned, implied</a:t>
            </a:r>
          </a:p>
          <a:p>
            <a:endParaRPr lang="en-US" sz="1600" dirty="0">
              <a:solidFill>
                <a:srgbClr val="FF0000"/>
              </a:solidFill>
            </a:endParaRPr>
          </a:p>
          <a:p>
            <a:r>
              <a:rPr lang="en-US" sz="1600" dirty="0">
                <a:solidFill>
                  <a:srgbClr val="FF0000"/>
                </a:solidFill>
              </a:rPr>
              <a:t>For needs improvement bullets AIR framework still applies: </a:t>
            </a:r>
            <a:r>
              <a:rPr lang="en-US" sz="1400" b="1" dirty="0"/>
              <a:t>Example bullet</a:t>
            </a:r>
            <a:r>
              <a:rPr lang="en-US" sz="1400" dirty="0">
                <a:solidFill>
                  <a:schemeClr val="accent2">
                    <a:lumMod val="75000"/>
                  </a:schemeClr>
                </a:solidFill>
              </a:rPr>
              <a:t>: Action </a:t>
            </a:r>
            <a:r>
              <a:rPr lang="en-US" sz="1400" dirty="0">
                <a:solidFill>
                  <a:schemeClr val="accent5">
                    <a:lumMod val="75000"/>
                  </a:schemeClr>
                </a:solidFill>
              </a:rPr>
              <a:t>Impact </a:t>
            </a:r>
            <a:r>
              <a:rPr lang="en-US" sz="1400" dirty="0">
                <a:solidFill>
                  <a:schemeClr val="accent6">
                    <a:lumMod val="75000"/>
                  </a:schemeClr>
                </a:solidFill>
              </a:rPr>
              <a:t>Results </a:t>
            </a:r>
          </a:p>
          <a:p>
            <a:pPr marL="60325" lvl="1"/>
            <a:r>
              <a:rPr lang="en-US" sz="1400" dirty="0">
                <a:solidFill>
                  <a:schemeClr val="accent2">
                    <a:lumMod val="75000"/>
                  </a:schemeClr>
                </a:solidFill>
              </a:rPr>
              <a:t>o demanded unreasonable performance; failed to counsel and mentor junior Soldiers </a:t>
            </a:r>
            <a:r>
              <a:rPr lang="en-US" sz="1400" dirty="0">
                <a:solidFill>
                  <a:schemeClr val="accent1">
                    <a:lumMod val="75000"/>
                  </a:schemeClr>
                </a:solidFill>
              </a:rPr>
              <a:t>creating hostility and </a:t>
            </a:r>
            <a:r>
              <a:rPr lang="en-US" sz="1400" dirty="0">
                <a:solidFill>
                  <a:schemeClr val="accent6">
                    <a:lumMod val="75000"/>
                  </a:schemeClr>
                </a:solidFill>
              </a:rPr>
              <a:t>impeded progress</a:t>
            </a:r>
          </a:p>
        </p:txBody>
      </p:sp>
    </p:spTree>
    <p:extLst>
      <p:ext uri="{BB962C8B-B14F-4D97-AF65-F5344CB8AC3E}">
        <p14:creationId xmlns:p14="http://schemas.microsoft.com/office/powerpoint/2010/main" val="361205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9722"/>
            <a:ext cx="12191999" cy="1138773"/>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Preparing the Evaluation</a:t>
            </a:r>
          </a:p>
          <a:p>
            <a:pPr algn="ctr"/>
            <a:r>
              <a:rPr lang="en-US" sz="3200" dirty="0">
                <a:latin typeface="Arial" panose="020B0604020202020204" pitchFamily="34" charset="0"/>
                <a:cs typeface="Arial" panose="020B0604020202020204" pitchFamily="34" charset="0"/>
              </a:rPr>
              <a:t>NCOERs Formula </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7" name="TextBox 6"/>
          <p:cNvSpPr txBox="1"/>
          <p:nvPr/>
        </p:nvSpPr>
        <p:spPr>
          <a:xfrm>
            <a:off x="34368" y="2166756"/>
            <a:ext cx="3511696" cy="400110"/>
          </a:xfrm>
          <a:prstGeom prst="rect">
            <a:avLst/>
          </a:prstGeom>
          <a:noFill/>
        </p:spPr>
        <p:txBody>
          <a:bodyPr wrap="square" rtlCol="0">
            <a:spAutoFit/>
          </a:bodyPr>
          <a:lstStyle/>
          <a:p>
            <a:r>
              <a:rPr lang="en-US" sz="2000" b="1" dirty="0">
                <a:effectLst>
                  <a:outerShdw blurRad="38100" dist="38100" dir="2700000" algn="tl">
                    <a:srgbClr val="000000">
                      <a:alpha val="43137"/>
                    </a:srgbClr>
                  </a:outerShdw>
                </a:effectLst>
              </a:rPr>
              <a:t>ACTION IMPACT RESULTS</a:t>
            </a:r>
          </a:p>
        </p:txBody>
      </p:sp>
      <p:sp>
        <p:nvSpPr>
          <p:cNvPr id="8" name="TextBox 7"/>
          <p:cNvSpPr txBox="1"/>
          <p:nvPr/>
        </p:nvSpPr>
        <p:spPr>
          <a:xfrm>
            <a:off x="88481" y="1492077"/>
            <a:ext cx="1182150" cy="523220"/>
          </a:xfrm>
          <a:prstGeom prst="rect">
            <a:avLst/>
          </a:prstGeom>
          <a:noFill/>
        </p:spPr>
        <p:txBody>
          <a:bodyPr wrap="square" rtlCol="0">
            <a:spAutoFit/>
          </a:bodyPr>
          <a:lstStyle/>
          <a:p>
            <a:r>
              <a:rPr lang="en-US" sz="2800" b="1" dirty="0"/>
              <a:t>Start </a:t>
            </a:r>
          </a:p>
        </p:txBody>
      </p:sp>
      <p:sp>
        <p:nvSpPr>
          <p:cNvPr id="9" name="Rectangle 8"/>
          <p:cNvSpPr/>
          <p:nvPr/>
        </p:nvSpPr>
        <p:spPr>
          <a:xfrm>
            <a:off x="1418526" y="1653862"/>
            <a:ext cx="7805447" cy="237582"/>
          </a:xfrm>
          <a:prstGeom prst="rect">
            <a:avLst/>
          </a:prstGeom>
          <a:gradFill flip="none" rotWithShape="1">
            <a:gsLst>
              <a:gs pos="100000">
                <a:srgbClr val="FF0000"/>
              </a:gs>
              <a:gs pos="74000">
                <a:srgbClr val="EEA82A"/>
              </a:gs>
              <a:gs pos="50000">
                <a:srgbClr val="F5F52F"/>
              </a:gs>
              <a:gs pos="24000">
                <a:srgbClr val="56E11F"/>
              </a:gs>
            </a:gsLst>
            <a:path path="circle">
              <a:fillToRect l="100000" t="100000"/>
            </a:path>
            <a:tileRect r="-100000" b="-100000"/>
          </a:gra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9863713" y="1463947"/>
            <a:ext cx="1182150" cy="523220"/>
          </a:xfrm>
          <a:prstGeom prst="rect">
            <a:avLst/>
          </a:prstGeom>
          <a:noFill/>
        </p:spPr>
        <p:txBody>
          <a:bodyPr wrap="square" rtlCol="0">
            <a:spAutoFit/>
          </a:bodyPr>
          <a:lstStyle/>
          <a:p>
            <a:r>
              <a:rPr lang="en-US" sz="2800" b="1" dirty="0"/>
              <a:t>Finish </a:t>
            </a:r>
          </a:p>
        </p:txBody>
      </p:sp>
      <p:sp>
        <p:nvSpPr>
          <p:cNvPr id="20" name="TextBox 19"/>
          <p:cNvSpPr txBox="1"/>
          <p:nvPr/>
        </p:nvSpPr>
        <p:spPr>
          <a:xfrm>
            <a:off x="3402078" y="2168049"/>
            <a:ext cx="2457581" cy="400110"/>
          </a:xfrm>
          <a:prstGeom prst="rect">
            <a:avLst/>
          </a:prstGeom>
          <a:noFill/>
        </p:spPr>
        <p:txBody>
          <a:bodyPr wrap="square" rtlCol="0">
            <a:spAutoFit/>
          </a:bodyPr>
          <a:lstStyle/>
          <a:p>
            <a:r>
              <a:rPr lang="en-US" sz="2000" b="1" dirty="0">
                <a:effectLst>
                  <a:outerShdw blurRad="38100" dist="38100" dir="2700000" algn="tl">
                    <a:srgbClr val="000000">
                      <a:alpha val="43137"/>
                    </a:srgbClr>
                  </a:outerShdw>
                </a:effectLst>
              </a:rPr>
              <a:t>Identify Action Verb</a:t>
            </a:r>
          </a:p>
        </p:txBody>
      </p:sp>
      <p:sp>
        <p:nvSpPr>
          <p:cNvPr id="22" name="Minus 21"/>
          <p:cNvSpPr/>
          <p:nvPr/>
        </p:nvSpPr>
        <p:spPr>
          <a:xfrm>
            <a:off x="7788568" y="2254474"/>
            <a:ext cx="617055" cy="234147"/>
          </a:xfrm>
          <a:prstGeom prst="mathMinus">
            <a:avLst/>
          </a:prstGeom>
          <a:solidFill>
            <a:schemeClr val="tx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030A0"/>
              </a:solidFill>
              <a:effectLst>
                <a:outerShdw blurRad="38100" dist="38100" dir="2700000" algn="tl">
                  <a:srgbClr val="000000">
                    <a:alpha val="43137"/>
                  </a:srgbClr>
                </a:outerShdw>
              </a:effectLst>
            </a:endParaRPr>
          </a:p>
        </p:txBody>
      </p:sp>
      <p:sp>
        <p:nvSpPr>
          <p:cNvPr id="24" name="TextBox 23"/>
          <p:cNvSpPr txBox="1"/>
          <p:nvPr/>
        </p:nvSpPr>
        <p:spPr>
          <a:xfrm>
            <a:off x="8276416" y="2015297"/>
            <a:ext cx="3336034" cy="615553"/>
          </a:xfrm>
          <a:prstGeom prst="rect">
            <a:avLst/>
          </a:prstGeom>
          <a:noFill/>
        </p:spPr>
        <p:txBody>
          <a:bodyPr wrap="square" rtlCol="0">
            <a:spAutoFit/>
          </a:bodyPr>
          <a:lstStyle/>
          <a:p>
            <a:pPr algn="ctr"/>
            <a:r>
              <a:rPr lang="en-US" sz="2000" b="1" dirty="0"/>
              <a:t>Unnecessary words </a:t>
            </a:r>
          </a:p>
          <a:p>
            <a:pPr algn="ctr"/>
            <a:r>
              <a:rPr lang="en-US" sz="1400" dirty="0"/>
              <a:t>i.e., because, that, and, the, such, etc.  </a:t>
            </a:r>
          </a:p>
        </p:txBody>
      </p:sp>
      <p:sp>
        <p:nvSpPr>
          <p:cNvPr id="28" name="Division 27"/>
          <p:cNvSpPr/>
          <p:nvPr/>
        </p:nvSpPr>
        <p:spPr>
          <a:xfrm>
            <a:off x="579550" y="2709156"/>
            <a:ext cx="10264462" cy="982639"/>
          </a:xfrm>
          <a:prstGeom prst="mathDivide">
            <a:avLst>
              <a:gd name="adj1" fmla="val 15187"/>
              <a:gd name="adj2" fmla="val 2930"/>
              <a:gd name="adj3" fmla="val 11760"/>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Multiply 28"/>
          <p:cNvSpPr/>
          <p:nvPr/>
        </p:nvSpPr>
        <p:spPr>
          <a:xfrm>
            <a:off x="5706161" y="2168379"/>
            <a:ext cx="505775" cy="382489"/>
          </a:xfrm>
          <a:prstGeom prst="mathMultiply">
            <a:avLst>
              <a:gd name="adj1" fmla="val 11423"/>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p:cNvSpPr txBox="1"/>
          <p:nvPr/>
        </p:nvSpPr>
        <p:spPr>
          <a:xfrm>
            <a:off x="6151570" y="2159568"/>
            <a:ext cx="1524408" cy="400110"/>
          </a:xfrm>
          <a:prstGeom prst="rect">
            <a:avLst/>
          </a:prstGeom>
          <a:noFill/>
        </p:spPr>
        <p:txBody>
          <a:bodyPr wrap="square" rtlCol="0">
            <a:spAutoFit/>
          </a:bodyPr>
          <a:lstStyle/>
          <a:p>
            <a:r>
              <a:rPr lang="en-US" sz="2000" b="1" dirty="0">
                <a:effectLst>
                  <a:outerShdw blurRad="38100" dist="38100" dir="2700000" algn="tl">
                    <a:srgbClr val="000000">
                      <a:alpha val="43137"/>
                    </a:srgbClr>
                  </a:outerShdw>
                </a:effectLst>
              </a:rPr>
              <a:t>Numeration</a:t>
            </a:r>
          </a:p>
        </p:txBody>
      </p:sp>
      <p:sp>
        <p:nvSpPr>
          <p:cNvPr id="31" name="TextBox 30"/>
          <p:cNvSpPr txBox="1"/>
          <p:nvPr/>
        </p:nvSpPr>
        <p:spPr>
          <a:xfrm>
            <a:off x="2476895" y="3875524"/>
            <a:ext cx="6469772" cy="461665"/>
          </a:xfrm>
          <a:prstGeom prst="rect">
            <a:avLst/>
          </a:prstGeom>
          <a:noFill/>
        </p:spPr>
        <p:txBody>
          <a:bodyPr wrap="square" rtlCol="0">
            <a:spAutoFit/>
          </a:bodyPr>
          <a:lstStyle/>
          <a:p>
            <a:pPr algn="ctr"/>
            <a:r>
              <a:rPr lang="en-US" sz="2400" b="1" dirty="0">
                <a:effectLst>
                  <a:outerShdw blurRad="38100" dist="38100" dir="2700000" algn="tl">
                    <a:srgbClr val="000000">
                      <a:alpha val="43137"/>
                    </a:srgbClr>
                  </a:outerShdw>
                </a:effectLst>
              </a:rPr>
              <a:t>Revising, Formatting, Revising, and Reviewing </a:t>
            </a:r>
          </a:p>
        </p:txBody>
      </p:sp>
      <p:sp>
        <p:nvSpPr>
          <p:cNvPr id="21" name="Plus 20"/>
          <p:cNvSpPr/>
          <p:nvPr/>
        </p:nvSpPr>
        <p:spPr>
          <a:xfrm>
            <a:off x="2884340" y="2152378"/>
            <a:ext cx="462344" cy="389284"/>
          </a:xfrm>
          <a:prstGeom prst="mathPlus">
            <a:avLst>
              <a:gd name="adj1" fmla="val 632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Left Bracket 1"/>
          <p:cNvSpPr/>
          <p:nvPr/>
        </p:nvSpPr>
        <p:spPr>
          <a:xfrm>
            <a:off x="3402078" y="2077988"/>
            <a:ext cx="199380" cy="593719"/>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Left Bracket 24"/>
          <p:cNvSpPr/>
          <p:nvPr/>
        </p:nvSpPr>
        <p:spPr>
          <a:xfrm flipH="1">
            <a:off x="7543571" y="2107292"/>
            <a:ext cx="132407" cy="504662"/>
          </a:xfrm>
          <a:prstGeom prst="leftBracket">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2" name="Straight Arrow Connector 11"/>
          <p:cNvCxnSpPr/>
          <p:nvPr/>
        </p:nvCxnSpPr>
        <p:spPr>
          <a:xfrm>
            <a:off x="461939" y="2618468"/>
            <a:ext cx="1275" cy="1451535"/>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7362" y="4051016"/>
            <a:ext cx="1518612" cy="1446550"/>
          </a:xfrm>
          <a:prstGeom prst="rect">
            <a:avLst/>
          </a:prstGeom>
          <a:noFill/>
        </p:spPr>
        <p:txBody>
          <a:bodyPr wrap="square" rtlCol="0">
            <a:spAutoFit/>
          </a:bodyPr>
          <a:lstStyle/>
          <a:p>
            <a:r>
              <a:rPr lang="en-US" sz="1100" dirty="0">
                <a:solidFill>
                  <a:srgbClr val="7030A0"/>
                </a:solidFill>
              </a:rPr>
              <a:t>Once the list of accomplishments is formed, apply analysis to those accomplishments. </a:t>
            </a:r>
            <a:r>
              <a:rPr lang="en-US" sz="1100" b="1" dirty="0">
                <a:solidFill>
                  <a:srgbClr val="7030A0"/>
                </a:solidFill>
              </a:rPr>
              <a:t>Remember the key is answering the “SO What” for each bullet</a:t>
            </a:r>
          </a:p>
        </p:txBody>
      </p:sp>
      <p:cxnSp>
        <p:nvCxnSpPr>
          <p:cNvPr id="35" name="Elbow Connector 34"/>
          <p:cNvCxnSpPr/>
          <p:nvPr/>
        </p:nvCxnSpPr>
        <p:spPr>
          <a:xfrm rot="5400000">
            <a:off x="1254436" y="3328109"/>
            <a:ext cx="3177599" cy="2205737"/>
          </a:xfrm>
          <a:prstGeom prst="bentConnector3">
            <a:avLst>
              <a:gd name="adj1" fmla="val 553"/>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3946105" y="2541662"/>
            <a:ext cx="0" cy="3005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1555974" y="6019777"/>
            <a:ext cx="5050888" cy="600164"/>
          </a:xfrm>
          <a:prstGeom prst="rect">
            <a:avLst/>
          </a:prstGeom>
          <a:noFill/>
        </p:spPr>
        <p:txBody>
          <a:bodyPr wrap="square" rtlCol="0">
            <a:spAutoFit/>
          </a:bodyPr>
          <a:lstStyle/>
          <a:p>
            <a:r>
              <a:rPr lang="en-US" sz="1100" dirty="0">
                <a:solidFill>
                  <a:srgbClr val="7030A0"/>
                </a:solidFill>
              </a:rPr>
              <a:t>When considering Action verbs, think of  how well the NCO did something.  i.e. Completed is a good (met standard) action verb whereas accomplished  or demonstrated expertise are great (exceeded or far exceed standard) action verbs.    </a:t>
            </a:r>
          </a:p>
        </p:txBody>
      </p:sp>
      <p:cxnSp>
        <p:nvCxnSpPr>
          <p:cNvPr id="42" name="Elbow Connector 41"/>
          <p:cNvCxnSpPr/>
          <p:nvPr/>
        </p:nvCxnSpPr>
        <p:spPr>
          <a:xfrm>
            <a:off x="6724706" y="2842178"/>
            <a:ext cx="2958491" cy="1495013"/>
          </a:xfrm>
          <a:prstGeom prst="bentConnector3">
            <a:avLst>
              <a:gd name="adj1" fmla="val 100062"/>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6606862" y="4396971"/>
            <a:ext cx="5585138" cy="2292935"/>
          </a:xfrm>
          <a:prstGeom prst="rect">
            <a:avLst/>
          </a:prstGeom>
          <a:noFill/>
        </p:spPr>
        <p:txBody>
          <a:bodyPr wrap="square" rtlCol="0">
            <a:spAutoFit/>
          </a:bodyPr>
          <a:lstStyle/>
          <a:p>
            <a:r>
              <a:rPr lang="en-US" sz="1100" dirty="0">
                <a:solidFill>
                  <a:srgbClr val="7030A0"/>
                </a:solidFill>
              </a:rPr>
              <a:t>Numerate whenever and wherever possible.  The formula says multiply numeration by action verb because the numeration should support the action verb. </a:t>
            </a:r>
          </a:p>
          <a:p>
            <a:r>
              <a:rPr lang="en-US" sz="1100" dirty="0">
                <a:solidFill>
                  <a:srgbClr val="7030A0"/>
                </a:solidFill>
              </a:rPr>
              <a:t>Ex.</a:t>
            </a:r>
          </a:p>
          <a:p>
            <a:r>
              <a:rPr lang="en-US" sz="1100" dirty="0">
                <a:solidFill>
                  <a:srgbClr val="7030A0"/>
                </a:solidFill>
              </a:rPr>
              <a:t>o </a:t>
            </a:r>
            <a:r>
              <a:rPr lang="en-US" sz="1100" u="sng" dirty="0">
                <a:solidFill>
                  <a:schemeClr val="accent5">
                    <a:lumMod val="75000"/>
                  </a:schemeClr>
                </a:solidFill>
              </a:rPr>
              <a:t>completed </a:t>
            </a:r>
            <a:r>
              <a:rPr lang="en-US" sz="1100" b="1" dirty="0">
                <a:solidFill>
                  <a:schemeClr val="accent5">
                    <a:lumMod val="75000"/>
                  </a:schemeClr>
                </a:solidFill>
              </a:rPr>
              <a:t> three </a:t>
            </a:r>
            <a:r>
              <a:rPr lang="en-US" sz="1100" dirty="0">
                <a:solidFill>
                  <a:srgbClr val="7030A0"/>
                </a:solidFill>
              </a:rPr>
              <a:t>college courses toward a bachelors degree during off duty hours </a:t>
            </a:r>
            <a:r>
              <a:rPr lang="en-US" sz="1100" b="1" dirty="0"/>
              <a:t>(ok bullet)</a:t>
            </a:r>
          </a:p>
          <a:p>
            <a:endParaRPr lang="en-US" sz="1100" dirty="0">
              <a:solidFill>
                <a:srgbClr val="7030A0"/>
              </a:solidFill>
            </a:endParaRPr>
          </a:p>
          <a:p>
            <a:r>
              <a:rPr lang="en-US" sz="1100" dirty="0">
                <a:solidFill>
                  <a:srgbClr val="7030A0"/>
                </a:solidFill>
              </a:rPr>
              <a:t>o</a:t>
            </a:r>
            <a:r>
              <a:rPr lang="en-US" sz="1100" b="1" u="sng" dirty="0">
                <a:solidFill>
                  <a:schemeClr val="accent5">
                    <a:lumMod val="75000"/>
                  </a:schemeClr>
                </a:solidFill>
              </a:rPr>
              <a:t> mastered </a:t>
            </a:r>
            <a:r>
              <a:rPr lang="en-US" sz="1100" dirty="0">
                <a:solidFill>
                  <a:srgbClr val="7030A0"/>
                </a:solidFill>
              </a:rPr>
              <a:t>time management by balancing professional and personal growth; </a:t>
            </a:r>
            <a:r>
              <a:rPr lang="en-US" sz="1100" b="1" u="sng" dirty="0">
                <a:solidFill>
                  <a:schemeClr val="accent5">
                    <a:lumMod val="75000"/>
                  </a:schemeClr>
                </a:solidFill>
              </a:rPr>
              <a:t>earned nine </a:t>
            </a:r>
            <a:r>
              <a:rPr lang="en-US" sz="1100" dirty="0">
                <a:solidFill>
                  <a:srgbClr val="7030A0"/>
                </a:solidFill>
              </a:rPr>
              <a:t>college credits towards a bachelors  </a:t>
            </a:r>
            <a:r>
              <a:rPr lang="en-US" sz="1100" b="1" dirty="0"/>
              <a:t>(better bullet)</a:t>
            </a:r>
          </a:p>
          <a:p>
            <a:endParaRPr lang="en-US" sz="1100" dirty="0">
              <a:solidFill>
                <a:srgbClr val="7030A0"/>
              </a:solidFill>
            </a:endParaRPr>
          </a:p>
          <a:p>
            <a:r>
              <a:rPr lang="en-US" sz="1100" dirty="0">
                <a:solidFill>
                  <a:srgbClr val="7030A0"/>
                </a:solidFill>
              </a:rPr>
              <a:t>o </a:t>
            </a:r>
            <a:r>
              <a:rPr lang="en-US" sz="1100" b="1" dirty="0">
                <a:solidFill>
                  <a:schemeClr val="accent5">
                    <a:lumMod val="75000"/>
                  </a:schemeClr>
                </a:solidFill>
              </a:rPr>
              <a:t>personified</a:t>
            </a:r>
            <a:r>
              <a:rPr lang="en-US" sz="1100" dirty="0">
                <a:solidFill>
                  <a:srgbClr val="7030A0"/>
                </a:solidFill>
              </a:rPr>
              <a:t> the Army’s lifelong learning concept; integrated academic wisdom from </a:t>
            </a:r>
            <a:r>
              <a:rPr lang="en-US" sz="1100" b="1" dirty="0">
                <a:solidFill>
                  <a:schemeClr val="accent5">
                    <a:lumMod val="75000"/>
                  </a:schemeClr>
                </a:solidFill>
              </a:rPr>
              <a:t>nine</a:t>
            </a:r>
            <a:r>
              <a:rPr lang="en-US" sz="1100" dirty="0">
                <a:solidFill>
                  <a:srgbClr val="7030A0"/>
                </a:solidFill>
              </a:rPr>
              <a:t> credits </a:t>
            </a:r>
            <a:r>
              <a:rPr lang="en-US" sz="1100" b="1" dirty="0">
                <a:solidFill>
                  <a:schemeClr val="accent5">
                    <a:lumMod val="75000"/>
                  </a:schemeClr>
                </a:solidFill>
              </a:rPr>
              <a:t>earned</a:t>
            </a:r>
            <a:r>
              <a:rPr lang="en-US" sz="1100" dirty="0">
                <a:solidFill>
                  <a:srgbClr val="7030A0"/>
                </a:solidFill>
              </a:rPr>
              <a:t> to improve operations </a:t>
            </a:r>
            <a:r>
              <a:rPr lang="en-US" sz="1100" b="1" dirty="0"/>
              <a:t>(even better bullet)</a:t>
            </a:r>
          </a:p>
          <a:p>
            <a:endParaRPr lang="en-US" sz="1100" dirty="0">
              <a:solidFill>
                <a:srgbClr val="7030A0"/>
              </a:solidFill>
            </a:endParaRPr>
          </a:p>
          <a:p>
            <a:r>
              <a:rPr lang="en-US" sz="1100" dirty="0">
                <a:solidFill>
                  <a:srgbClr val="7030A0"/>
                </a:solidFill>
              </a:rPr>
              <a:t>o personified the Army’s lifelong learning concept; </a:t>
            </a:r>
            <a:r>
              <a:rPr lang="en-US" sz="1100" u="sng" dirty="0">
                <a:solidFill>
                  <a:schemeClr val="accent5">
                    <a:lumMod val="75000"/>
                  </a:schemeClr>
                </a:solidFill>
              </a:rPr>
              <a:t>integrated</a:t>
            </a:r>
            <a:r>
              <a:rPr lang="en-US" sz="1100" dirty="0">
                <a:solidFill>
                  <a:srgbClr val="7030A0"/>
                </a:solidFill>
              </a:rPr>
              <a:t> scholastic </a:t>
            </a:r>
            <a:r>
              <a:rPr lang="en-US" sz="1100" u="sng" dirty="0">
                <a:solidFill>
                  <a:schemeClr val="accent5">
                    <a:lumMod val="75000"/>
                  </a:schemeClr>
                </a:solidFill>
              </a:rPr>
              <a:t>expertise</a:t>
            </a:r>
            <a:r>
              <a:rPr lang="en-US" sz="1100" dirty="0">
                <a:solidFill>
                  <a:srgbClr val="7030A0"/>
                </a:solidFill>
              </a:rPr>
              <a:t> from </a:t>
            </a:r>
            <a:r>
              <a:rPr lang="en-US" sz="1100" b="1" dirty="0">
                <a:solidFill>
                  <a:schemeClr val="accent5">
                    <a:lumMod val="75000"/>
                  </a:schemeClr>
                </a:solidFill>
              </a:rPr>
              <a:t>nine </a:t>
            </a:r>
            <a:r>
              <a:rPr lang="en-US" sz="1100" dirty="0">
                <a:solidFill>
                  <a:srgbClr val="7030A0"/>
                </a:solidFill>
              </a:rPr>
              <a:t>credits earned to </a:t>
            </a:r>
            <a:r>
              <a:rPr lang="en-US" sz="1100" b="1" dirty="0">
                <a:solidFill>
                  <a:schemeClr val="accent5">
                    <a:lumMod val="75000"/>
                  </a:schemeClr>
                </a:solidFill>
              </a:rPr>
              <a:t>enhance</a:t>
            </a:r>
            <a:r>
              <a:rPr lang="en-US" sz="1100" dirty="0">
                <a:solidFill>
                  <a:srgbClr val="7030A0"/>
                </a:solidFill>
              </a:rPr>
              <a:t> operations </a:t>
            </a:r>
            <a:r>
              <a:rPr lang="en-US" sz="1100" b="1" dirty="0"/>
              <a:t>(silver bullet)</a:t>
            </a:r>
            <a:r>
              <a:rPr lang="en-US" sz="1100" dirty="0">
                <a:solidFill>
                  <a:srgbClr val="7030A0"/>
                </a:solidFill>
              </a:rPr>
              <a:t>		</a:t>
            </a:r>
          </a:p>
        </p:txBody>
      </p:sp>
      <p:cxnSp>
        <p:nvCxnSpPr>
          <p:cNvPr id="52" name="Straight Arrow Connector 51"/>
          <p:cNvCxnSpPr/>
          <p:nvPr/>
        </p:nvCxnSpPr>
        <p:spPr>
          <a:xfrm flipV="1">
            <a:off x="6727729" y="2541662"/>
            <a:ext cx="0" cy="3005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Left Brace 52"/>
          <p:cNvSpPr/>
          <p:nvPr/>
        </p:nvSpPr>
        <p:spPr>
          <a:xfrm>
            <a:off x="6324228" y="4967349"/>
            <a:ext cx="311027" cy="1722557"/>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b="1" dirty="0">
              <a:effectLst>
                <a:outerShdw blurRad="38100" dist="38100" dir="2700000" algn="tl">
                  <a:srgbClr val="000000">
                    <a:alpha val="43137"/>
                  </a:srgbClr>
                </a:outerShdw>
              </a:effectLst>
            </a:endParaRPr>
          </a:p>
        </p:txBody>
      </p:sp>
      <p:cxnSp>
        <p:nvCxnSpPr>
          <p:cNvPr id="55" name="Elbow Connector 54"/>
          <p:cNvCxnSpPr>
            <a:stCxn id="31" idx="2"/>
            <a:endCxn id="53" idx="1"/>
          </p:cNvCxnSpPr>
          <p:nvPr/>
        </p:nvCxnSpPr>
        <p:spPr>
          <a:xfrm rot="16200000" flipH="1">
            <a:off x="5272285" y="4776684"/>
            <a:ext cx="1491439" cy="612447"/>
          </a:xfrm>
          <a:prstGeom prst="bentConnector2">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0913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9722"/>
            <a:ext cx="12191999" cy="1138773"/>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Making Magic </a:t>
            </a:r>
          </a:p>
          <a:p>
            <a:pPr algn="ctr"/>
            <a:r>
              <a:rPr lang="en-US" sz="3200" dirty="0">
                <a:latin typeface="Arial" panose="020B0604020202020204" pitchFamily="34" charset="0"/>
                <a:cs typeface="Arial" panose="020B0604020202020204" pitchFamily="34" charset="0"/>
              </a:rPr>
              <a:t>Composing a Silver Bullet </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8" name="Rectangle 7"/>
          <p:cNvSpPr/>
          <p:nvPr/>
        </p:nvSpPr>
        <p:spPr>
          <a:xfrm>
            <a:off x="62431" y="1331329"/>
            <a:ext cx="3782180" cy="5386090"/>
          </a:xfrm>
          <a:prstGeom prst="rect">
            <a:avLst/>
          </a:prstGeom>
          <a:solidFill>
            <a:schemeClr val="accent2">
              <a:lumMod val="60000"/>
              <a:lumOff val="40000"/>
            </a:schemeClr>
          </a:solidFill>
          <a:ln>
            <a:solidFill>
              <a:schemeClr val="tx1"/>
            </a:solidFill>
          </a:ln>
        </p:spPr>
        <p:txBody>
          <a:bodyPr wrap="square">
            <a:spAutoFit/>
          </a:bodyPr>
          <a:lstStyle/>
          <a:p>
            <a:pPr marL="0" lvl="1" algn="ctr"/>
            <a:r>
              <a:rPr lang="en-US" b="1" dirty="0">
                <a:latin typeface="Arial" panose="020B0604020202020204" pitchFamily="34" charset="0"/>
                <a:cs typeface="Arial" panose="020B0604020202020204" pitchFamily="34" charset="0"/>
              </a:rPr>
              <a:t>Step 1: Message of NCOER</a:t>
            </a:r>
          </a:p>
          <a:p>
            <a:pPr marL="0" lvl="1" algn="ctr"/>
            <a:r>
              <a:rPr lang="en-US" sz="1400" b="1" dirty="0">
                <a:latin typeface="Arial" panose="020B0604020202020204" pitchFamily="34" charset="0"/>
                <a:cs typeface="Arial" panose="020B0604020202020204" pitchFamily="34" charset="0"/>
              </a:rPr>
              <a:t>How do you rate this NCO</a:t>
            </a:r>
          </a:p>
          <a:p>
            <a:pPr marL="0" lvl="1" algn="ctr"/>
            <a:r>
              <a:rPr lang="en-US" b="1" dirty="0">
                <a:latin typeface="Arial" panose="020B0604020202020204" pitchFamily="34" charset="0"/>
                <a:cs typeface="Arial" panose="020B0604020202020204" pitchFamily="34" charset="0"/>
              </a:rPr>
              <a:t> </a:t>
            </a:r>
          </a:p>
          <a:p>
            <a:pPr marL="2857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Did not Meet Standard - </a:t>
            </a:r>
            <a:r>
              <a:rPr lang="en-US" sz="1400" dirty="0">
                <a:latin typeface="Arial" panose="020B0604020202020204" pitchFamily="34" charset="0"/>
                <a:cs typeface="Arial" panose="020B0604020202020204" pitchFamily="34" charset="0"/>
              </a:rPr>
              <a:t>substandard NCO</a:t>
            </a:r>
          </a:p>
          <a:p>
            <a:pPr marL="285750" lvl="1"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Met Standard - </a:t>
            </a:r>
            <a:r>
              <a:rPr lang="en-US" sz="1400" dirty="0">
                <a:latin typeface="Arial" panose="020B0604020202020204" pitchFamily="34" charset="0"/>
                <a:cs typeface="Arial" panose="020B0604020202020204" pitchFamily="34" charset="0"/>
              </a:rPr>
              <a:t>average NCO, currently does not show a lot of potential,  may be going through a rough patch, or has decided to ETS or retire </a:t>
            </a:r>
          </a:p>
          <a:p>
            <a:pPr marL="285750" lvl="1"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Exceeded Standard - </a:t>
            </a:r>
            <a:r>
              <a:rPr lang="en-US" sz="1400" dirty="0">
                <a:latin typeface="Arial" panose="020B0604020202020204" pitchFamily="34" charset="0"/>
                <a:cs typeface="Arial" panose="020B0604020202020204" pitchFamily="34" charset="0"/>
              </a:rPr>
              <a:t>NCO is full of potential, strong work ethic, takes initiative often, requires some mentorship and development to reach full potential</a:t>
            </a:r>
          </a:p>
          <a:p>
            <a:pPr marL="285750" lvl="1"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Far Exceeded Standard - </a:t>
            </a:r>
            <a:r>
              <a:rPr lang="en-US" sz="1400" dirty="0">
                <a:latin typeface="Arial" panose="020B0604020202020204" pitchFamily="34" charset="0"/>
                <a:cs typeface="Arial" panose="020B0604020202020204" pitchFamily="34" charset="0"/>
              </a:rPr>
              <a:t>NCO is consistently performing at a higher grade; requires little to no supervision; proactive and dependable, cream of the crop</a:t>
            </a:r>
          </a:p>
          <a:p>
            <a:pPr marL="0" lvl="1"/>
            <a:endParaRPr lang="en-US" sz="1400" dirty="0">
              <a:latin typeface="Arial" panose="020B0604020202020204" pitchFamily="34" charset="0"/>
              <a:cs typeface="Arial" panose="020B0604020202020204" pitchFamily="34" charset="0"/>
            </a:endParaRPr>
          </a:p>
          <a:p>
            <a:pPr marL="0" lvl="1"/>
            <a:endParaRPr lang="en-US" sz="1400" dirty="0">
              <a:latin typeface="Arial" panose="020B0604020202020204" pitchFamily="34" charset="0"/>
              <a:cs typeface="Arial" panose="020B0604020202020204" pitchFamily="34" charset="0"/>
            </a:endParaRPr>
          </a:p>
          <a:p>
            <a:pPr marL="0" lvl="1"/>
            <a:endParaRPr lang="en-US" sz="1400" dirty="0">
              <a:latin typeface="Arial" panose="020B0604020202020204" pitchFamily="34" charset="0"/>
              <a:cs typeface="Arial" panose="020B0604020202020204" pitchFamily="34" charset="0"/>
            </a:endParaRPr>
          </a:p>
          <a:p>
            <a:pPr marL="0" lvl="1"/>
            <a:endParaRPr lang="en-US" sz="1400" dirty="0">
              <a:latin typeface="Arial" panose="020B0604020202020204" pitchFamily="34" charset="0"/>
              <a:cs typeface="Arial" panose="020B0604020202020204" pitchFamily="34" charset="0"/>
            </a:endParaRPr>
          </a:p>
        </p:txBody>
      </p:sp>
      <p:sp>
        <p:nvSpPr>
          <p:cNvPr id="21" name="Rectangle 20"/>
          <p:cNvSpPr/>
          <p:nvPr/>
        </p:nvSpPr>
        <p:spPr>
          <a:xfrm>
            <a:off x="3964811" y="1343406"/>
            <a:ext cx="4033108" cy="2431435"/>
          </a:xfrm>
          <a:prstGeom prst="rect">
            <a:avLst/>
          </a:prstGeom>
          <a:solidFill>
            <a:schemeClr val="accent4">
              <a:lumMod val="60000"/>
              <a:lumOff val="40000"/>
            </a:schemeClr>
          </a:solidFill>
          <a:ln>
            <a:solidFill>
              <a:schemeClr val="tx1"/>
            </a:solidFill>
          </a:ln>
        </p:spPr>
        <p:txBody>
          <a:bodyPr wrap="square">
            <a:spAutoFit/>
          </a:bodyPr>
          <a:lstStyle/>
          <a:p>
            <a:pPr marL="0" lvl="1" algn="ctr"/>
            <a:r>
              <a:rPr lang="en-US" b="1" dirty="0">
                <a:latin typeface="Arial" panose="020B0604020202020204" pitchFamily="34" charset="0"/>
                <a:cs typeface="Arial" panose="020B0604020202020204" pitchFamily="34" charset="0"/>
              </a:rPr>
              <a:t>Step 2: Data collection/numeration</a:t>
            </a:r>
          </a:p>
          <a:p>
            <a:pPr marL="0" lvl="1" algn="ctr"/>
            <a:r>
              <a:rPr lang="en-US" sz="1400" b="1" dirty="0">
                <a:latin typeface="Arial" panose="020B0604020202020204" pitchFamily="34" charset="0"/>
                <a:cs typeface="Arial" panose="020B0604020202020204" pitchFamily="34" charset="0"/>
              </a:rPr>
              <a:t>What information you need to substantiate bullets</a:t>
            </a:r>
          </a:p>
          <a:p>
            <a:pPr marL="0" lvl="1" algn="ctr"/>
            <a:r>
              <a:rPr lang="en-US" sz="1400" b="1" dirty="0">
                <a:latin typeface="Arial" panose="020B0604020202020204" pitchFamily="34" charset="0"/>
                <a:cs typeface="Arial" panose="020B0604020202020204" pitchFamily="34" charset="0"/>
              </a:rPr>
              <a:t> </a:t>
            </a:r>
          </a:p>
          <a:p>
            <a:pPr marL="119063" lvl="1" indent="-119063">
              <a:buFont typeface="Arial" panose="020B0604020202020204" pitchFamily="34" charset="0"/>
              <a:buChar char="•"/>
            </a:pPr>
            <a:r>
              <a:rPr lang="en-US" sz="1400" b="1" dirty="0">
                <a:latin typeface="Arial" panose="020B0604020202020204" pitchFamily="34" charset="0"/>
                <a:cs typeface="Arial" panose="020B0604020202020204" pitchFamily="34" charset="0"/>
              </a:rPr>
              <a:t>Section/squad </a:t>
            </a:r>
            <a:r>
              <a:rPr lang="en-US" sz="1400" dirty="0">
                <a:latin typeface="Arial" panose="020B0604020202020204" pitchFamily="34" charset="0"/>
                <a:cs typeface="Arial" panose="020B0604020202020204" pitchFamily="34" charset="0"/>
              </a:rPr>
              <a:t>(internal): 15 Soldiers</a:t>
            </a:r>
          </a:p>
          <a:p>
            <a:pPr marL="119063" lvl="1" indent="-119063"/>
            <a:r>
              <a:rPr lang="en-US" sz="1200" dirty="0">
                <a:latin typeface="Arial" panose="020B0604020202020204" pitchFamily="34" charset="0"/>
                <a:cs typeface="Arial" panose="020B0604020202020204" pitchFamily="34" charset="0"/>
              </a:rPr>
              <a:t> (4 SSGs, 1 SFC, 1 Warrant, 1 Major, 8 junior Soldiers)</a:t>
            </a:r>
          </a:p>
          <a:p>
            <a:pPr marL="119063" lvl="1" indent="-119063"/>
            <a:endParaRPr lang="en-US" sz="1400" dirty="0">
              <a:latin typeface="Arial" panose="020B0604020202020204" pitchFamily="34" charset="0"/>
              <a:cs typeface="Arial" panose="020B0604020202020204" pitchFamily="34" charset="0"/>
            </a:endParaRPr>
          </a:p>
          <a:p>
            <a:pPr marL="119063" lvl="1" indent="-119063">
              <a:buFont typeface="Arial" panose="020B0604020202020204" pitchFamily="34" charset="0"/>
              <a:buChar char="•"/>
            </a:pPr>
            <a:r>
              <a:rPr lang="en-US" sz="1400" b="1" dirty="0">
                <a:latin typeface="Arial" panose="020B0604020202020204" pitchFamily="34" charset="0"/>
                <a:cs typeface="Arial" panose="020B0604020202020204" pitchFamily="34" charset="0"/>
              </a:rPr>
              <a:t>Unit/company/BN </a:t>
            </a:r>
            <a:r>
              <a:rPr lang="en-US" sz="1400" dirty="0">
                <a:latin typeface="Arial" panose="020B0604020202020204" pitchFamily="34" charset="0"/>
                <a:cs typeface="Arial" panose="020B0604020202020204" pitchFamily="34" charset="0"/>
              </a:rPr>
              <a:t>(external): 135 soldiers  </a:t>
            </a:r>
            <a:r>
              <a:rPr lang="en-US" sz="1200" dirty="0">
                <a:latin typeface="Arial" panose="020B0604020202020204" pitchFamily="34" charset="0"/>
                <a:cs typeface="Arial" panose="020B0604020202020204" pitchFamily="34" charset="0"/>
              </a:rPr>
              <a:t>(NCOs 58, Officers, 15, E4 –E1 62)</a:t>
            </a:r>
          </a:p>
          <a:p>
            <a:pPr marL="119063" lvl="1" indent="-119063">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a:p>
            <a:pPr marL="119063" lvl="1" indent="-119063">
              <a:buFont typeface="Arial" panose="020B0604020202020204" pitchFamily="34" charset="0"/>
              <a:buChar char="•"/>
            </a:pPr>
            <a:r>
              <a:rPr lang="en-US" sz="1400" b="1" dirty="0">
                <a:latin typeface="Arial" panose="020B0604020202020204" pitchFamily="34" charset="0"/>
                <a:cs typeface="Arial" panose="020B0604020202020204" pitchFamily="34" charset="0"/>
              </a:rPr>
              <a:t>Section APFT average</a:t>
            </a:r>
            <a:r>
              <a:rPr lang="en-US" sz="1400" dirty="0">
                <a:latin typeface="Arial" panose="020B0604020202020204" pitchFamily="34" charset="0"/>
                <a:cs typeface="Arial" panose="020B0604020202020204" pitchFamily="34" charset="0"/>
              </a:rPr>
              <a:t>: old 220  new 245</a:t>
            </a:r>
          </a:p>
        </p:txBody>
      </p:sp>
      <p:sp>
        <p:nvSpPr>
          <p:cNvPr id="22" name="Rectangle 21"/>
          <p:cNvSpPr/>
          <p:nvPr/>
        </p:nvSpPr>
        <p:spPr>
          <a:xfrm>
            <a:off x="3964810" y="4193651"/>
            <a:ext cx="4033108" cy="2523768"/>
          </a:xfrm>
          <a:prstGeom prst="rect">
            <a:avLst/>
          </a:prstGeom>
          <a:solidFill>
            <a:schemeClr val="accent5">
              <a:lumMod val="60000"/>
              <a:lumOff val="40000"/>
            </a:schemeClr>
          </a:solidFill>
          <a:ln>
            <a:solidFill>
              <a:schemeClr val="tx1"/>
            </a:solidFill>
          </a:ln>
        </p:spPr>
        <p:txBody>
          <a:bodyPr wrap="square">
            <a:spAutoFit/>
          </a:bodyPr>
          <a:lstStyle/>
          <a:p>
            <a:pPr marL="0" lvl="1" algn="ctr"/>
            <a:r>
              <a:rPr lang="en-US" b="1" dirty="0">
                <a:latin typeface="Arial" panose="020B0604020202020204" pitchFamily="34" charset="0"/>
                <a:cs typeface="Arial" panose="020B0604020202020204" pitchFamily="34" charset="0"/>
              </a:rPr>
              <a:t>Step 3: Identify task</a:t>
            </a:r>
          </a:p>
          <a:p>
            <a:pPr marL="0" lvl="1" algn="ctr"/>
            <a:r>
              <a:rPr lang="en-US" sz="1400" b="1" dirty="0">
                <a:latin typeface="Arial" panose="020B0604020202020204" pitchFamily="34" charset="0"/>
                <a:cs typeface="Arial" panose="020B0604020202020204" pitchFamily="34" charset="0"/>
              </a:rPr>
              <a:t>What did the NCO accomplish this rating period</a:t>
            </a:r>
          </a:p>
          <a:p>
            <a:pPr marL="0" lvl="1" algn="ctr"/>
            <a:endParaRPr lang="en-US" sz="1400" b="1" dirty="0">
              <a:latin typeface="Arial" panose="020B0604020202020204" pitchFamily="34" charset="0"/>
              <a:cs typeface="Arial" panose="020B0604020202020204" pitchFamily="34" charset="0"/>
            </a:endParaRPr>
          </a:p>
          <a:p>
            <a:pPr marL="168275" lvl="1" indent="-168275">
              <a:buFont typeface="Arial" panose="020B0604020202020204" pitchFamily="34" charset="0"/>
              <a:buChar char="•"/>
            </a:pPr>
            <a:r>
              <a:rPr lang="en-US" sz="1400" dirty="0">
                <a:latin typeface="Arial" panose="020B0604020202020204" pitchFamily="34" charset="0"/>
                <a:cs typeface="Arial" panose="020B0604020202020204" pitchFamily="34" charset="0"/>
              </a:rPr>
              <a:t>Conducted PT sessions </a:t>
            </a:r>
          </a:p>
          <a:p>
            <a:pPr marL="168275" lvl="1" indent="-168275">
              <a:buFont typeface="Arial" panose="020B0604020202020204" pitchFamily="34" charset="0"/>
              <a:buChar char="•"/>
            </a:pPr>
            <a:r>
              <a:rPr lang="en-US" sz="1400" dirty="0">
                <a:latin typeface="Arial" panose="020B0604020202020204" pitchFamily="34" charset="0"/>
                <a:cs typeface="Arial" panose="020B0604020202020204" pitchFamily="34" charset="0"/>
              </a:rPr>
              <a:t>Provided daily threat briefings</a:t>
            </a:r>
          </a:p>
          <a:p>
            <a:pPr marL="168275" lvl="1" indent="-168275">
              <a:buFont typeface="Arial" panose="020B0604020202020204" pitchFamily="34" charset="0"/>
              <a:buChar char="•"/>
            </a:pPr>
            <a:r>
              <a:rPr lang="en-US" sz="1400" dirty="0">
                <a:latin typeface="Arial" panose="020B0604020202020204" pitchFamily="34" charset="0"/>
                <a:cs typeface="Arial" panose="020B0604020202020204" pitchFamily="34" charset="0"/>
              </a:rPr>
              <a:t>Helped soldier passed APFT</a:t>
            </a:r>
          </a:p>
          <a:p>
            <a:pPr marL="168275" lvl="1" indent="-168275">
              <a:buFont typeface="Arial" panose="020B0604020202020204" pitchFamily="34" charset="0"/>
              <a:buChar char="•"/>
            </a:pPr>
            <a:r>
              <a:rPr lang="en-US" sz="1400" dirty="0">
                <a:latin typeface="Arial" panose="020B0604020202020204" pitchFamily="34" charset="0"/>
                <a:cs typeface="Arial" panose="020B0604020202020204" pitchFamily="34" charset="0"/>
              </a:rPr>
              <a:t>Conducted PMI for a M4 range/range safety</a:t>
            </a:r>
          </a:p>
          <a:p>
            <a:pPr marL="168275" lvl="1" indent="-168275">
              <a:buFont typeface="Arial" panose="020B0604020202020204" pitchFamily="34" charset="0"/>
              <a:buChar char="•"/>
            </a:pPr>
            <a:r>
              <a:rPr lang="en-US" sz="1400" dirty="0">
                <a:latin typeface="Arial" panose="020B0604020202020204" pitchFamily="34" charset="0"/>
                <a:cs typeface="Arial" panose="020B0604020202020204" pitchFamily="34" charset="0"/>
              </a:rPr>
              <a:t>Conduct gate guard/staff duty (extended period of time due to mission. NCO should not be punished if requirement had to be filled)</a:t>
            </a:r>
            <a:endParaRPr lang="en-US" sz="1200" dirty="0">
              <a:latin typeface="Arial" panose="020B0604020202020204" pitchFamily="34" charset="0"/>
              <a:cs typeface="Arial" panose="020B0604020202020204" pitchFamily="34" charset="0"/>
            </a:endParaRPr>
          </a:p>
        </p:txBody>
      </p:sp>
      <p:sp>
        <p:nvSpPr>
          <p:cNvPr id="11" name="Rectangle 10"/>
          <p:cNvSpPr/>
          <p:nvPr/>
        </p:nvSpPr>
        <p:spPr>
          <a:xfrm>
            <a:off x="8138289" y="1331329"/>
            <a:ext cx="3913339" cy="3631763"/>
          </a:xfrm>
          <a:prstGeom prst="rect">
            <a:avLst/>
          </a:prstGeom>
          <a:solidFill>
            <a:schemeClr val="accent6">
              <a:lumMod val="40000"/>
              <a:lumOff val="60000"/>
            </a:schemeClr>
          </a:solidFill>
          <a:ln>
            <a:solidFill>
              <a:schemeClr val="tx1"/>
            </a:solidFill>
          </a:ln>
        </p:spPr>
        <p:txBody>
          <a:bodyPr wrap="square">
            <a:spAutoFit/>
          </a:bodyPr>
          <a:lstStyle/>
          <a:p>
            <a:pPr marL="0" lvl="1" algn="ctr"/>
            <a:r>
              <a:rPr lang="en-US" b="1" dirty="0">
                <a:latin typeface="Arial" panose="020B0604020202020204" pitchFamily="34" charset="0"/>
                <a:cs typeface="Arial" panose="020B0604020202020204" pitchFamily="34" charset="0"/>
              </a:rPr>
              <a:t>Step 4: Apply AIR</a:t>
            </a:r>
          </a:p>
          <a:p>
            <a:pPr marL="0" lvl="1" algn="ctr"/>
            <a:r>
              <a:rPr lang="en-US" sz="1400" b="1" dirty="0">
                <a:latin typeface="Arial" panose="020B0604020202020204" pitchFamily="34" charset="0"/>
                <a:cs typeface="Arial" panose="020B0604020202020204" pitchFamily="34" charset="0"/>
              </a:rPr>
              <a:t>Conduct analysis on each task completed </a:t>
            </a:r>
          </a:p>
          <a:p>
            <a:pPr marL="0" lvl="1" algn="ctr"/>
            <a:endParaRPr lang="en-US" sz="1400" b="1" dirty="0">
              <a:latin typeface="Arial" panose="020B0604020202020204" pitchFamily="34" charset="0"/>
              <a:cs typeface="Arial" panose="020B0604020202020204" pitchFamily="34" charset="0"/>
            </a:endParaRPr>
          </a:p>
          <a:p>
            <a:pPr marL="0" lvl="1"/>
            <a:r>
              <a:rPr lang="en-US" sz="1400" b="1" dirty="0">
                <a:latin typeface="Arial" panose="020B0604020202020204" pitchFamily="34" charset="0"/>
                <a:cs typeface="Arial" panose="020B0604020202020204" pitchFamily="34" charset="0"/>
              </a:rPr>
              <a:t>Task 1: Conducted PT sessions</a:t>
            </a:r>
          </a:p>
          <a:p>
            <a:pPr marL="0" lvl="1" algn="ctr"/>
            <a:r>
              <a:rPr lang="en-US" sz="1400" dirty="0">
                <a:latin typeface="Arial" panose="020B0604020202020204" pitchFamily="34" charset="0"/>
                <a:cs typeface="Arial" panose="020B0604020202020204" pitchFamily="34" charset="0"/>
              </a:rPr>
              <a:t>Analysis Questions: </a:t>
            </a:r>
          </a:p>
          <a:p>
            <a:pPr marL="115888" lvl="1" indent="-115888">
              <a:buFont typeface="+mj-lt"/>
              <a:buAutoNum type="arabicPeriod"/>
            </a:pPr>
            <a:r>
              <a:rPr lang="en-US" sz="1400" dirty="0">
                <a:latin typeface="Arial" panose="020B0604020202020204" pitchFamily="34" charset="0"/>
                <a:cs typeface="Arial" panose="020B0604020202020204" pitchFamily="34" charset="0"/>
              </a:rPr>
              <a:t>  How did NCO conduct PT sessions? </a:t>
            </a:r>
          </a:p>
          <a:p>
            <a:pPr marL="0" lvl="1"/>
            <a:r>
              <a:rPr lang="en-US" sz="1200" dirty="0">
                <a:solidFill>
                  <a:schemeClr val="accent5">
                    <a:lumMod val="50000"/>
                  </a:schemeClr>
                </a:solidFill>
                <a:latin typeface="Arial" panose="020B0604020202020204" pitchFamily="34" charset="0"/>
                <a:cs typeface="Arial" panose="020B0604020202020204" pitchFamily="34" charset="0"/>
              </a:rPr>
              <a:t>Submitted a 90-day training plan to NCOIC for approval</a:t>
            </a:r>
          </a:p>
          <a:p>
            <a:pPr marL="0" lvl="1"/>
            <a:r>
              <a:rPr lang="en-US" sz="1400" dirty="0">
                <a:latin typeface="Arial" panose="020B0604020202020204" pitchFamily="34" charset="0"/>
                <a:cs typeface="Arial" panose="020B0604020202020204" pitchFamily="34" charset="0"/>
              </a:rPr>
              <a:t>2. Who was the audience? </a:t>
            </a:r>
            <a:r>
              <a:rPr lang="en-US" sz="1200" dirty="0">
                <a:solidFill>
                  <a:srgbClr val="002060"/>
                </a:solidFill>
                <a:latin typeface="Arial" panose="020B0604020202020204" pitchFamily="34" charset="0"/>
                <a:cs typeface="Arial" panose="020B0604020202020204" pitchFamily="34" charset="0"/>
              </a:rPr>
              <a:t>Section </a:t>
            </a:r>
          </a:p>
          <a:p>
            <a:pPr marL="0" lvl="1"/>
            <a:r>
              <a:rPr lang="en-US" sz="1400" dirty="0">
                <a:latin typeface="Arial" panose="020B0604020202020204" pitchFamily="34" charset="0"/>
                <a:cs typeface="Arial" panose="020B0604020202020204" pitchFamily="34" charset="0"/>
              </a:rPr>
              <a:t>3. How many soldiers participated? </a:t>
            </a:r>
            <a:r>
              <a:rPr lang="en-US" sz="1200" dirty="0">
                <a:solidFill>
                  <a:srgbClr val="002060"/>
                </a:solidFill>
                <a:latin typeface="Arial" panose="020B0604020202020204" pitchFamily="34" charset="0"/>
                <a:cs typeface="Arial" panose="020B0604020202020204" pitchFamily="34" charset="0"/>
              </a:rPr>
              <a:t>15</a:t>
            </a:r>
          </a:p>
          <a:p>
            <a:pPr marL="0" lvl="1"/>
            <a:r>
              <a:rPr lang="en-US" sz="1400" dirty="0">
                <a:latin typeface="Arial" panose="020B0604020202020204" pitchFamily="34" charset="0"/>
                <a:cs typeface="Arial" panose="020B0604020202020204" pitchFamily="34" charset="0"/>
              </a:rPr>
              <a:t>4. How often NCO conducted PT sessions? </a:t>
            </a:r>
          </a:p>
          <a:p>
            <a:pPr marL="0" lvl="1"/>
            <a:r>
              <a:rPr lang="en-US" sz="1200" dirty="0">
                <a:solidFill>
                  <a:srgbClr val="002060"/>
                </a:solidFill>
                <a:latin typeface="Arial" panose="020B0604020202020204" pitchFamily="34" charset="0"/>
                <a:cs typeface="Arial" panose="020B0604020202020204" pitchFamily="34" charset="0"/>
              </a:rPr>
              <a:t>5 days per week for 4 months</a:t>
            </a:r>
          </a:p>
          <a:p>
            <a:pPr marL="0" lvl="1"/>
            <a:r>
              <a:rPr lang="en-US" sz="1400" dirty="0">
                <a:latin typeface="Arial" panose="020B0604020202020204" pitchFamily="34" charset="0"/>
                <a:cs typeface="Arial" panose="020B0604020202020204" pitchFamily="34" charset="0"/>
              </a:rPr>
              <a:t>5. What changed as a result of these sessions</a:t>
            </a:r>
          </a:p>
          <a:p>
            <a:pPr marL="0" lvl="1"/>
            <a:r>
              <a:rPr lang="en-US" sz="1200" dirty="0">
                <a:solidFill>
                  <a:srgbClr val="002060"/>
                </a:solidFill>
                <a:latin typeface="Arial" panose="020B0604020202020204" pitchFamily="34" charset="0"/>
                <a:cs typeface="Arial" panose="020B0604020202020204" pitchFamily="34" charset="0"/>
              </a:rPr>
              <a:t>- Section’s APFT average increased by 25 </a:t>
            </a:r>
          </a:p>
          <a:p>
            <a:pPr marL="0" lvl="1"/>
            <a:r>
              <a:rPr lang="en-US" sz="1200" dirty="0">
                <a:solidFill>
                  <a:srgbClr val="002060"/>
                </a:solidFill>
                <a:latin typeface="Arial" panose="020B0604020202020204" pitchFamily="34" charset="0"/>
                <a:cs typeface="Arial" panose="020B0604020202020204" pitchFamily="34" charset="0"/>
              </a:rPr>
              <a:t>- two Soldiers went from failing to passing </a:t>
            </a:r>
          </a:p>
          <a:p>
            <a:pPr marL="0" lvl="1"/>
            <a:r>
              <a:rPr lang="en-US" sz="1200" dirty="0">
                <a:solidFill>
                  <a:srgbClr val="002060"/>
                </a:solidFill>
                <a:latin typeface="Arial" panose="020B0604020202020204" pitchFamily="34" charset="0"/>
                <a:cs typeface="Arial" panose="020B0604020202020204" pitchFamily="34" charset="0"/>
              </a:rPr>
              <a:t>- OIC run time dropped by 1.5 mins</a:t>
            </a:r>
          </a:p>
          <a:p>
            <a:pPr marL="0" lvl="1"/>
            <a:r>
              <a:rPr lang="en-US" sz="1200" dirty="0">
                <a:solidFill>
                  <a:srgbClr val="002060"/>
                </a:solidFill>
                <a:latin typeface="Arial" panose="020B0604020202020204" pitchFamily="34" charset="0"/>
                <a:cs typeface="Arial" panose="020B0604020202020204" pitchFamily="34" charset="0"/>
              </a:rPr>
              <a:t>- Section adopted the team concept outside of PT</a:t>
            </a:r>
            <a:r>
              <a:rPr lang="en-US" sz="1400" dirty="0">
                <a:latin typeface="Arial" panose="020B0604020202020204" pitchFamily="34" charset="0"/>
                <a:cs typeface="Arial" panose="020B0604020202020204" pitchFamily="34" charset="0"/>
              </a:rPr>
              <a:t>	</a:t>
            </a:r>
          </a:p>
        </p:txBody>
      </p:sp>
      <p:sp>
        <p:nvSpPr>
          <p:cNvPr id="12" name="Rectangle 11"/>
          <p:cNvSpPr/>
          <p:nvPr/>
        </p:nvSpPr>
        <p:spPr>
          <a:xfrm>
            <a:off x="8138288" y="5074356"/>
            <a:ext cx="3913339" cy="1631216"/>
          </a:xfrm>
          <a:prstGeom prst="rect">
            <a:avLst/>
          </a:prstGeom>
          <a:solidFill>
            <a:schemeClr val="accent6">
              <a:lumMod val="75000"/>
            </a:schemeClr>
          </a:solidFill>
          <a:ln>
            <a:solidFill>
              <a:schemeClr val="tx1"/>
            </a:solidFill>
          </a:ln>
        </p:spPr>
        <p:txBody>
          <a:bodyPr wrap="square">
            <a:spAutoFit/>
          </a:bodyPr>
          <a:lstStyle/>
          <a:p>
            <a:pPr marL="0" lvl="1" algn="ctr"/>
            <a:r>
              <a:rPr lang="en-US" b="1" dirty="0">
                <a:latin typeface="Arial" panose="020B0604020202020204" pitchFamily="34" charset="0"/>
                <a:cs typeface="Arial" panose="020B0604020202020204" pitchFamily="34" charset="0"/>
              </a:rPr>
              <a:t>Step 5: NCOER formula</a:t>
            </a:r>
          </a:p>
          <a:p>
            <a:pPr marL="0" lvl="1" algn="ctr"/>
            <a:r>
              <a:rPr lang="en-US" sz="1400" b="1" dirty="0">
                <a:latin typeface="Arial" panose="020B0604020202020204" pitchFamily="34" charset="0"/>
                <a:cs typeface="Arial" panose="020B0604020202020204" pitchFamily="34" charset="0"/>
              </a:rPr>
              <a:t>Combine information into the formula  </a:t>
            </a:r>
          </a:p>
          <a:p>
            <a:pPr marL="2857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Action verb: improved, increased, achieved, influenced…</a:t>
            </a:r>
          </a:p>
          <a:p>
            <a:pPr marL="2857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Numeration: 15 soldiers/ 25 points/ 2 passing/ 4 months/ 90 days…..</a:t>
            </a:r>
          </a:p>
          <a:p>
            <a:pPr marL="285750" lvl="1" indent="-285750">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p:txBody>
      </p:sp>
      <p:sp>
        <p:nvSpPr>
          <p:cNvPr id="2" name="Rectangle 1"/>
          <p:cNvSpPr/>
          <p:nvPr/>
        </p:nvSpPr>
        <p:spPr>
          <a:xfrm>
            <a:off x="7997918" y="968036"/>
            <a:ext cx="3679659" cy="307777"/>
          </a:xfrm>
          <a:prstGeom prst="rect">
            <a:avLst/>
          </a:prstGeom>
        </p:spPr>
        <p:txBody>
          <a:bodyPr wrap="square">
            <a:spAutoFit/>
          </a:bodyPr>
          <a:lstStyle/>
          <a:p>
            <a:pPr algn="ctr"/>
            <a:r>
              <a:rPr lang="en-US" sz="1400" dirty="0">
                <a:solidFill>
                  <a:srgbClr val="7030A0"/>
                </a:solidFill>
              </a:rPr>
              <a:t>This slide contains bias or partiality.  </a:t>
            </a:r>
          </a:p>
        </p:txBody>
      </p:sp>
    </p:spTree>
    <p:extLst>
      <p:ext uri="{BB962C8B-B14F-4D97-AF65-F5344CB8AC3E}">
        <p14:creationId xmlns:p14="http://schemas.microsoft.com/office/powerpoint/2010/main" val="2915795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9722"/>
            <a:ext cx="12191999" cy="1138773"/>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Making Magic </a:t>
            </a:r>
          </a:p>
          <a:p>
            <a:pPr algn="ctr"/>
            <a:r>
              <a:rPr lang="en-US" sz="3200" dirty="0">
                <a:latin typeface="Arial" panose="020B0604020202020204" pitchFamily="34" charset="0"/>
                <a:cs typeface="Arial" panose="020B0604020202020204" pitchFamily="34" charset="0"/>
              </a:rPr>
              <a:t>Composing a Silver Bullet </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7" name="TextBox 6"/>
          <p:cNvSpPr txBox="1"/>
          <p:nvPr/>
        </p:nvSpPr>
        <p:spPr>
          <a:xfrm>
            <a:off x="136478" y="1283738"/>
            <a:ext cx="5786650" cy="2569934"/>
          </a:xfrm>
          <a:prstGeom prst="rect">
            <a:avLst/>
          </a:prstGeom>
          <a:noFill/>
          <a:ln>
            <a:solidFill>
              <a:schemeClr val="tx1"/>
            </a:solidFill>
          </a:ln>
        </p:spPr>
        <p:txBody>
          <a:bodyPr wrap="square" rtlCol="0">
            <a:spAutoFit/>
          </a:bodyPr>
          <a:lstStyle/>
          <a:p>
            <a:pPr algn="ctr"/>
            <a:r>
              <a:rPr lang="en-US" sz="1400" b="1" dirty="0">
                <a:latin typeface="Arial" panose="020B0604020202020204" pitchFamily="34" charset="0"/>
                <a:cs typeface="Arial" panose="020B0604020202020204" pitchFamily="34" charset="0"/>
              </a:rPr>
              <a:t>Task: Conducted PT sessions </a:t>
            </a:r>
          </a:p>
          <a:p>
            <a:pPr algn="ctr"/>
            <a:endParaRPr lang="en-US" sz="1050" b="1"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Data: </a:t>
            </a:r>
            <a:r>
              <a:rPr lang="en-US" sz="1400" dirty="0">
                <a:latin typeface="Arial" panose="020B0604020202020204" pitchFamily="34" charset="0"/>
                <a:cs typeface="Arial" panose="020B0604020202020204" pitchFamily="34" charset="0"/>
              </a:rPr>
              <a:t>(duration:4 months, audience: section, results: no failures and increased average by 25 points) </a:t>
            </a:r>
          </a:p>
          <a:p>
            <a:endParaRPr lang="en-US" sz="105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Example Bullets: </a:t>
            </a:r>
          </a:p>
          <a:p>
            <a:r>
              <a:rPr lang="en-US" sz="1400" dirty="0">
                <a:solidFill>
                  <a:schemeClr val="accent2">
                    <a:lumMod val="75000"/>
                  </a:schemeClr>
                </a:solidFill>
                <a:latin typeface="Arial" panose="020B0604020202020204" pitchFamily="34" charset="0"/>
                <a:cs typeface="Arial" panose="020B0604020202020204" pitchFamily="34" charset="0"/>
              </a:rPr>
              <a:t>o conducted section PT for four months; increased section APFT average by 25 points</a:t>
            </a:r>
          </a:p>
          <a:p>
            <a:r>
              <a:rPr lang="en-US" sz="1400" dirty="0">
                <a:solidFill>
                  <a:schemeClr val="accent5">
                    <a:lumMod val="75000"/>
                  </a:schemeClr>
                </a:solidFill>
                <a:latin typeface="Arial" panose="020B0604020202020204" pitchFamily="34" charset="0"/>
                <a:cs typeface="Arial" panose="020B0604020202020204" pitchFamily="34" charset="0"/>
              </a:rPr>
              <a:t>o developed a 90-day APFT improvement plan; increased section's average by 25 points by eliminating APFT failures</a:t>
            </a:r>
          </a:p>
          <a:p>
            <a:r>
              <a:rPr lang="en-US" sz="1400" dirty="0">
                <a:solidFill>
                  <a:schemeClr val="accent6">
                    <a:lumMod val="50000"/>
                  </a:schemeClr>
                </a:solidFill>
                <a:latin typeface="Arial" panose="020B0604020202020204" pitchFamily="34" charset="0"/>
                <a:cs typeface="Arial" panose="020B0604020202020204" pitchFamily="34" charset="0"/>
              </a:rPr>
              <a:t>o improved (section’s name) ACFT program; increased average by 25 points, eliminated failures, and improved individual scores by 15 points</a:t>
            </a:r>
          </a:p>
        </p:txBody>
      </p:sp>
      <p:sp>
        <p:nvSpPr>
          <p:cNvPr id="8" name="TextBox 7"/>
          <p:cNvSpPr txBox="1"/>
          <p:nvPr/>
        </p:nvSpPr>
        <p:spPr>
          <a:xfrm>
            <a:off x="136478" y="3948539"/>
            <a:ext cx="5786650" cy="2569934"/>
          </a:xfrm>
          <a:prstGeom prst="rect">
            <a:avLst/>
          </a:prstGeom>
          <a:noFill/>
          <a:ln>
            <a:solidFill>
              <a:schemeClr val="tx1"/>
            </a:solidFill>
          </a:ln>
        </p:spPr>
        <p:txBody>
          <a:bodyPr wrap="square" rtlCol="0">
            <a:spAutoFit/>
          </a:bodyPr>
          <a:lstStyle/>
          <a:p>
            <a:pPr algn="ctr"/>
            <a:r>
              <a:rPr lang="en-US" sz="1400" b="1" dirty="0">
                <a:latin typeface="Arial" panose="020B0604020202020204" pitchFamily="34" charset="0"/>
                <a:cs typeface="Arial" panose="020B0604020202020204" pitchFamily="34" charset="0"/>
              </a:rPr>
              <a:t>Task: Provided daily threat briefings</a:t>
            </a:r>
          </a:p>
          <a:p>
            <a:pPr algn="ctr"/>
            <a:endParaRPr lang="en-US" sz="1000" b="1"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Data: </a:t>
            </a:r>
            <a:r>
              <a:rPr lang="en-US" sz="1400" dirty="0">
                <a:latin typeface="Arial" panose="020B0604020202020204" pitchFamily="34" charset="0"/>
                <a:cs typeface="Arial" panose="020B0604020202020204" pitchFamily="34" charset="0"/>
              </a:rPr>
              <a:t>(Quantity: 10 briefings, audience: CG &amp;staff, purpose: identify threats to mission/unit and potential impact)</a:t>
            </a:r>
          </a:p>
          <a:p>
            <a:endParaRPr lang="en-US" sz="10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Example Bullets: </a:t>
            </a:r>
          </a:p>
          <a:p>
            <a:r>
              <a:rPr lang="en-US" sz="1400" dirty="0">
                <a:solidFill>
                  <a:schemeClr val="accent2">
                    <a:lumMod val="75000"/>
                  </a:schemeClr>
                </a:solidFill>
                <a:latin typeface="Arial" panose="020B0604020202020204" pitchFamily="34" charset="0"/>
                <a:cs typeface="Arial" panose="020B0604020202020204" pitchFamily="34" charset="0"/>
              </a:rPr>
              <a:t>o conducted 10 daily threat briefings to command and staff, resulted in increased situational awareness</a:t>
            </a:r>
          </a:p>
          <a:p>
            <a:r>
              <a:rPr lang="en-US" sz="1400" dirty="0">
                <a:solidFill>
                  <a:schemeClr val="accent2">
                    <a:lumMod val="75000"/>
                  </a:schemeClr>
                </a:solidFill>
                <a:latin typeface="Arial" panose="020B0604020202020204" pitchFamily="34" charset="0"/>
                <a:cs typeface="Arial" panose="020B0604020202020204" pitchFamily="34" charset="0"/>
              </a:rPr>
              <a:t> </a:t>
            </a:r>
            <a:r>
              <a:rPr lang="en-US" sz="1400" dirty="0">
                <a:solidFill>
                  <a:schemeClr val="accent5">
                    <a:lumMod val="75000"/>
                  </a:schemeClr>
                </a:solidFill>
                <a:latin typeface="Arial" panose="020B0604020202020204" pitchFamily="34" charset="0"/>
                <a:cs typeface="Arial" panose="020B0604020202020204" pitchFamily="34" charset="0"/>
              </a:rPr>
              <a:t>o identified critical intelligence gaps during MDMP; judiciously integrated threats and impact analysis during 10 command briefs </a:t>
            </a:r>
          </a:p>
          <a:p>
            <a:r>
              <a:rPr lang="en-US" sz="1400" dirty="0">
                <a:solidFill>
                  <a:schemeClr val="accent6">
                    <a:lumMod val="50000"/>
                  </a:schemeClr>
                </a:solidFill>
                <a:latin typeface="Arial" panose="020B0604020202020204" pitchFamily="34" charset="0"/>
                <a:cs typeface="Arial" panose="020B0604020202020204" pitchFamily="34" charset="0"/>
              </a:rPr>
              <a:t>o demonstrated analytical expertise in 10 staff threats briefings; consistently provided timely, accurate, and actionable intelligence</a:t>
            </a:r>
          </a:p>
        </p:txBody>
      </p:sp>
      <p:sp>
        <p:nvSpPr>
          <p:cNvPr id="10" name="TextBox 9"/>
          <p:cNvSpPr txBox="1"/>
          <p:nvPr/>
        </p:nvSpPr>
        <p:spPr>
          <a:xfrm>
            <a:off x="6168792" y="1280275"/>
            <a:ext cx="5786650" cy="2677656"/>
          </a:xfrm>
          <a:prstGeom prst="rect">
            <a:avLst/>
          </a:prstGeom>
          <a:noFill/>
          <a:ln>
            <a:solidFill>
              <a:schemeClr val="tx1"/>
            </a:solidFill>
          </a:ln>
        </p:spPr>
        <p:txBody>
          <a:bodyPr wrap="square" rtlCol="0">
            <a:spAutoFit/>
          </a:bodyPr>
          <a:lstStyle/>
          <a:p>
            <a:pPr algn="ctr"/>
            <a:r>
              <a:rPr lang="en-US" sz="1400" b="1" dirty="0">
                <a:latin typeface="Arial" panose="020B0604020202020204" pitchFamily="34" charset="0"/>
                <a:cs typeface="Arial" panose="020B0604020202020204" pitchFamily="34" charset="0"/>
              </a:rPr>
              <a:t>Task: Conducted PMI for a range and was a range safety</a:t>
            </a:r>
          </a:p>
          <a:p>
            <a:pPr algn="ctr"/>
            <a:endParaRPr lang="en-US" sz="1400" b="1"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Data: </a:t>
            </a:r>
            <a:r>
              <a:rPr lang="en-US" sz="1400" dirty="0">
                <a:latin typeface="Arial" panose="020B0604020202020204" pitchFamily="34" charset="0"/>
                <a:cs typeface="Arial" panose="020B0604020202020204" pitchFamily="34" charset="0"/>
              </a:rPr>
              <a:t>(audience: 40 unqualified Soldiers, level: Company; what: 2</a:t>
            </a:r>
            <a:r>
              <a:rPr lang="en-US" sz="1400" baseline="30000" dirty="0">
                <a:latin typeface="Arial" panose="020B0604020202020204" pitchFamily="34" charset="0"/>
                <a:cs typeface="Arial" panose="020B0604020202020204" pitchFamily="34" charset="0"/>
              </a:rPr>
              <a:t>nd</a:t>
            </a:r>
            <a:r>
              <a:rPr lang="en-US" sz="1400" dirty="0">
                <a:latin typeface="Arial" panose="020B0604020202020204" pitchFamily="34" charset="0"/>
                <a:cs typeface="Arial" panose="020B0604020202020204" pitchFamily="34" charset="0"/>
              </a:rPr>
              <a:t> Qtr. range, results: 37 qualified/ 3unqualified) </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Example Bullets: </a:t>
            </a:r>
          </a:p>
          <a:p>
            <a:r>
              <a:rPr lang="en-US" sz="1400" dirty="0">
                <a:solidFill>
                  <a:schemeClr val="accent2">
                    <a:lumMod val="75000"/>
                  </a:schemeClr>
                </a:solidFill>
                <a:latin typeface="Arial" panose="020B0604020202020204" pitchFamily="34" charset="0"/>
                <a:cs typeface="Arial" panose="020B0604020202020204" pitchFamily="34" charset="0"/>
              </a:rPr>
              <a:t>o conducted PMI for 40 Soldiers in preparation of  2</a:t>
            </a:r>
            <a:r>
              <a:rPr lang="en-US" sz="1400" baseline="30000" dirty="0">
                <a:solidFill>
                  <a:schemeClr val="accent2">
                    <a:lumMod val="75000"/>
                  </a:schemeClr>
                </a:solidFill>
                <a:latin typeface="Arial" panose="020B0604020202020204" pitchFamily="34" charset="0"/>
                <a:cs typeface="Arial" panose="020B0604020202020204" pitchFamily="34" charset="0"/>
              </a:rPr>
              <a:t>nd</a:t>
            </a:r>
            <a:r>
              <a:rPr lang="en-US" sz="1400" dirty="0">
                <a:solidFill>
                  <a:schemeClr val="accent2">
                    <a:lumMod val="75000"/>
                  </a:schemeClr>
                </a:solidFill>
                <a:latin typeface="Arial" panose="020B0604020202020204" pitchFamily="34" charset="0"/>
                <a:cs typeface="Arial" panose="020B0604020202020204" pitchFamily="34" charset="0"/>
              </a:rPr>
              <a:t> quarter M4 qualification range </a:t>
            </a:r>
          </a:p>
          <a:p>
            <a:r>
              <a:rPr lang="en-US" sz="1400" dirty="0">
                <a:solidFill>
                  <a:schemeClr val="accent5">
                    <a:lumMod val="75000"/>
                  </a:schemeClr>
                </a:solidFill>
                <a:latin typeface="Arial" panose="020B0604020202020204" pitchFamily="34" charset="0"/>
                <a:cs typeface="Arial" panose="020B0604020202020204" pitchFamily="34" charset="0"/>
              </a:rPr>
              <a:t>o provided company level preliminary marksmanship instructions; prepared 40 Soldiers to qualify at M4 range</a:t>
            </a:r>
          </a:p>
          <a:p>
            <a:r>
              <a:rPr lang="en-US" sz="1400" dirty="0">
                <a:solidFill>
                  <a:schemeClr val="accent6">
                    <a:lumMod val="50000"/>
                  </a:schemeClr>
                </a:solidFill>
                <a:latin typeface="Arial" panose="020B0604020202020204" pitchFamily="34" charset="0"/>
                <a:cs typeface="Arial" panose="020B0604020202020204" pitchFamily="34" charset="0"/>
              </a:rPr>
              <a:t>o increased company readiness by 92%; provided 40 Soldiers PMI, resulted in 37 additional M4 qualified Soldiers in 2nd QTR</a:t>
            </a:r>
          </a:p>
        </p:txBody>
      </p:sp>
      <p:sp>
        <p:nvSpPr>
          <p:cNvPr id="11" name="TextBox 10"/>
          <p:cNvSpPr txBox="1"/>
          <p:nvPr/>
        </p:nvSpPr>
        <p:spPr>
          <a:xfrm>
            <a:off x="6168792" y="4057868"/>
            <a:ext cx="5786650" cy="2462213"/>
          </a:xfrm>
          <a:prstGeom prst="rect">
            <a:avLst/>
          </a:prstGeom>
          <a:noFill/>
          <a:ln>
            <a:solidFill>
              <a:schemeClr val="tx1"/>
            </a:solidFill>
          </a:ln>
        </p:spPr>
        <p:txBody>
          <a:bodyPr wrap="square" rtlCol="0">
            <a:spAutoFit/>
          </a:bodyPr>
          <a:lstStyle/>
          <a:p>
            <a:r>
              <a:rPr lang="en-US" sz="1400" b="1" dirty="0">
                <a:latin typeface="Arial" panose="020B0604020202020204" pitchFamily="34" charset="0"/>
                <a:cs typeface="Arial" panose="020B0604020202020204" pitchFamily="34" charset="0"/>
              </a:rPr>
              <a:t>Task: Conducted gate guard/staff duty for an extended period</a:t>
            </a:r>
          </a:p>
          <a:p>
            <a:endParaRPr lang="en-US" sz="1400" b="1"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Data: </a:t>
            </a:r>
            <a:r>
              <a:rPr lang="en-US" sz="1400" dirty="0">
                <a:latin typeface="Arial" panose="020B0604020202020204" pitchFamily="34" charset="0"/>
                <a:cs typeface="Arial" panose="020B0604020202020204" pitchFamily="34" charset="0"/>
              </a:rPr>
              <a:t>(length: 90 days 1gate/24hrs, location: installation; Role: manage military personnel, establish shifts/rotation, 10 man detail) </a:t>
            </a:r>
          </a:p>
          <a:p>
            <a:endParaRPr lang="en-US" sz="1400" b="1"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Example Bullets: </a:t>
            </a:r>
          </a:p>
          <a:p>
            <a:r>
              <a:rPr lang="en-US" sz="1400" dirty="0">
                <a:solidFill>
                  <a:schemeClr val="accent2">
                    <a:lumMod val="75000"/>
                  </a:schemeClr>
                </a:solidFill>
                <a:latin typeface="Arial" panose="020B0604020202020204" pitchFamily="34" charset="0"/>
                <a:cs typeface="Arial" panose="020B0604020202020204" pitchFamily="34" charset="0"/>
              </a:rPr>
              <a:t>o managed a 10 Soldier detail for installation security for 90 days</a:t>
            </a:r>
          </a:p>
          <a:p>
            <a:r>
              <a:rPr lang="en-US" sz="1400" dirty="0">
                <a:solidFill>
                  <a:schemeClr val="accent5">
                    <a:lumMod val="75000"/>
                  </a:schemeClr>
                </a:solidFill>
                <a:latin typeface="Arial" panose="020B0604020202020204" pitchFamily="34" charset="0"/>
                <a:cs typeface="Arial" panose="020B0604020202020204" pitchFamily="34" charset="0"/>
              </a:rPr>
              <a:t>o planned and managed over 2100 hours of installation security; provided expert security service without incident for 90 days </a:t>
            </a:r>
          </a:p>
          <a:p>
            <a:r>
              <a:rPr lang="en-US" sz="1400" dirty="0">
                <a:solidFill>
                  <a:schemeClr val="accent6">
                    <a:lumMod val="50000"/>
                  </a:schemeClr>
                </a:solidFill>
                <a:latin typeface="Arial" panose="020B0604020202020204" pitchFamily="34" charset="0"/>
                <a:cs typeface="Arial" panose="020B0604020202020204" pitchFamily="34" charset="0"/>
              </a:rPr>
              <a:t>o supervised 10 Soldiers and 2100 hours of force protection; maintained Ft. Bliss' first line defense for 90 days without incident</a:t>
            </a:r>
          </a:p>
        </p:txBody>
      </p:sp>
      <p:sp>
        <p:nvSpPr>
          <p:cNvPr id="12" name="TextBox 11"/>
          <p:cNvSpPr txBox="1"/>
          <p:nvPr/>
        </p:nvSpPr>
        <p:spPr>
          <a:xfrm>
            <a:off x="136478" y="6501824"/>
            <a:ext cx="2055607" cy="338554"/>
          </a:xfrm>
          <a:prstGeom prst="rect">
            <a:avLst/>
          </a:prstGeom>
          <a:noFill/>
        </p:spPr>
        <p:txBody>
          <a:bodyPr wrap="square" rtlCol="0">
            <a:spAutoFit/>
          </a:bodyPr>
          <a:lstStyle/>
          <a:p>
            <a:pPr algn="ctr"/>
            <a:r>
              <a:rPr lang="en-US" sz="1600" dirty="0">
                <a:solidFill>
                  <a:schemeClr val="accent2">
                    <a:lumMod val="75000"/>
                  </a:schemeClr>
                </a:solidFill>
              </a:rPr>
              <a:t>Met Standard </a:t>
            </a:r>
          </a:p>
        </p:txBody>
      </p:sp>
      <p:sp>
        <p:nvSpPr>
          <p:cNvPr id="13" name="TextBox 12"/>
          <p:cNvSpPr txBox="1"/>
          <p:nvPr/>
        </p:nvSpPr>
        <p:spPr>
          <a:xfrm>
            <a:off x="3510072" y="6502413"/>
            <a:ext cx="2513137" cy="338554"/>
          </a:xfrm>
          <a:prstGeom prst="rect">
            <a:avLst/>
          </a:prstGeom>
          <a:noFill/>
        </p:spPr>
        <p:txBody>
          <a:bodyPr wrap="square" rtlCol="0">
            <a:spAutoFit/>
          </a:bodyPr>
          <a:lstStyle/>
          <a:p>
            <a:pPr algn="ctr"/>
            <a:r>
              <a:rPr lang="en-US" sz="1600" dirty="0">
                <a:solidFill>
                  <a:srgbClr val="002060"/>
                </a:solidFill>
              </a:rPr>
              <a:t>Exceeded  Standard</a:t>
            </a:r>
          </a:p>
        </p:txBody>
      </p:sp>
      <p:sp>
        <p:nvSpPr>
          <p:cNvPr id="14" name="TextBox 13"/>
          <p:cNvSpPr txBox="1"/>
          <p:nvPr/>
        </p:nvSpPr>
        <p:spPr>
          <a:xfrm>
            <a:off x="7997591" y="6502413"/>
            <a:ext cx="2129051" cy="338554"/>
          </a:xfrm>
          <a:prstGeom prst="rect">
            <a:avLst/>
          </a:prstGeom>
          <a:noFill/>
        </p:spPr>
        <p:txBody>
          <a:bodyPr wrap="square" rtlCol="0">
            <a:spAutoFit/>
          </a:bodyPr>
          <a:lstStyle/>
          <a:p>
            <a:pPr algn="ctr"/>
            <a:r>
              <a:rPr lang="en-US" sz="1600" dirty="0">
                <a:solidFill>
                  <a:schemeClr val="accent6">
                    <a:lumMod val="50000"/>
                  </a:schemeClr>
                </a:solidFill>
              </a:rPr>
              <a:t>Far Exceeded  Standard </a:t>
            </a:r>
          </a:p>
        </p:txBody>
      </p:sp>
    </p:spTree>
    <p:extLst>
      <p:ext uri="{BB962C8B-B14F-4D97-AF65-F5344CB8AC3E}">
        <p14:creationId xmlns:p14="http://schemas.microsoft.com/office/powerpoint/2010/main" val="711369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 y="0"/>
            <a:ext cx="12191999" cy="1138773"/>
          </a:xfrm>
          <a:prstGeom prst="rect">
            <a:avLst/>
          </a:prstGeom>
          <a:noFill/>
        </p:spPr>
        <p:txBody>
          <a:bodyPr wrap="square" rtlCol="0">
            <a:spAutoFit/>
          </a:bodyPr>
          <a:lstStyle/>
          <a:p>
            <a:pPr algn="ctr"/>
            <a:r>
              <a:rPr lang="en-US" sz="3600" b="1" dirty="0">
                <a:latin typeface="Calisto MT" panose="02040603050505030304" pitchFamily="18" charset="0"/>
              </a:rPr>
              <a:t>Action Verbs  </a:t>
            </a:r>
          </a:p>
          <a:p>
            <a:pPr algn="ctr"/>
            <a:r>
              <a:rPr lang="en-US" sz="3200" dirty="0">
                <a:latin typeface="Calisto MT" panose="02040603050505030304" pitchFamily="18" charset="0"/>
              </a:rPr>
              <a:t>All bullets must start with an action verb</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7" name="Rectangle 6"/>
          <p:cNvSpPr/>
          <p:nvPr/>
        </p:nvSpPr>
        <p:spPr>
          <a:xfrm>
            <a:off x="0" y="1343406"/>
            <a:ext cx="1897039" cy="5539978"/>
          </a:xfrm>
          <a:prstGeom prst="rect">
            <a:avLst/>
          </a:prstGeom>
        </p:spPr>
        <p:txBody>
          <a:bodyPr wrap="square">
            <a:spAutoFit/>
          </a:bodyPr>
          <a:lstStyle/>
          <a:p>
            <a:r>
              <a:rPr lang="en-US" sz="1600" b="1" dirty="0"/>
              <a:t>Management/</a:t>
            </a:r>
          </a:p>
          <a:p>
            <a:r>
              <a:rPr lang="en-US" sz="1600" b="1" dirty="0"/>
              <a:t>Leadership Skills</a:t>
            </a:r>
          </a:p>
          <a:p>
            <a:r>
              <a:rPr lang="en-US" sz="1400" dirty="0"/>
              <a:t>administered</a:t>
            </a:r>
          </a:p>
          <a:p>
            <a:r>
              <a:rPr lang="en-US" sz="1400" dirty="0"/>
              <a:t>analyzed</a:t>
            </a:r>
          </a:p>
          <a:p>
            <a:r>
              <a:rPr lang="en-US" sz="1400" dirty="0"/>
              <a:t>appointed</a:t>
            </a:r>
          </a:p>
          <a:p>
            <a:r>
              <a:rPr lang="en-US" sz="1400" dirty="0"/>
              <a:t>approved</a:t>
            </a:r>
          </a:p>
          <a:p>
            <a:r>
              <a:rPr lang="en-US" sz="1400" dirty="0"/>
              <a:t>assigned</a:t>
            </a:r>
          </a:p>
          <a:p>
            <a:r>
              <a:rPr lang="en-US" sz="1400" dirty="0"/>
              <a:t>attained</a:t>
            </a:r>
          </a:p>
          <a:p>
            <a:r>
              <a:rPr lang="en-US" sz="1400" dirty="0"/>
              <a:t>authorized</a:t>
            </a:r>
          </a:p>
          <a:p>
            <a:r>
              <a:rPr lang="en-US" sz="1400" dirty="0"/>
              <a:t>chaired</a:t>
            </a:r>
          </a:p>
          <a:p>
            <a:r>
              <a:rPr lang="en-US" sz="1400" dirty="0"/>
              <a:t>considered</a:t>
            </a:r>
          </a:p>
          <a:p>
            <a:r>
              <a:rPr lang="en-US" sz="1400" dirty="0"/>
              <a:t>consolidated</a:t>
            </a:r>
          </a:p>
          <a:p>
            <a:r>
              <a:rPr lang="en-US" sz="1400" dirty="0"/>
              <a:t>contracted</a:t>
            </a:r>
          </a:p>
          <a:p>
            <a:r>
              <a:rPr lang="en-US" sz="1400" dirty="0"/>
              <a:t>controlled</a:t>
            </a:r>
          </a:p>
          <a:p>
            <a:r>
              <a:rPr lang="en-US" sz="1400" dirty="0"/>
              <a:t>converted</a:t>
            </a:r>
          </a:p>
          <a:p>
            <a:r>
              <a:rPr lang="en-US" sz="1400" dirty="0"/>
              <a:t>coordinated</a:t>
            </a:r>
          </a:p>
          <a:p>
            <a:r>
              <a:rPr lang="en-US" sz="1400" dirty="0"/>
              <a:t>decided</a:t>
            </a:r>
          </a:p>
          <a:p>
            <a:r>
              <a:rPr lang="en-US" sz="1400" dirty="0"/>
              <a:t>delegated</a:t>
            </a:r>
          </a:p>
          <a:p>
            <a:r>
              <a:rPr lang="en-US" sz="1400" dirty="0"/>
              <a:t>developed</a:t>
            </a:r>
          </a:p>
          <a:p>
            <a:r>
              <a:rPr lang="en-US" sz="1400" dirty="0"/>
              <a:t>Directed</a:t>
            </a:r>
          </a:p>
          <a:p>
            <a:r>
              <a:rPr lang="en-US" sz="1400" dirty="0"/>
              <a:t>eliminated</a:t>
            </a:r>
          </a:p>
          <a:p>
            <a:r>
              <a:rPr lang="en-US" sz="1400" dirty="0"/>
              <a:t>emphasized</a:t>
            </a:r>
          </a:p>
          <a:p>
            <a:r>
              <a:rPr lang="en-US" sz="1400" dirty="0"/>
              <a:t>enforced</a:t>
            </a:r>
          </a:p>
          <a:p>
            <a:r>
              <a:rPr lang="en-US" sz="1400" dirty="0"/>
              <a:t>enhanced</a:t>
            </a:r>
          </a:p>
          <a:p>
            <a:r>
              <a:rPr lang="en-US" sz="1400" dirty="0"/>
              <a:t>established</a:t>
            </a:r>
          </a:p>
        </p:txBody>
      </p:sp>
      <p:sp>
        <p:nvSpPr>
          <p:cNvPr id="8" name="Rectangle 7"/>
          <p:cNvSpPr/>
          <p:nvPr/>
        </p:nvSpPr>
        <p:spPr>
          <a:xfrm>
            <a:off x="1608160" y="1343406"/>
            <a:ext cx="1421643" cy="5478423"/>
          </a:xfrm>
          <a:prstGeom prst="rect">
            <a:avLst/>
          </a:prstGeom>
        </p:spPr>
        <p:txBody>
          <a:bodyPr wrap="square">
            <a:spAutoFit/>
          </a:bodyPr>
          <a:lstStyle/>
          <a:p>
            <a:r>
              <a:rPr lang="en-US" sz="1400" dirty="0"/>
              <a:t>executed</a:t>
            </a:r>
          </a:p>
          <a:p>
            <a:r>
              <a:rPr lang="en-US" sz="1400" dirty="0"/>
              <a:t>generated</a:t>
            </a:r>
          </a:p>
          <a:p>
            <a:r>
              <a:rPr lang="en-US" sz="1400" dirty="0"/>
              <a:t>handled</a:t>
            </a:r>
          </a:p>
          <a:p>
            <a:r>
              <a:rPr lang="en-US" sz="1400" dirty="0"/>
              <a:t>headed</a:t>
            </a:r>
          </a:p>
          <a:p>
            <a:r>
              <a:rPr lang="en-US" sz="1400" dirty="0"/>
              <a:t>hired</a:t>
            </a:r>
          </a:p>
          <a:p>
            <a:r>
              <a:rPr lang="en-US" sz="1400" dirty="0"/>
              <a:t>hosted</a:t>
            </a:r>
          </a:p>
          <a:p>
            <a:r>
              <a:rPr lang="en-US" sz="1400" dirty="0"/>
              <a:t>improved</a:t>
            </a:r>
          </a:p>
          <a:p>
            <a:r>
              <a:rPr lang="en-US" sz="1400" dirty="0"/>
              <a:t>incorporated</a:t>
            </a:r>
          </a:p>
          <a:p>
            <a:r>
              <a:rPr lang="en-US" sz="1400" dirty="0"/>
              <a:t>increased</a:t>
            </a:r>
          </a:p>
          <a:p>
            <a:r>
              <a:rPr lang="en-US" sz="1400" dirty="0"/>
              <a:t>initiated</a:t>
            </a:r>
          </a:p>
          <a:p>
            <a:r>
              <a:rPr lang="en-US" sz="1400" dirty="0"/>
              <a:t>inspected</a:t>
            </a:r>
          </a:p>
          <a:p>
            <a:r>
              <a:rPr lang="en-US" sz="1400" dirty="0"/>
              <a:t>instituted</a:t>
            </a:r>
          </a:p>
          <a:p>
            <a:r>
              <a:rPr lang="en-US" sz="1400" dirty="0"/>
              <a:t>led</a:t>
            </a:r>
          </a:p>
          <a:p>
            <a:r>
              <a:rPr lang="en-US" sz="1400" dirty="0"/>
              <a:t>managed</a:t>
            </a:r>
          </a:p>
          <a:p>
            <a:r>
              <a:rPr lang="en-US" sz="1400" dirty="0"/>
              <a:t>Merged</a:t>
            </a:r>
          </a:p>
          <a:p>
            <a:r>
              <a:rPr lang="en-US" sz="1400" dirty="0"/>
              <a:t>motivated</a:t>
            </a:r>
          </a:p>
          <a:p>
            <a:r>
              <a:rPr lang="en-US" sz="1400" dirty="0"/>
              <a:t>organized</a:t>
            </a:r>
          </a:p>
          <a:p>
            <a:r>
              <a:rPr lang="en-US" sz="1400" dirty="0"/>
              <a:t>originated</a:t>
            </a:r>
          </a:p>
          <a:p>
            <a:r>
              <a:rPr lang="en-US" sz="1400" dirty="0"/>
              <a:t>overhauled</a:t>
            </a:r>
          </a:p>
          <a:p>
            <a:r>
              <a:rPr lang="en-US" sz="1400" dirty="0"/>
              <a:t>oversaw</a:t>
            </a:r>
          </a:p>
          <a:p>
            <a:r>
              <a:rPr lang="en-US" sz="1400" dirty="0"/>
              <a:t>planned</a:t>
            </a:r>
          </a:p>
          <a:p>
            <a:r>
              <a:rPr lang="en-US" sz="1400" dirty="0"/>
              <a:t>presided</a:t>
            </a:r>
          </a:p>
          <a:p>
            <a:r>
              <a:rPr lang="en-US" sz="1400" dirty="0"/>
              <a:t>prioritized</a:t>
            </a:r>
          </a:p>
          <a:p>
            <a:r>
              <a:rPr lang="en-US" sz="1400" dirty="0"/>
              <a:t>produced</a:t>
            </a:r>
          </a:p>
          <a:p>
            <a:r>
              <a:rPr lang="en-US" sz="1400" dirty="0"/>
              <a:t>recommended</a:t>
            </a:r>
          </a:p>
        </p:txBody>
      </p:sp>
      <p:sp>
        <p:nvSpPr>
          <p:cNvPr id="10" name="Rectangle 9"/>
          <p:cNvSpPr/>
          <p:nvPr/>
        </p:nvSpPr>
        <p:spPr>
          <a:xfrm>
            <a:off x="2925826" y="1343406"/>
            <a:ext cx="1712137" cy="5324535"/>
          </a:xfrm>
          <a:prstGeom prst="rect">
            <a:avLst/>
          </a:prstGeom>
        </p:spPr>
        <p:txBody>
          <a:bodyPr wrap="square">
            <a:spAutoFit/>
          </a:bodyPr>
          <a:lstStyle/>
          <a:p>
            <a:pPr lvl="0"/>
            <a:r>
              <a:rPr lang="en-US" sz="1400" dirty="0">
                <a:solidFill>
                  <a:prstClr val="black"/>
                </a:solidFill>
              </a:rPr>
              <a:t>reorganized</a:t>
            </a:r>
          </a:p>
          <a:p>
            <a:pPr lvl="0"/>
            <a:r>
              <a:rPr lang="en-US" sz="1400" dirty="0">
                <a:solidFill>
                  <a:prstClr val="black"/>
                </a:solidFill>
              </a:rPr>
              <a:t>replaced</a:t>
            </a:r>
          </a:p>
          <a:p>
            <a:pPr lvl="0"/>
            <a:r>
              <a:rPr lang="en-US" sz="1400" dirty="0">
                <a:solidFill>
                  <a:prstClr val="black"/>
                </a:solidFill>
              </a:rPr>
              <a:t>restored</a:t>
            </a:r>
          </a:p>
          <a:p>
            <a:pPr lvl="0"/>
            <a:r>
              <a:rPr lang="en-US" sz="1400" dirty="0">
                <a:solidFill>
                  <a:prstClr val="black"/>
                </a:solidFill>
              </a:rPr>
              <a:t>reviewed</a:t>
            </a:r>
          </a:p>
          <a:p>
            <a:pPr lvl="0"/>
            <a:r>
              <a:rPr lang="en-US" sz="1400" dirty="0">
                <a:solidFill>
                  <a:prstClr val="black"/>
                </a:solidFill>
              </a:rPr>
              <a:t>scheduled </a:t>
            </a:r>
          </a:p>
          <a:p>
            <a:pPr lvl="0"/>
            <a:r>
              <a:rPr lang="en-US" sz="1400" dirty="0">
                <a:solidFill>
                  <a:prstClr val="black"/>
                </a:solidFill>
              </a:rPr>
              <a:t>streamlined</a:t>
            </a:r>
          </a:p>
          <a:p>
            <a:pPr lvl="0"/>
            <a:r>
              <a:rPr lang="en-US" sz="1400" dirty="0">
                <a:solidFill>
                  <a:prstClr val="black"/>
                </a:solidFill>
              </a:rPr>
              <a:t>Strengthened</a:t>
            </a:r>
          </a:p>
          <a:p>
            <a:pPr lvl="0"/>
            <a:r>
              <a:rPr lang="en-US" sz="1400" dirty="0">
                <a:solidFill>
                  <a:prstClr val="black"/>
                </a:solidFill>
              </a:rPr>
              <a:t>supervised</a:t>
            </a:r>
          </a:p>
          <a:p>
            <a:pPr lvl="0"/>
            <a:r>
              <a:rPr lang="en-US" sz="1400" dirty="0">
                <a:solidFill>
                  <a:prstClr val="black"/>
                </a:solidFill>
              </a:rPr>
              <a:t>terminated</a:t>
            </a:r>
          </a:p>
          <a:p>
            <a:pPr lvl="0"/>
            <a:r>
              <a:rPr lang="en-US" sz="1600" b="1" dirty="0">
                <a:solidFill>
                  <a:prstClr val="black"/>
                </a:solidFill>
              </a:rPr>
              <a:t>Communication/</a:t>
            </a:r>
          </a:p>
          <a:p>
            <a:pPr lvl="0"/>
            <a:r>
              <a:rPr lang="en-US" sz="1600" b="1" dirty="0">
                <a:solidFill>
                  <a:prstClr val="black"/>
                </a:solidFill>
              </a:rPr>
              <a:t>People Skills</a:t>
            </a:r>
          </a:p>
          <a:p>
            <a:pPr lvl="0"/>
            <a:r>
              <a:rPr lang="en-US" sz="1400" dirty="0">
                <a:solidFill>
                  <a:prstClr val="black"/>
                </a:solidFill>
              </a:rPr>
              <a:t>addressed</a:t>
            </a:r>
          </a:p>
          <a:p>
            <a:pPr lvl="0"/>
            <a:r>
              <a:rPr lang="en-US" sz="1400" dirty="0">
                <a:solidFill>
                  <a:prstClr val="black"/>
                </a:solidFill>
              </a:rPr>
              <a:t>advertised</a:t>
            </a:r>
          </a:p>
          <a:p>
            <a:pPr lvl="0"/>
            <a:r>
              <a:rPr lang="en-US" sz="1400" dirty="0">
                <a:solidFill>
                  <a:prstClr val="black"/>
                </a:solidFill>
              </a:rPr>
              <a:t>arbitrated</a:t>
            </a:r>
          </a:p>
          <a:p>
            <a:pPr lvl="0"/>
            <a:r>
              <a:rPr lang="en-US" sz="1400" dirty="0">
                <a:solidFill>
                  <a:prstClr val="black"/>
                </a:solidFill>
              </a:rPr>
              <a:t>arranged</a:t>
            </a:r>
          </a:p>
          <a:p>
            <a:pPr lvl="0"/>
            <a:r>
              <a:rPr lang="en-US" sz="1400" dirty="0">
                <a:solidFill>
                  <a:prstClr val="black"/>
                </a:solidFill>
              </a:rPr>
              <a:t>articulated</a:t>
            </a:r>
          </a:p>
          <a:p>
            <a:pPr lvl="0"/>
            <a:r>
              <a:rPr lang="en-US" sz="1400" dirty="0">
                <a:solidFill>
                  <a:prstClr val="black"/>
                </a:solidFill>
              </a:rPr>
              <a:t>authored</a:t>
            </a:r>
          </a:p>
          <a:p>
            <a:pPr lvl="0"/>
            <a:r>
              <a:rPr lang="en-US" sz="1400" dirty="0">
                <a:solidFill>
                  <a:prstClr val="black"/>
                </a:solidFill>
              </a:rPr>
              <a:t>clarified</a:t>
            </a:r>
          </a:p>
          <a:p>
            <a:pPr lvl="0"/>
            <a:r>
              <a:rPr lang="en-US" sz="1400" dirty="0">
                <a:solidFill>
                  <a:prstClr val="black"/>
                </a:solidFill>
              </a:rPr>
              <a:t>collaborated</a:t>
            </a:r>
          </a:p>
          <a:p>
            <a:pPr lvl="0"/>
            <a:r>
              <a:rPr lang="en-US" sz="1400" dirty="0">
                <a:solidFill>
                  <a:prstClr val="black"/>
                </a:solidFill>
              </a:rPr>
              <a:t>communicated</a:t>
            </a:r>
          </a:p>
          <a:p>
            <a:pPr lvl="0"/>
            <a:r>
              <a:rPr lang="en-US" sz="1400" dirty="0">
                <a:solidFill>
                  <a:prstClr val="black"/>
                </a:solidFill>
              </a:rPr>
              <a:t>composed</a:t>
            </a:r>
          </a:p>
          <a:p>
            <a:pPr lvl="0"/>
            <a:r>
              <a:rPr lang="en-US" sz="1400" dirty="0">
                <a:solidFill>
                  <a:prstClr val="black"/>
                </a:solidFill>
              </a:rPr>
              <a:t>condensed</a:t>
            </a:r>
          </a:p>
          <a:p>
            <a:pPr lvl="0"/>
            <a:r>
              <a:rPr lang="en-US" sz="1400" dirty="0">
                <a:solidFill>
                  <a:prstClr val="black"/>
                </a:solidFill>
              </a:rPr>
              <a:t>conferred</a:t>
            </a:r>
          </a:p>
          <a:p>
            <a:pPr lvl="0"/>
            <a:r>
              <a:rPr lang="en-US" sz="1400" dirty="0">
                <a:solidFill>
                  <a:prstClr val="black"/>
                </a:solidFill>
              </a:rPr>
              <a:t>consulted</a:t>
            </a:r>
          </a:p>
        </p:txBody>
      </p:sp>
      <p:sp>
        <p:nvSpPr>
          <p:cNvPr id="11" name="Rectangle 10"/>
          <p:cNvSpPr/>
          <p:nvPr/>
        </p:nvSpPr>
        <p:spPr>
          <a:xfrm>
            <a:off x="4637963" y="1343406"/>
            <a:ext cx="1421643" cy="5262979"/>
          </a:xfrm>
          <a:prstGeom prst="rect">
            <a:avLst/>
          </a:prstGeom>
        </p:spPr>
        <p:txBody>
          <a:bodyPr wrap="square">
            <a:spAutoFit/>
          </a:bodyPr>
          <a:lstStyle/>
          <a:p>
            <a:pPr lvl="0"/>
            <a:r>
              <a:rPr lang="en-US" sz="1400" dirty="0">
                <a:solidFill>
                  <a:prstClr val="black"/>
                </a:solidFill>
              </a:rPr>
              <a:t>contacted</a:t>
            </a:r>
          </a:p>
          <a:p>
            <a:pPr lvl="0"/>
            <a:r>
              <a:rPr lang="en-US" sz="1400" dirty="0">
                <a:solidFill>
                  <a:prstClr val="black"/>
                </a:solidFill>
              </a:rPr>
              <a:t>conveyed</a:t>
            </a:r>
          </a:p>
          <a:p>
            <a:pPr lvl="0"/>
            <a:r>
              <a:rPr lang="en-US" sz="1400" dirty="0">
                <a:solidFill>
                  <a:prstClr val="black"/>
                </a:solidFill>
              </a:rPr>
              <a:t>convinced</a:t>
            </a:r>
          </a:p>
          <a:p>
            <a:pPr lvl="0"/>
            <a:r>
              <a:rPr lang="en-US" sz="1400" dirty="0">
                <a:solidFill>
                  <a:prstClr val="black"/>
                </a:solidFill>
              </a:rPr>
              <a:t>corresponded</a:t>
            </a:r>
          </a:p>
          <a:p>
            <a:pPr lvl="0"/>
            <a:r>
              <a:rPr lang="en-US" sz="1400" dirty="0">
                <a:solidFill>
                  <a:prstClr val="black"/>
                </a:solidFill>
              </a:rPr>
              <a:t>debated</a:t>
            </a:r>
          </a:p>
          <a:p>
            <a:pPr lvl="0"/>
            <a:r>
              <a:rPr lang="en-US" sz="1400" dirty="0">
                <a:solidFill>
                  <a:prstClr val="black"/>
                </a:solidFill>
              </a:rPr>
              <a:t>defined</a:t>
            </a:r>
          </a:p>
          <a:p>
            <a:pPr lvl="0"/>
            <a:r>
              <a:rPr lang="en-US" sz="1400" dirty="0">
                <a:solidFill>
                  <a:prstClr val="black"/>
                </a:solidFill>
              </a:rPr>
              <a:t>Described</a:t>
            </a:r>
          </a:p>
          <a:p>
            <a:pPr lvl="0"/>
            <a:r>
              <a:rPr lang="en-US" sz="1400" dirty="0">
                <a:solidFill>
                  <a:prstClr val="black"/>
                </a:solidFill>
              </a:rPr>
              <a:t>developed</a:t>
            </a:r>
          </a:p>
          <a:p>
            <a:pPr lvl="0"/>
            <a:r>
              <a:rPr lang="en-US" sz="1400" dirty="0">
                <a:solidFill>
                  <a:prstClr val="black"/>
                </a:solidFill>
              </a:rPr>
              <a:t>directed</a:t>
            </a:r>
          </a:p>
          <a:p>
            <a:pPr lvl="0"/>
            <a:r>
              <a:rPr lang="en-US" sz="1400" dirty="0">
                <a:solidFill>
                  <a:prstClr val="black"/>
                </a:solidFill>
              </a:rPr>
              <a:t>discussed</a:t>
            </a:r>
          </a:p>
          <a:p>
            <a:pPr lvl="0"/>
            <a:r>
              <a:rPr lang="en-US" sz="1400" dirty="0">
                <a:solidFill>
                  <a:prstClr val="black"/>
                </a:solidFill>
              </a:rPr>
              <a:t>drafted</a:t>
            </a:r>
          </a:p>
          <a:p>
            <a:pPr lvl="0"/>
            <a:r>
              <a:rPr lang="en-US" sz="1400" dirty="0">
                <a:solidFill>
                  <a:prstClr val="black"/>
                </a:solidFill>
              </a:rPr>
              <a:t>edited</a:t>
            </a:r>
          </a:p>
          <a:p>
            <a:pPr lvl="0"/>
            <a:r>
              <a:rPr lang="en-US" sz="1400" dirty="0">
                <a:solidFill>
                  <a:prstClr val="black"/>
                </a:solidFill>
              </a:rPr>
              <a:t>elicited</a:t>
            </a:r>
          </a:p>
          <a:p>
            <a:pPr lvl="0"/>
            <a:r>
              <a:rPr lang="en-US" sz="1400" dirty="0">
                <a:solidFill>
                  <a:prstClr val="black"/>
                </a:solidFill>
              </a:rPr>
              <a:t>enlisted</a:t>
            </a:r>
          </a:p>
          <a:p>
            <a:pPr lvl="0"/>
            <a:r>
              <a:rPr lang="en-US" sz="1400" dirty="0">
                <a:solidFill>
                  <a:prstClr val="black"/>
                </a:solidFill>
              </a:rPr>
              <a:t>explained</a:t>
            </a:r>
          </a:p>
          <a:p>
            <a:pPr lvl="0"/>
            <a:r>
              <a:rPr lang="en-US" sz="1400" dirty="0">
                <a:solidFill>
                  <a:prstClr val="black"/>
                </a:solidFill>
              </a:rPr>
              <a:t>expressed</a:t>
            </a:r>
          </a:p>
          <a:p>
            <a:pPr lvl="0"/>
            <a:r>
              <a:rPr lang="en-US" sz="1400" dirty="0">
                <a:solidFill>
                  <a:prstClr val="black"/>
                </a:solidFill>
              </a:rPr>
              <a:t>formulated</a:t>
            </a:r>
          </a:p>
          <a:p>
            <a:pPr lvl="0"/>
            <a:r>
              <a:rPr lang="en-US" sz="1400" dirty="0">
                <a:solidFill>
                  <a:prstClr val="black"/>
                </a:solidFill>
              </a:rPr>
              <a:t>furnished</a:t>
            </a:r>
          </a:p>
          <a:p>
            <a:pPr lvl="0"/>
            <a:r>
              <a:rPr lang="en-US" sz="1400" dirty="0">
                <a:solidFill>
                  <a:prstClr val="black"/>
                </a:solidFill>
              </a:rPr>
              <a:t>incorporated</a:t>
            </a:r>
          </a:p>
          <a:p>
            <a:pPr lvl="0"/>
            <a:r>
              <a:rPr lang="en-US" sz="1400" dirty="0">
                <a:solidFill>
                  <a:prstClr val="black"/>
                </a:solidFill>
              </a:rPr>
              <a:t>influenced</a:t>
            </a:r>
          </a:p>
          <a:p>
            <a:pPr lvl="0"/>
            <a:r>
              <a:rPr lang="en-US" sz="1400" dirty="0">
                <a:solidFill>
                  <a:prstClr val="black"/>
                </a:solidFill>
              </a:rPr>
              <a:t>interacted</a:t>
            </a:r>
          </a:p>
          <a:p>
            <a:pPr lvl="0"/>
            <a:r>
              <a:rPr lang="en-US" sz="1400" dirty="0">
                <a:solidFill>
                  <a:prstClr val="black"/>
                </a:solidFill>
              </a:rPr>
              <a:t>interpreted</a:t>
            </a:r>
          </a:p>
          <a:p>
            <a:pPr lvl="0"/>
            <a:r>
              <a:rPr lang="en-US" sz="1400" dirty="0">
                <a:solidFill>
                  <a:prstClr val="black"/>
                </a:solidFill>
              </a:rPr>
              <a:t>interviewed</a:t>
            </a:r>
          </a:p>
          <a:p>
            <a:pPr lvl="0"/>
            <a:r>
              <a:rPr lang="en-US" sz="1400" dirty="0">
                <a:solidFill>
                  <a:prstClr val="black"/>
                </a:solidFill>
              </a:rPr>
              <a:t>involved</a:t>
            </a:r>
          </a:p>
        </p:txBody>
      </p:sp>
      <p:sp>
        <p:nvSpPr>
          <p:cNvPr id="12" name="Rectangle 11"/>
          <p:cNvSpPr/>
          <p:nvPr/>
        </p:nvSpPr>
        <p:spPr>
          <a:xfrm>
            <a:off x="6059606" y="1343406"/>
            <a:ext cx="1201003" cy="5478423"/>
          </a:xfrm>
          <a:prstGeom prst="rect">
            <a:avLst/>
          </a:prstGeom>
        </p:spPr>
        <p:txBody>
          <a:bodyPr wrap="square">
            <a:spAutoFit/>
          </a:bodyPr>
          <a:lstStyle/>
          <a:p>
            <a:r>
              <a:rPr lang="en-US" sz="1400" dirty="0"/>
              <a:t>joined</a:t>
            </a:r>
          </a:p>
          <a:p>
            <a:r>
              <a:rPr lang="en-US" sz="1400" dirty="0"/>
              <a:t>judged</a:t>
            </a:r>
          </a:p>
          <a:p>
            <a:r>
              <a:rPr lang="en-US" sz="1400" dirty="0"/>
              <a:t>lectured</a:t>
            </a:r>
          </a:p>
          <a:p>
            <a:r>
              <a:rPr lang="en-US" sz="1400" dirty="0"/>
              <a:t>listened</a:t>
            </a:r>
          </a:p>
          <a:p>
            <a:r>
              <a:rPr lang="en-US" sz="1400" dirty="0"/>
              <a:t>marketed</a:t>
            </a:r>
          </a:p>
          <a:p>
            <a:r>
              <a:rPr lang="en-US" sz="1400" dirty="0"/>
              <a:t>mediated</a:t>
            </a:r>
          </a:p>
          <a:p>
            <a:r>
              <a:rPr lang="en-US" sz="1400" dirty="0"/>
              <a:t>moderated</a:t>
            </a:r>
          </a:p>
          <a:p>
            <a:r>
              <a:rPr lang="en-US" sz="1400" dirty="0"/>
              <a:t>negotiated</a:t>
            </a:r>
          </a:p>
          <a:p>
            <a:r>
              <a:rPr lang="en-US" sz="1400" dirty="0"/>
              <a:t>observed</a:t>
            </a:r>
          </a:p>
          <a:p>
            <a:r>
              <a:rPr lang="en-US" sz="1400" dirty="0"/>
              <a:t>outlined</a:t>
            </a:r>
          </a:p>
          <a:p>
            <a:r>
              <a:rPr lang="en-US" sz="1400" dirty="0"/>
              <a:t>participated</a:t>
            </a:r>
          </a:p>
          <a:p>
            <a:r>
              <a:rPr lang="en-US" sz="1400" dirty="0"/>
              <a:t>persuaded</a:t>
            </a:r>
          </a:p>
          <a:p>
            <a:r>
              <a:rPr lang="en-US" sz="1400" dirty="0"/>
              <a:t>presented</a:t>
            </a:r>
          </a:p>
          <a:p>
            <a:r>
              <a:rPr lang="en-US" sz="1400" dirty="0"/>
              <a:t>Promoted</a:t>
            </a:r>
          </a:p>
          <a:p>
            <a:r>
              <a:rPr lang="en-US" sz="1400" dirty="0"/>
              <a:t>proposed</a:t>
            </a:r>
          </a:p>
          <a:p>
            <a:r>
              <a:rPr lang="en-US" sz="1400" dirty="0"/>
              <a:t>publicized</a:t>
            </a:r>
          </a:p>
          <a:p>
            <a:r>
              <a:rPr lang="en-US" sz="1400" dirty="0"/>
              <a:t>reconciled</a:t>
            </a:r>
          </a:p>
          <a:p>
            <a:r>
              <a:rPr lang="en-US" sz="1400" dirty="0"/>
              <a:t>recruited</a:t>
            </a:r>
          </a:p>
          <a:p>
            <a:r>
              <a:rPr lang="en-US" sz="1400" dirty="0"/>
              <a:t>referred</a:t>
            </a:r>
          </a:p>
          <a:p>
            <a:r>
              <a:rPr lang="en-US" sz="1400" dirty="0"/>
              <a:t>reinforced</a:t>
            </a:r>
          </a:p>
          <a:p>
            <a:r>
              <a:rPr lang="en-US" sz="1400" dirty="0"/>
              <a:t>reported</a:t>
            </a:r>
          </a:p>
          <a:p>
            <a:r>
              <a:rPr lang="en-US" sz="1400" dirty="0"/>
              <a:t>resolved</a:t>
            </a:r>
          </a:p>
          <a:p>
            <a:r>
              <a:rPr lang="en-US" sz="1400" dirty="0"/>
              <a:t>responded</a:t>
            </a:r>
          </a:p>
          <a:p>
            <a:r>
              <a:rPr lang="en-US" sz="1400" dirty="0"/>
              <a:t>solicited</a:t>
            </a:r>
          </a:p>
          <a:p>
            <a:r>
              <a:rPr lang="en-US" sz="1400" dirty="0"/>
              <a:t>specified</a:t>
            </a:r>
          </a:p>
        </p:txBody>
      </p:sp>
      <p:sp>
        <p:nvSpPr>
          <p:cNvPr id="13" name="Rectangle 12"/>
          <p:cNvSpPr/>
          <p:nvPr/>
        </p:nvSpPr>
        <p:spPr>
          <a:xfrm>
            <a:off x="7481249" y="1343406"/>
            <a:ext cx="1826524" cy="5724644"/>
          </a:xfrm>
          <a:prstGeom prst="rect">
            <a:avLst/>
          </a:prstGeom>
        </p:spPr>
        <p:txBody>
          <a:bodyPr wrap="square">
            <a:spAutoFit/>
          </a:bodyPr>
          <a:lstStyle/>
          <a:p>
            <a:pPr lvl="0"/>
            <a:r>
              <a:rPr lang="en-US" sz="1400" dirty="0">
                <a:solidFill>
                  <a:prstClr val="black"/>
                </a:solidFill>
              </a:rPr>
              <a:t>spoke</a:t>
            </a:r>
          </a:p>
          <a:p>
            <a:pPr lvl="0"/>
            <a:r>
              <a:rPr lang="en-US" sz="1400" dirty="0">
                <a:solidFill>
                  <a:prstClr val="black"/>
                </a:solidFill>
              </a:rPr>
              <a:t>suggested</a:t>
            </a:r>
          </a:p>
          <a:p>
            <a:pPr lvl="0"/>
            <a:r>
              <a:rPr lang="en-US" sz="1400" dirty="0">
                <a:solidFill>
                  <a:prstClr val="black"/>
                </a:solidFill>
              </a:rPr>
              <a:t>summarized</a:t>
            </a:r>
          </a:p>
          <a:p>
            <a:pPr lvl="0"/>
            <a:r>
              <a:rPr lang="en-US" sz="1400" dirty="0">
                <a:solidFill>
                  <a:prstClr val="black"/>
                </a:solidFill>
              </a:rPr>
              <a:t>synthesized</a:t>
            </a:r>
          </a:p>
          <a:p>
            <a:pPr lvl="0"/>
            <a:r>
              <a:rPr lang="en-US" sz="1400" dirty="0">
                <a:solidFill>
                  <a:prstClr val="black"/>
                </a:solidFill>
              </a:rPr>
              <a:t>translated</a:t>
            </a:r>
          </a:p>
          <a:p>
            <a:pPr lvl="0"/>
            <a:r>
              <a:rPr lang="en-US" sz="1400" dirty="0">
                <a:solidFill>
                  <a:prstClr val="black"/>
                </a:solidFill>
              </a:rPr>
              <a:t>Wrote</a:t>
            </a:r>
          </a:p>
          <a:p>
            <a:r>
              <a:rPr lang="en-US" sz="1600" b="1" dirty="0"/>
              <a:t>Research Skills</a:t>
            </a:r>
          </a:p>
          <a:p>
            <a:r>
              <a:rPr lang="en-US" sz="1400" dirty="0"/>
              <a:t>analyzed</a:t>
            </a:r>
          </a:p>
          <a:p>
            <a:r>
              <a:rPr lang="en-US" sz="1400" dirty="0"/>
              <a:t>clarified</a:t>
            </a:r>
          </a:p>
          <a:p>
            <a:r>
              <a:rPr lang="en-US" sz="1400" dirty="0"/>
              <a:t>collected compared</a:t>
            </a:r>
          </a:p>
          <a:p>
            <a:r>
              <a:rPr lang="en-US" sz="1400" dirty="0"/>
              <a:t>conducted</a:t>
            </a:r>
          </a:p>
          <a:p>
            <a:r>
              <a:rPr lang="en-US" sz="1400" dirty="0"/>
              <a:t>critiqued</a:t>
            </a:r>
          </a:p>
          <a:p>
            <a:r>
              <a:rPr lang="en-US" sz="1400" dirty="0"/>
              <a:t>detected</a:t>
            </a:r>
          </a:p>
          <a:p>
            <a:r>
              <a:rPr lang="en-US" sz="1400" dirty="0"/>
              <a:t>determined</a:t>
            </a:r>
          </a:p>
          <a:p>
            <a:r>
              <a:rPr lang="en-US" sz="1400" dirty="0"/>
              <a:t>diagnosed</a:t>
            </a:r>
          </a:p>
          <a:p>
            <a:r>
              <a:rPr lang="en-US" sz="1400" dirty="0"/>
              <a:t>evaluated</a:t>
            </a:r>
          </a:p>
          <a:p>
            <a:r>
              <a:rPr lang="en-US" sz="1400" dirty="0"/>
              <a:t>examined</a:t>
            </a:r>
          </a:p>
          <a:p>
            <a:r>
              <a:rPr lang="en-US" sz="1400" dirty="0"/>
              <a:t>experimented</a:t>
            </a:r>
          </a:p>
          <a:p>
            <a:r>
              <a:rPr lang="en-US" sz="1400" dirty="0"/>
              <a:t>explored</a:t>
            </a:r>
          </a:p>
          <a:p>
            <a:r>
              <a:rPr lang="en-US" sz="1400" dirty="0"/>
              <a:t>extracted</a:t>
            </a:r>
          </a:p>
          <a:p>
            <a:r>
              <a:rPr lang="en-US" sz="1400" dirty="0"/>
              <a:t>formulated</a:t>
            </a:r>
          </a:p>
          <a:p>
            <a:r>
              <a:rPr lang="en-US" sz="1400" dirty="0"/>
              <a:t>gathered</a:t>
            </a:r>
          </a:p>
          <a:p>
            <a:r>
              <a:rPr lang="en-US" sz="1400" dirty="0"/>
              <a:t>Identified</a:t>
            </a:r>
          </a:p>
          <a:p>
            <a:r>
              <a:rPr lang="en-US" sz="1400" dirty="0"/>
              <a:t>interpreted</a:t>
            </a:r>
          </a:p>
          <a:p>
            <a:r>
              <a:rPr lang="en-US" sz="1400" dirty="0"/>
              <a:t>interviewed</a:t>
            </a:r>
          </a:p>
        </p:txBody>
      </p:sp>
      <p:sp>
        <p:nvSpPr>
          <p:cNvPr id="14" name="Rectangle 13"/>
          <p:cNvSpPr/>
          <p:nvPr/>
        </p:nvSpPr>
        <p:spPr>
          <a:xfrm>
            <a:off x="9154550" y="1343406"/>
            <a:ext cx="1436868" cy="5293757"/>
          </a:xfrm>
          <a:prstGeom prst="rect">
            <a:avLst/>
          </a:prstGeom>
        </p:spPr>
        <p:txBody>
          <a:bodyPr wrap="none">
            <a:spAutoFit/>
          </a:bodyPr>
          <a:lstStyle/>
          <a:p>
            <a:pPr lvl="0"/>
            <a:r>
              <a:rPr lang="en-US" sz="1400" dirty="0">
                <a:solidFill>
                  <a:prstClr val="black"/>
                </a:solidFill>
              </a:rPr>
              <a:t>Invented</a:t>
            </a:r>
          </a:p>
          <a:p>
            <a:r>
              <a:rPr lang="en-US" sz="1400" dirty="0"/>
              <a:t>investigated</a:t>
            </a:r>
          </a:p>
          <a:p>
            <a:r>
              <a:rPr lang="en-US" sz="1400" dirty="0"/>
              <a:t>located</a:t>
            </a:r>
          </a:p>
          <a:p>
            <a:r>
              <a:rPr lang="en-US" sz="1400" dirty="0"/>
              <a:t>measured</a:t>
            </a:r>
          </a:p>
          <a:p>
            <a:r>
              <a:rPr lang="en-US" sz="1400" dirty="0"/>
              <a:t>organized</a:t>
            </a:r>
          </a:p>
          <a:p>
            <a:r>
              <a:rPr lang="en-US" sz="1400" dirty="0"/>
              <a:t>researched</a:t>
            </a:r>
          </a:p>
          <a:p>
            <a:r>
              <a:rPr lang="en-US" sz="1400" dirty="0"/>
              <a:t>searched</a:t>
            </a:r>
          </a:p>
          <a:p>
            <a:r>
              <a:rPr lang="en-US" sz="1400" dirty="0"/>
              <a:t>solved</a:t>
            </a:r>
          </a:p>
          <a:p>
            <a:r>
              <a:rPr lang="en-US" sz="1400" dirty="0"/>
              <a:t>summarized</a:t>
            </a:r>
          </a:p>
          <a:p>
            <a:r>
              <a:rPr lang="en-US" sz="1400" dirty="0"/>
              <a:t>surveyed</a:t>
            </a:r>
          </a:p>
          <a:p>
            <a:r>
              <a:rPr lang="en-US" sz="1400" dirty="0"/>
              <a:t>systematized</a:t>
            </a:r>
          </a:p>
          <a:p>
            <a:r>
              <a:rPr lang="en-US" sz="1400" dirty="0"/>
              <a:t>tested</a:t>
            </a:r>
          </a:p>
          <a:p>
            <a:r>
              <a:rPr lang="en-US" sz="1600" b="1" dirty="0"/>
              <a:t>Technical Skills</a:t>
            </a:r>
          </a:p>
          <a:p>
            <a:r>
              <a:rPr lang="en-US" sz="1400" dirty="0"/>
              <a:t>adapted</a:t>
            </a:r>
          </a:p>
          <a:p>
            <a:r>
              <a:rPr lang="en-US" sz="1400" dirty="0"/>
              <a:t>assembled</a:t>
            </a:r>
          </a:p>
          <a:p>
            <a:r>
              <a:rPr lang="en-US" sz="1400" dirty="0"/>
              <a:t>built</a:t>
            </a:r>
          </a:p>
          <a:p>
            <a:r>
              <a:rPr lang="en-US" sz="1400" dirty="0"/>
              <a:t>Calculated</a:t>
            </a:r>
          </a:p>
          <a:p>
            <a:r>
              <a:rPr lang="en-US" sz="1400" dirty="0">
                <a:solidFill>
                  <a:prstClr val="black"/>
                </a:solidFill>
              </a:rPr>
              <a:t>computed</a:t>
            </a:r>
          </a:p>
          <a:p>
            <a:r>
              <a:rPr lang="en-US" sz="1400" dirty="0">
                <a:solidFill>
                  <a:prstClr val="black"/>
                </a:solidFill>
              </a:rPr>
              <a:t>conserved</a:t>
            </a:r>
          </a:p>
          <a:p>
            <a:r>
              <a:rPr lang="en-US" sz="1400" dirty="0">
                <a:solidFill>
                  <a:prstClr val="black"/>
                </a:solidFill>
              </a:rPr>
              <a:t>constructed</a:t>
            </a:r>
          </a:p>
          <a:p>
            <a:r>
              <a:rPr lang="en-US" sz="1400" dirty="0">
                <a:solidFill>
                  <a:prstClr val="black"/>
                </a:solidFill>
              </a:rPr>
              <a:t>converted</a:t>
            </a:r>
          </a:p>
          <a:p>
            <a:r>
              <a:rPr lang="en-US" sz="1400" dirty="0">
                <a:solidFill>
                  <a:prstClr val="black"/>
                </a:solidFill>
              </a:rPr>
              <a:t>debugged</a:t>
            </a:r>
          </a:p>
          <a:p>
            <a:r>
              <a:rPr lang="en-US" sz="1400" dirty="0">
                <a:solidFill>
                  <a:prstClr val="black"/>
                </a:solidFill>
              </a:rPr>
              <a:t>designed</a:t>
            </a:r>
          </a:p>
          <a:p>
            <a:r>
              <a:rPr lang="en-US" sz="1400" dirty="0">
                <a:solidFill>
                  <a:prstClr val="black"/>
                </a:solidFill>
              </a:rPr>
              <a:t>determined</a:t>
            </a:r>
          </a:p>
        </p:txBody>
      </p:sp>
      <p:sp>
        <p:nvSpPr>
          <p:cNvPr id="15" name="Rectangle 14"/>
          <p:cNvSpPr/>
          <p:nvPr/>
        </p:nvSpPr>
        <p:spPr>
          <a:xfrm>
            <a:off x="10711219" y="1343406"/>
            <a:ext cx="1480781" cy="5693866"/>
          </a:xfrm>
          <a:prstGeom prst="rect">
            <a:avLst/>
          </a:prstGeom>
        </p:spPr>
        <p:txBody>
          <a:bodyPr wrap="square">
            <a:spAutoFit/>
          </a:bodyPr>
          <a:lstStyle/>
          <a:p>
            <a:r>
              <a:rPr lang="en-US" sz="1400" dirty="0"/>
              <a:t>developed</a:t>
            </a:r>
          </a:p>
          <a:p>
            <a:r>
              <a:rPr lang="en-US" sz="1400" dirty="0"/>
              <a:t>engineered</a:t>
            </a:r>
          </a:p>
          <a:p>
            <a:r>
              <a:rPr lang="en-US" sz="1400" dirty="0"/>
              <a:t>fabricated</a:t>
            </a:r>
          </a:p>
          <a:p>
            <a:r>
              <a:rPr lang="en-US" sz="1400" dirty="0"/>
              <a:t>Fortified</a:t>
            </a:r>
          </a:p>
          <a:p>
            <a:r>
              <a:rPr lang="en-US" sz="1400" dirty="0"/>
              <a:t>installed</a:t>
            </a:r>
          </a:p>
          <a:p>
            <a:r>
              <a:rPr lang="en-US" sz="1400" dirty="0"/>
              <a:t>maintained</a:t>
            </a:r>
          </a:p>
          <a:p>
            <a:r>
              <a:rPr lang="en-US" sz="1400" dirty="0"/>
              <a:t>operated</a:t>
            </a:r>
          </a:p>
          <a:p>
            <a:r>
              <a:rPr lang="en-US" sz="1400" dirty="0"/>
              <a:t>overhauled</a:t>
            </a:r>
          </a:p>
          <a:p>
            <a:r>
              <a:rPr lang="en-US" sz="1400" dirty="0"/>
              <a:t>printed</a:t>
            </a:r>
          </a:p>
          <a:p>
            <a:r>
              <a:rPr lang="en-US" sz="1400" dirty="0"/>
              <a:t>programmed</a:t>
            </a:r>
          </a:p>
          <a:p>
            <a:r>
              <a:rPr lang="en-US" sz="1400" dirty="0"/>
              <a:t>rectified</a:t>
            </a:r>
          </a:p>
          <a:p>
            <a:r>
              <a:rPr lang="en-US" sz="1400" dirty="0"/>
              <a:t>regulated</a:t>
            </a:r>
          </a:p>
          <a:p>
            <a:r>
              <a:rPr lang="en-US" sz="1400" dirty="0"/>
              <a:t>remodeled</a:t>
            </a:r>
          </a:p>
          <a:p>
            <a:r>
              <a:rPr lang="en-US" sz="1400" dirty="0"/>
              <a:t>repaired</a:t>
            </a:r>
          </a:p>
          <a:p>
            <a:r>
              <a:rPr lang="en-US" sz="1400" dirty="0"/>
              <a:t>replaced</a:t>
            </a:r>
          </a:p>
          <a:p>
            <a:r>
              <a:rPr lang="en-US" sz="1400" dirty="0"/>
              <a:t>restored</a:t>
            </a:r>
          </a:p>
          <a:p>
            <a:r>
              <a:rPr lang="en-US" sz="1400" dirty="0"/>
              <a:t>solved</a:t>
            </a:r>
          </a:p>
          <a:p>
            <a:r>
              <a:rPr lang="en-US" sz="1400" dirty="0"/>
              <a:t>specialized</a:t>
            </a:r>
          </a:p>
          <a:p>
            <a:r>
              <a:rPr lang="en-US" sz="1400" dirty="0"/>
              <a:t>standardized</a:t>
            </a:r>
          </a:p>
          <a:p>
            <a:r>
              <a:rPr lang="en-US" sz="1400" dirty="0"/>
              <a:t>studied</a:t>
            </a:r>
          </a:p>
          <a:p>
            <a:r>
              <a:rPr lang="en-US" sz="1400" dirty="0"/>
              <a:t>upgraded</a:t>
            </a:r>
          </a:p>
          <a:p>
            <a:r>
              <a:rPr lang="en-US" sz="1400" dirty="0"/>
              <a:t>utilized</a:t>
            </a:r>
          </a:p>
          <a:p>
            <a:r>
              <a:rPr lang="en-US" sz="1600" b="1" dirty="0"/>
              <a:t>Teaching Skills</a:t>
            </a:r>
          </a:p>
          <a:p>
            <a:r>
              <a:rPr lang="en-US" sz="1400" dirty="0"/>
              <a:t>adapted</a:t>
            </a:r>
          </a:p>
          <a:p>
            <a:r>
              <a:rPr lang="en-US" sz="1400" dirty="0"/>
              <a:t>advised</a:t>
            </a:r>
          </a:p>
        </p:txBody>
      </p:sp>
      <p:sp>
        <p:nvSpPr>
          <p:cNvPr id="16" name="Rectangle 15"/>
          <p:cNvSpPr/>
          <p:nvPr/>
        </p:nvSpPr>
        <p:spPr>
          <a:xfrm>
            <a:off x="7857772" y="6667941"/>
            <a:ext cx="4334228" cy="246221"/>
          </a:xfrm>
          <a:prstGeom prst="rect">
            <a:avLst/>
          </a:prstGeom>
        </p:spPr>
        <p:txBody>
          <a:bodyPr wrap="square">
            <a:spAutoFit/>
          </a:bodyPr>
          <a:lstStyle/>
          <a:p>
            <a:r>
              <a:rPr lang="en-US" sz="1000" dirty="0"/>
              <a:t>http://career.opcd.wfu.edu/files/2011/05/Action-Verbs-for-Resumes.pdf</a:t>
            </a:r>
          </a:p>
        </p:txBody>
      </p:sp>
    </p:spTree>
    <p:extLst>
      <p:ext uri="{BB962C8B-B14F-4D97-AF65-F5344CB8AC3E}">
        <p14:creationId xmlns:p14="http://schemas.microsoft.com/office/powerpoint/2010/main" val="4144883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002" y="1555494"/>
            <a:ext cx="1242648" cy="5047536"/>
          </a:xfrm>
          <a:prstGeom prst="rect">
            <a:avLst/>
          </a:prstGeom>
        </p:spPr>
        <p:txBody>
          <a:bodyPr wrap="none">
            <a:spAutoFit/>
          </a:bodyPr>
          <a:lstStyle/>
          <a:p>
            <a:pPr lvl="0"/>
            <a:r>
              <a:rPr lang="en-US" sz="1400" dirty="0">
                <a:solidFill>
                  <a:prstClr val="black"/>
                </a:solidFill>
              </a:rPr>
              <a:t>Clarified</a:t>
            </a:r>
          </a:p>
          <a:p>
            <a:r>
              <a:rPr lang="en-US" sz="1400" dirty="0">
                <a:latin typeface="Times New Roman" panose="02020603050405020304" pitchFamily="18" charset="0"/>
              </a:rPr>
              <a:t>coached</a:t>
            </a:r>
          </a:p>
          <a:p>
            <a:r>
              <a:rPr lang="en-US" sz="1400" dirty="0">
                <a:latin typeface="Times New Roman" panose="02020603050405020304" pitchFamily="18" charset="0"/>
              </a:rPr>
              <a:t>communicated</a:t>
            </a:r>
          </a:p>
          <a:p>
            <a:r>
              <a:rPr lang="en-US" sz="1400" dirty="0">
                <a:latin typeface="Times New Roman" panose="02020603050405020304" pitchFamily="18" charset="0"/>
              </a:rPr>
              <a:t>conducted</a:t>
            </a:r>
          </a:p>
          <a:p>
            <a:r>
              <a:rPr lang="en-US" sz="1400" dirty="0">
                <a:latin typeface="Times New Roman" panose="02020603050405020304" pitchFamily="18" charset="0"/>
              </a:rPr>
              <a:t>coordinated</a:t>
            </a:r>
          </a:p>
          <a:p>
            <a:r>
              <a:rPr lang="en-US" sz="1400" dirty="0">
                <a:latin typeface="Times New Roman" panose="02020603050405020304" pitchFamily="18" charset="0"/>
              </a:rPr>
              <a:t>critiqued</a:t>
            </a:r>
          </a:p>
          <a:p>
            <a:r>
              <a:rPr lang="en-US" sz="1400" dirty="0">
                <a:latin typeface="Times New Roman" panose="02020603050405020304" pitchFamily="18" charset="0"/>
              </a:rPr>
              <a:t>developed</a:t>
            </a:r>
          </a:p>
          <a:p>
            <a:r>
              <a:rPr lang="en-US" sz="1400" dirty="0">
                <a:latin typeface="Times New Roman" panose="02020603050405020304" pitchFamily="18" charset="0"/>
              </a:rPr>
              <a:t>enabled</a:t>
            </a:r>
          </a:p>
          <a:p>
            <a:r>
              <a:rPr lang="en-US" sz="1400" dirty="0">
                <a:latin typeface="Times New Roman" panose="02020603050405020304" pitchFamily="18" charset="0"/>
              </a:rPr>
              <a:t>encouraged</a:t>
            </a:r>
          </a:p>
          <a:p>
            <a:r>
              <a:rPr lang="en-US" sz="1400" dirty="0">
                <a:latin typeface="Times New Roman" panose="02020603050405020304" pitchFamily="18" charset="0"/>
              </a:rPr>
              <a:t>evaluated</a:t>
            </a:r>
          </a:p>
          <a:p>
            <a:r>
              <a:rPr lang="en-US" sz="1400" dirty="0">
                <a:latin typeface="Times New Roman" panose="02020603050405020304" pitchFamily="18" charset="0"/>
              </a:rPr>
              <a:t>explained</a:t>
            </a:r>
          </a:p>
          <a:p>
            <a:r>
              <a:rPr lang="en-US" sz="1400" dirty="0">
                <a:latin typeface="Times New Roman" panose="02020603050405020304" pitchFamily="18" charset="0"/>
              </a:rPr>
              <a:t>facilitated</a:t>
            </a:r>
          </a:p>
          <a:p>
            <a:r>
              <a:rPr lang="en-US" sz="1400" dirty="0">
                <a:latin typeface="Times New Roman" panose="02020603050405020304" pitchFamily="18" charset="0"/>
              </a:rPr>
              <a:t>focused</a:t>
            </a:r>
          </a:p>
          <a:p>
            <a:r>
              <a:rPr lang="en-US" sz="1400" dirty="0">
                <a:latin typeface="Times New Roman" panose="02020603050405020304" pitchFamily="18" charset="0"/>
              </a:rPr>
              <a:t>guided</a:t>
            </a:r>
          </a:p>
          <a:p>
            <a:r>
              <a:rPr lang="en-US" sz="1400" dirty="0">
                <a:latin typeface="Times New Roman" panose="02020603050405020304" pitchFamily="18" charset="0"/>
              </a:rPr>
              <a:t>individualized</a:t>
            </a:r>
          </a:p>
          <a:p>
            <a:r>
              <a:rPr lang="en-US" sz="1400" dirty="0">
                <a:latin typeface="Times New Roman" panose="02020603050405020304" pitchFamily="18" charset="0"/>
              </a:rPr>
              <a:t>informed</a:t>
            </a:r>
          </a:p>
          <a:p>
            <a:r>
              <a:rPr lang="en-US" sz="1400" dirty="0">
                <a:latin typeface="Times New Roman" panose="02020603050405020304" pitchFamily="18" charset="0"/>
              </a:rPr>
              <a:t>instilled</a:t>
            </a:r>
          </a:p>
          <a:p>
            <a:r>
              <a:rPr lang="en-US" sz="1400" dirty="0">
                <a:latin typeface="Times New Roman" panose="02020603050405020304" pitchFamily="18" charset="0"/>
              </a:rPr>
              <a:t>instructed</a:t>
            </a:r>
          </a:p>
          <a:p>
            <a:r>
              <a:rPr lang="en-US" sz="1400" dirty="0">
                <a:latin typeface="Times New Roman" panose="02020603050405020304" pitchFamily="18" charset="0"/>
              </a:rPr>
              <a:t>motivated</a:t>
            </a:r>
          </a:p>
          <a:p>
            <a:r>
              <a:rPr lang="en-US" sz="1400" dirty="0">
                <a:latin typeface="Times New Roman" panose="02020603050405020304" pitchFamily="18" charset="0"/>
              </a:rPr>
              <a:t>persuaded</a:t>
            </a:r>
          </a:p>
          <a:p>
            <a:r>
              <a:rPr lang="en-US" sz="1400" dirty="0">
                <a:latin typeface="Times New Roman" panose="02020603050405020304" pitchFamily="18" charset="0"/>
              </a:rPr>
              <a:t>set goals</a:t>
            </a:r>
          </a:p>
          <a:p>
            <a:r>
              <a:rPr lang="en-US" sz="1400" dirty="0">
                <a:latin typeface="Times New Roman" panose="02020603050405020304" pitchFamily="18" charset="0"/>
              </a:rPr>
              <a:t>simulated</a:t>
            </a:r>
          </a:p>
          <a:p>
            <a:r>
              <a:rPr lang="en-US" sz="1400" dirty="0">
                <a:latin typeface="Times New Roman" panose="02020603050405020304" pitchFamily="18" charset="0"/>
              </a:rPr>
              <a:t>stimulated</a:t>
            </a:r>
            <a:endParaRPr lang="en-US" sz="1400" dirty="0">
              <a:solidFill>
                <a:prstClr val="black"/>
              </a:solidFill>
            </a:endParaRPr>
          </a:p>
        </p:txBody>
      </p:sp>
      <p:sp>
        <p:nvSpPr>
          <p:cNvPr id="3" name="TextBox 2"/>
          <p:cNvSpPr txBox="1"/>
          <p:nvPr/>
        </p:nvSpPr>
        <p:spPr>
          <a:xfrm>
            <a:off x="1" y="0"/>
            <a:ext cx="12191999" cy="1138773"/>
          </a:xfrm>
          <a:prstGeom prst="rect">
            <a:avLst/>
          </a:prstGeom>
          <a:noFill/>
        </p:spPr>
        <p:txBody>
          <a:bodyPr wrap="square" rtlCol="0">
            <a:spAutoFit/>
          </a:bodyPr>
          <a:lstStyle/>
          <a:p>
            <a:pPr algn="ctr"/>
            <a:r>
              <a:rPr lang="en-US" sz="3600" b="1" dirty="0">
                <a:latin typeface="Calisto MT" panose="02040603050505030304" pitchFamily="18" charset="0"/>
              </a:rPr>
              <a:t>Action Verbs  </a:t>
            </a:r>
          </a:p>
          <a:p>
            <a:pPr algn="ctr"/>
            <a:r>
              <a:rPr lang="en-US" sz="3200" dirty="0">
                <a:latin typeface="Calisto MT" panose="02040603050505030304" pitchFamily="18" charset="0"/>
              </a:rPr>
              <a:t>All bullets must start with an action verb</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6" name="Rectangle 5"/>
          <p:cNvSpPr/>
          <p:nvPr/>
        </p:nvSpPr>
        <p:spPr>
          <a:xfrm>
            <a:off x="1547650" y="1138773"/>
            <a:ext cx="1372971" cy="5539978"/>
          </a:xfrm>
          <a:prstGeom prst="rect">
            <a:avLst/>
          </a:prstGeom>
        </p:spPr>
        <p:txBody>
          <a:bodyPr wrap="square">
            <a:spAutoFit/>
          </a:bodyPr>
          <a:lstStyle/>
          <a:p>
            <a:r>
              <a:rPr lang="en-US" sz="1400" dirty="0"/>
              <a:t>taught</a:t>
            </a:r>
          </a:p>
          <a:p>
            <a:r>
              <a:rPr lang="en-US" sz="1400" dirty="0"/>
              <a:t>tested</a:t>
            </a:r>
          </a:p>
          <a:p>
            <a:r>
              <a:rPr lang="en-US" sz="1400" dirty="0"/>
              <a:t>trained</a:t>
            </a:r>
          </a:p>
          <a:p>
            <a:r>
              <a:rPr lang="en-US" sz="1400" dirty="0"/>
              <a:t>transmitted</a:t>
            </a:r>
          </a:p>
          <a:p>
            <a:r>
              <a:rPr lang="en-US" sz="1400" dirty="0"/>
              <a:t>tutored</a:t>
            </a:r>
          </a:p>
          <a:p>
            <a:r>
              <a:rPr lang="en-US" sz="1600" b="1" dirty="0"/>
              <a:t>Financial/</a:t>
            </a:r>
          </a:p>
          <a:p>
            <a:r>
              <a:rPr lang="en-US" sz="1600" b="1" dirty="0"/>
              <a:t>Data Skills</a:t>
            </a:r>
          </a:p>
          <a:p>
            <a:r>
              <a:rPr lang="en-US" sz="1400" dirty="0"/>
              <a:t>administered</a:t>
            </a:r>
          </a:p>
          <a:p>
            <a:r>
              <a:rPr lang="en-US" sz="1400" dirty="0"/>
              <a:t>adjusted</a:t>
            </a:r>
          </a:p>
          <a:p>
            <a:r>
              <a:rPr lang="en-US" sz="1400" dirty="0"/>
              <a:t>allocated</a:t>
            </a:r>
          </a:p>
          <a:p>
            <a:r>
              <a:rPr lang="en-US" sz="1400" dirty="0"/>
              <a:t>analyzed</a:t>
            </a:r>
          </a:p>
          <a:p>
            <a:r>
              <a:rPr lang="en-US" sz="1400" dirty="0"/>
              <a:t>appraised</a:t>
            </a:r>
          </a:p>
          <a:p>
            <a:r>
              <a:rPr lang="en-US" sz="1400" dirty="0"/>
              <a:t>assessed</a:t>
            </a:r>
          </a:p>
          <a:p>
            <a:r>
              <a:rPr lang="en-US" sz="1400" dirty="0"/>
              <a:t>audited</a:t>
            </a:r>
          </a:p>
          <a:p>
            <a:r>
              <a:rPr lang="en-US" sz="1400" dirty="0"/>
              <a:t>balanced</a:t>
            </a:r>
          </a:p>
          <a:p>
            <a:r>
              <a:rPr lang="en-US" sz="1400" dirty="0"/>
              <a:t>calculated</a:t>
            </a:r>
          </a:p>
          <a:p>
            <a:r>
              <a:rPr lang="en-US" sz="1400" dirty="0"/>
              <a:t>computed</a:t>
            </a:r>
          </a:p>
          <a:p>
            <a:r>
              <a:rPr lang="en-US" sz="1400" dirty="0"/>
              <a:t>conserved</a:t>
            </a:r>
          </a:p>
          <a:p>
            <a:r>
              <a:rPr lang="en-US" sz="1400" dirty="0"/>
              <a:t>corrected</a:t>
            </a:r>
          </a:p>
          <a:p>
            <a:r>
              <a:rPr lang="en-US" sz="1400" dirty="0"/>
              <a:t>determined</a:t>
            </a:r>
          </a:p>
          <a:p>
            <a:r>
              <a:rPr lang="en-US" sz="1400" dirty="0"/>
              <a:t>developed</a:t>
            </a:r>
          </a:p>
          <a:p>
            <a:r>
              <a:rPr lang="en-US" sz="1400" dirty="0"/>
              <a:t>estimated</a:t>
            </a:r>
          </a:p>
          <a:p>
            <a:r>
              <a:rPr lang="en-US" sz="1400" dirty="0"/>
              <a:t>forecasted</a:t>
            </a:r>
          </a:p>
          <a:p>
            <a:r>
              <a:rPr lang="en-US" sz="1400" dirty="0"/>
              <a:t>managed</a:t>
            </a:r>
          </a:p>
          <a:p>
            <a:r>
              <a:rPr lang="en-US" sz="1400" dirty="0"/>
              <a:t>marketed</a:t>
            </a:r>
          </a:p>
        </p:txBody>
      </p:sp>
      <p:sp>
        <p:nvSpPr>
          <p:cNvPr id="7" name="Rectangle 6"/>
          <p:cNvSpPr/>
          <p:nvPr/>
        </p:nvSpPr>
        <p:spPr>
          <a:xfrm>
            <a:off x="2920621" y="1138773"/>
            <a:ext cx="1619534" cy="5724644"/>
          </a:xfrm>
          <a:prstGeom prst="rect">
            <a:avLst/>
          </a:prstGeom>
        </p:spPr>
        <p:txBody>
          <a:bodyPr wrap="square">
            <a:spAutoFit/>
          </a:bodyPr>
          <a:lstStyle/>
          <a:p>
            <a:pPr lvl="0"/>
            <a:r>
              <a:rPr lang="en-US" sz="1400" dirty="0">
                <a:solidFill>
                  <a:prstClr val="black"/>
                </a:solidFill>
              </a:rPr>
              <a:t>measured</a:t>
            </a:r>
          </a:p>
          <a:p>
            <a:pPr lvl="0"/>
            <a:r>
              <a:rPr lang="en-US" sz="1400" dirty="0">
                <a:solidFill>
                  <a:prstClr val="black"/>
                </a:solidFill>
              </a:rPr>
              <a:t>planned</a:t>
            </a:r>
          </a:p>
          <a:p>
            <a:pPr lvl="0"/>
            <a:r>
              <a:rPr lang="en-US" sz="1400" dirty="0">
                <a:solidFill>
                  <a:prstClr val="black"/>
                </a:solidFill>
              </a:rPr>
              <a:t>programmed</a:t>
            </a:r>
          </a:p>
          <a:p>
            <a:pPr lvl="0"/>
            <a:r>
              <a:rPr lang="en-US" sz="1400" dirty="0">
                <a:solidFill>
                  <a:prstClr val="black"/>
                </a:solidFill>
              </a:rPr>
              <a:t>projected</a:t>
            </a:r>
          </a:p>
          <a:p>
            <a:pPr lvl="0"/>
            <a:r>
              <a:rPr lang="en-US" sz="1400" dirty="0">
                <a:solidFill>
                  <a:prstClr val="black"/>
                </a:solidFill>
              </a:rPr>
              <a:t>reconciled</a:t>
            </a:r>
          </a:p>
          <a:p>
            <a:pPr lvl="0"/>
            <a:r>
              <a:rPr lang="en-US" sz="1400" dirty="0">
                <a:solidFill>
                  <a:prstClr val="black"/>
                </a:solidFill>
              </a:rPr>
              <a:t>reduced</a:t>
            </a:r>
          </a:p>
          <a:p>
            <a:pPr lvl="0"/>
            <a:r>
              <a:rPr lang="en-US" sz="1400" dirty="0">
                <a:solidFill>
                  <a:prstClr val="black"/>
                </a:solidFill>
              </a:rPr>
              <a:t>researched</a:t>
            </a:r>
          </a:p>
          <a:p>
            <a:pPr lvl="0"/>
            <a:r>
              <a:rPr lang="en-US" sz="1400" dirty="0">
                <a:solidFill>
                  <a:prstClr val="black"/>
                </a:solidFill>
              </a:rPr>
              <a:t>Retrieved</a:t>
            </a:r>
          </a:p>
          <a:p>
            <a:pPr lvl="0"/>
            <a:r>
              <a:rPr lang="en-US" sz="1600" b="1" dirty="0">
                <a:solidFill>
                  <a:prstClr val="black"/>
                </a:solidFill>
              </a:rPr>
              <a:t>Creative Skills</a:t>
            </a:r>
          </a:p>
          <a:p>
            <a:pPr lvl="0"/>
            <a:r>
              <a:rPr lang="en-US" sz="1400" dirty="0">
                <a:solidFill>
                  <a:prstClr val="black"/>
                </a:solidFill>
              </a:rPr>
              <a:t>acted</a:t>
            </a:r>
          </a:p>
          <a:p>
            <a:pPr lvl="0"/>
            <a:r>
              <a:rPr lang="en-US" sz="1400" dirty="0">
                <a:solidFill>
                  <a:prstClr val="black"/>
                </a:solidFill>
              </a:rPr>
              <a:t>adapted</a:t>
            </a:r>
          </a:p>
          <a:p>
            <a:pPr lvl="0"/>
            <a:r>
              <a:rPr lang="en-US" sz="1400" dirty="0">
                <a:solidFill>
                  <a:prstClr val="black"/>
                </a:solidFill>
              </a:rPr>
              <a:t>began</a:t>
            </a:r>
          </a:p>
          <a:p>
            <a:pPr lvl="0"/>
            <a:r>
              <a:rPr lang="en-US" sz="1400" dirty="0">
                <a:solidFill>
                  <a:prstClr val="black"/>
                </a:solidFill>
              </a:rPr>
              <a:t>combined</a:t>
            </a:r>
          </a:p>
          <a:p>
            <a:pPr lvl="0"/>
            <a:r>
              <a:rPr lang="en-US" sz="1400" dirty="0">
                <a:solidFill>
                  <a:prstClr val="black"/>
                </a:solidFill>
              </a:rPr>
              <a:t>conceptualized</a:t>
            </a:r>
          </a:p>
          <a:p>
            <a:pPr lvl="0"/>
            <a:r>
              <a:rPr lang="en-US" sz="1400" dirty="0">
                <a:solidFill>
                  <a:prstClr val="black"/>
                </a:solidFill>
              </a:rPr>
              <a:t>condensed</a:t>
            </a:r>
          </a:p>
          <a:p>
            <a:pPr lvl="0"/>
            <a:r>
              <a:rPr lang="en-US" sz="1400" dirty="0">
                <a:solidFill>
                  <a:prstClr val="black"/>
                </a:solidFill>
              </a:rPr>
              <a:t>created</a:t>
            </a:r>
          </a:p>
          <a:p>
            <a:pPr lvl="0"/>
            <a:r>
              <a:rPr lang="en-US" sz="1400" dirty="0">
                <a:solidFill>
                  <a:prstClr val="black"/>
                </a:solidFill>
              </a:rPr>
              <a:t>customized</a:t>
            </a:r>
          </a:p>
          <a:p>
            <a:pPr lvl="0"/>
            <a:r>
              <a:rPr lang="en-US" sz="1400" dirty="0">
                <a:solidFill>
                  <a:prstClr val="black"/>
                </a:solidFill>
              </a:rPr>
              <a:t>Designed</a:t>
            </a:r>
          </a:p>
          <a:p>
            <a:r>
              <a:rPr lang="en-US" sz="1400" dirty="0">
                <a:latin typeface="Times New Roman" panose="02020603050405020304" pitchFamily="18" charset="0"/>
              </a:rPr>
              <a:t>developed</a:t>
            </a:r>
          </a:p>
          <a:p>
            <a:r>
              <a:rPr lang="en-US" sz="1400" dirty="0">
                <a:latin typeface="Times New Roman" panose="02020603050405020304" pitchFamily="18" charset="0"/>
              </a:rPr>
              <a:t>directed</a:t>
            </a:r>
          </a:p>
          <a:p>
            <a:r>
              <a:rPr lang="en-US" sz="1400" dirty="0">
                <a:latin typeface="Times New Roman" panose="02020603050405020304" pitchFamily="18" charset="0"/>
              </a:rPr>
              <a:t>displayed</a:t>
            </a:r>
          </a:p>
          <a:p>
            <a:r>
              <a:rPr lang="en-US" sz="1400" dirty="0">
                <a:latin typeface="Times New Roman" panose="02020603050405020304" pitchFamily="18" charset="0"/>
              </a:rPr>
              <a:t>drew</a:t>
            </a:r>
          </a:p>
          <a:p>
            <a:r>
              <a:rPr lang="en-US" sz="1400" dirty="0">
                <a:latin typeface="Times New Roman" panose="02020603050405020304" pitchFamily="18" charset="0"/>
              </a:rPr>
              <a:t>entertained</a:t>
            </a:r>
          </a:p>
          <a:p>
            <a:r>
              <a:rPr lang="en-US" sz="1400" dirty="0">
                <a:latin typeface="Times New Roman" panose="02020603050405020304" pitchFamily="18" charset="0"/>
              </a:rPr>
              <a:t>established</a:t>
            </a:r>
          </a:p>
          <a:p>
            <a:r>
              <a:rPr lang="en-US" sz="1400" dirty="0">
                <a:latin typeface="Times New Roman" panose="02020603050405020304" pitchFamily="18" charset="0"/>
              </a:rPr>
              <a:t>fashioned</a:t>
            </a:r>
          </a:p>
          <a:p>
            <a:pPr lvl="0"/>
            <a:endParaRPr lang="en-US" sz="1400" dirty="0">
              <a:solidFill>
                <a:prstClr val="black"/>
              </a:solidFill>
            </a:endParaRPr>
          </a:p>
        </p:txBody>
      </p:sp>
      <p:sp>
        <p:nvSpPr>
          <p:cNvPr id="8" name="Rectangle 7"/>
          <p:cNvSpPr/>
          <p:nvPr/>
        </p:nvSpPr>
        <p:spPr>
          <a:xfrm>
            <a:off x="4463474" y="1138773"/>
            <a:ext cx="1268586" cy="5755422"/>
          </a:xfrm>
          <a:prstGeom prst="rect">
            <a:avLst/>
          </a:prstGeom>
        </p:spPr>
        <p:txBody>
          <a:bodyPr wrap="square">
            <a:spAutoFit/>
          </a:bodyPr>
          <a:lstStyle/>
          <a:p>
            <a:pPr lvl="0"/>
            <a:r>
              <a:rPr lang="en-US" sz="1400" dirty="0">
                <a:solidFill>
                  <a:prstClr val="black"/>
                </a:solidFill>
              </a:rPr>
              <a:t>formulated</a:t>
            </a:r>
          </a:p>
          <a:p>
            <a:pPr lvl="0"/>
            <a:r>
              <a:rPr lang="en-US" sz="1400" dirty="0">
                <a:solidFill>
                  <a:prstClr val="black"/>
                </a:solidFill>
              </a:rPr>
              <a:t>founded</a:t>
            </a:r>
          </a:p>
          <a:p>
            <a:pPr lvl="0"/>
            <a:r>
              <a:rPr lang="en-US" sz="1400" dirty="0">
                <a:solidFill>
                  <a:prstClr val="black"/>
                </a:solidFill>
              </a:rPr>
              <a:t>illustrated</a:t>
            </a:r>
          </a:p>
          <a:p>
            <a:pPr lvl="0"/>
            <a:r>
              <a:rPr lang="en-US" sz="1400" dirty="0">
                <a:solidFill>
                  <a:prstClr val="black"/>
                </a:solidFill>
              </a:rPr>
              <a:t>Initiated</a:t>
            </a:r>
          </a:p>
          <a:p>
            <a:r>
              <a:rPr lang="en-US" sz="1400" dirty="0"/>
              <a:t>instituted</a:t>
            </a:r>
          </a:p>
          <a:p>
            <a:r>
              <a:rPr lang="en-US" sz="1400" dirty="0"/>
              <a:t>integrated</a:t>
            </a:r>
          </a:p>
          <a:p>
            <a:r>
              <a:rPr lang="en-US" sz="1400" dirty="0"/>
              <a:t>introduced</a:t>
            </a:r>
          </a:p>
          <a:p>
            <a:r>
              <a:rPr lang="en-US" sz="1400" dirty="0"/>
              <a:t>invented</a:t>
            </a:r>
          </a:p>
          <a:p>
            <a:r>
              <a:rPr lang="en-US" sz="1400" dirty="0"/>
              <a:t>modeled</a:t>
            </a:r>
          </a:p>
          <a:p>
            <a:r>
              <a:rPr lang="en-US" sz="1400" dirty="0"/>
              <a:t>modified</a:t>
            </a:r>
          </a:p>
          <a:p>
            <a:r>
              <a:rPr lang="en-US" sz="1400" dirty="0"/>
              <a:t>originated</a:t>
            </a:r>
          </a:p>
          <a:p>
            <a:r>
              <a:rPr lang="en-US" sz="1400" dirty="0"/>
              <a:t>performed</a:t>
            </a:r>
          </a:p>
          <a:p>
            <a:r>
              <a:rPr lang="en-US" sz="1400" dirty="0"/>
              <a:t>photographed</a:t>
            </a:r>
          </a:p>
          <a:p>
            <a:r>
              <a:rPr lang="en-US" sz="1400" dirty="0"/>
              <a:t>planned</a:t>
            </a:r>
          </a:p>
          <a:p>
            <a:r>
              <a:rPr lang="en-US" sz="1400" dirty="0"/>
              <a:t>revised</a:t>
            </a:r>
          </a:p>
          <a:p>
            <a:r>
              <a:rPr lang="en-US" sz="1400" dirty="0"/>
              <a:t>revitalized</a:t>
            </a:r>
          </a:p>
          <a:p>
            <a:r>
              <a:rPr lang="en-US" sz="1400" dirty="0"/>
              <a:t>shaped</a:t>
            </a:r>
          </a:p>
          <a:p>
            <a:r>
              <a:rPr lang="en-US" sz="1400" dirty="0"/>
              <a:t>solved</a:t>
            </a:r>
          </a:p>
          <a:p>
            <a:r>
              <a:rPr lang="en-US" sz="1600" b="1" dirty="0"/>
              <a:t>Helping skills</a:t>
            </a:r>
          </a:p>
          <a:p>
            <a:r>
              <a:rPr lang="en-US" sz="1400" dirty="0"/>
              <a:t>adapted</a:t>
            </a:r>
          </a:p>
          <a:p>
            <a:r>
              <a:rPr lang="en-US" sz="1400" dirty="0"/>
              <a:t>advocated</a:t>
            </a:r>
          </a:p>
          <a:p>
            <a:r>
              <a:rPr lang="en-US" sz="1400" dirty="0"/>
              <a:t>aided</a:t>
            </a:r>
          </a:p>
          <a:p>
            <a:r>
              <a:rPr lang="en-US" sz="1400" dirty="0"/>
              <a:t>answered</a:t>
            </a:r>
          </a:p>
          <a:p>
            <a:r>
              <a:rPr lang="en-US" sz="1400" dirty="0"/>
              <a:t>arranged</a:t>
            </a:r>
          </a:p>
          <a:p>
            <a:r>
              <a:rPr lang="en-US" sz="1400" dirty="0"/>
              <a:t>assessed</a:t>
            </a:r>
          </a:p>
        </p:txBody>
      </p:sp>
      <p:sp>
        <p:nvSpPr>
          <p:cNvPr id="9" name="Rectangle 8"/>
          <p:cNvSpPr/>
          <p:nvPr/>
        </p:nvSpPr>
        <p:spPr>
          <a:xfrm>
            <a:off x="5650421" y="1112574"/>
            <a:ext cx="1173460" cy="5693866"/>
          </a:xfrm>
          <a:prstGeom prst="rect">
            <a:avLst/>
          </a:prstGeom>
        </p:spPr>
        <p:txBody>
          <a:bodyPr wrap="square">
            <a:spAutoFit/>
          </a:bodyPr>
          <a:lstStyle/>
          <a:p>
            <a:pPr lvl="0"/>
            <a:r>
              <a:rPr lang="en-US" sz="1400" dirty="0">
                <a:solidFill>
                  <a:prstClr val="black"/>
                </a:solidFill>
                <a:latin typeface="Times New Roman" panose="02020603050405020304" pitchFamily="18" charset="0"/>
              </a:rPr>
              <a:t>assisted</a:t>
            </a:r>
          </a:p>
          <a:p>
            <a:pPr lvl="0"/>
            <a:r>
              <a:rPr lang="en-US" sz="1400" dirty="0">
                <a:solidFill>
                  <a:prstClr val="black"/>
                </a:solidFill>
                <a:latin typeface="Times New Roman" panose="02020603050405020304" pitchFamily="18" charset="0"/>
              </a:rPr>
              <a:t>cared for</a:t>
            </a:r>
          </a:p>
          <a:p>
            <a:pPr lvl="0"/>
            <a:r>
              <a:rPr lang="en-US" sz="1400" dirty="0">
                <a:solidFill>
                  <a:prstClr val="black"/>
                </a:solidFill>
                <a:latin typeface="Times New Roman" panose="02020603050405020304" pitchFamily="18" charset="0"/>
              </a:rPr>
              <a:t>Clarified</a:t>
            </a:r>
          </a:p>
          <a:p>
            <a:r>
              <a:rPr lang="en-US" sz="1400" dirty="0">
                <a:latin typeface="Times New Roman" panose="02020603050405020304" pitchFamily="18" charset="0"/>
              </a:rPr>
              <a:t>collaborated</a:t>
            </a:r>
          </a:p>
          <a:p>
            <a:r>
              <a:rPr lang="en-US" sz="1400" dirty="0">
                <a:latin typeface="Times New Roman" panose="02020603050405020304" pitchFamily="18" charset="0"/>
              </a:rPr>
              <a:t>contributed</a:t>
            </a:r>
          </a:p>
          <a:p>
            <a:r>
              <a:rPr lang="en-US" sz="1400" dirty="0">
                <a:latin typeface="Times New Roman" panose="02020603050405020304" pitchFamily="18" charset="0"/>
              </a:rPr>
              <a:t>cooperated</a:t>
            </a:r>
          </a:p>
          <a:p>
            <a:r>
              <a:rPr lang="en-US" sz="1400" dirty="0">
                <a:latin typeface="Times New Roman" panose="02020603050405020304" pitchFamily="18" charset="0"/>
              </a:rPr>
              <a:t>counseled</a:t>
            </a:r>
          </a:p>
          <a:p>
            <a:r>
              <a:rPr lang="en-US" sz="1400" dirty="0">
                <a:latin typeface="Times New Roman" panose="02020603050405020304" pitchFamily="18" charset="0"/>
              </a:rPr>
              <a:t>demonstrated</a:t>
            </a:r>
          </a:p>
          <a:p>
            <a:r>
              <a:rPr lang="en-US" sz="1400" dirty="0">
                <a:latin typeface="Times New Roman" panose="02020603050405020304" pitchFamily="18" charset="0"/>
              </a:rPr>
              <a:t>diagnosed</a:t>
            </a:r>
          </a:p>
          <a:p>
            <a:r>
              <a:rPr lang="en-US" sz="1400" dirty="0">
                <a:latin typeface="Times New Roman" panose="02020603050405020304" pitchFamily="18" charset="0"/>
              </a:rPr>
              <a:t>educated</a:t>
            </a:r>
          </a:p>
          <a:p>
            <a:r>
              <a:rPr lang="en-US" sz="1400" dirty="0">
                <a:latin typeface="Times New Roman" panose="02020603050405020304" pitchFamily="18" charset="0"/>
              </a:rPr>
              <a:t>Encouraged</a:t>
            </a:r>
          </a:p>
          <a:p>
            <a:r>
              <a:rPr lang="en-US" sz="1400" dirty="0">
                <a:latin typeface="Times New Roman" panose="02020603050405020304" pitchFamily="18" charset="0"/>
              </a:rPr>
              <a:t>ensured</a:t>
            </a:r>
          </a:p>
          <a:p>
            <a:r>
              <a:rPr lang="en-US" sz="1400" dirty="0">
                <a:latin typeface="Times New Roman" panose="02020603050405020304" pitchFamily="18" charset="0"/>
              </a:rPr>
              <a:t>expedited</a:t>
            </a:r>
          </a:p>
          <a:p>
            <a:r>
              <a:rPr lang="en-US" sz="1400" dirty="0">
                <a:latin typeface="Times New Roman" panose="02020603050405020304" pitchFamily="18" charset="0"/>
              </a:rPr>
              <a:t>facilitated</a:t>
            </a:r>
          </a:p>
          <a:p>
            <a:r>
              <a:rPr lang="en-US" sz="1400" dirty="0">
                <a:latin typeface="Times New Roman" panose="02020603050405020304" pitchFamily="18" charset="0"/>
              </a:rPr>
              <a:t>familiarize</a:t>
            </a:r>
          </a:p>
          <a:p>
            <a:r>
              <a:rPr lang="en-US" sz="1400" dirty="0">
                <a:latin typeface="Times New Roman" panose="02020603050405020304" pitchFamily="18" charset="0"/>
              </a:rPr>
              <a:t>furthered</a:t>
            </a:r>
          </a:p>
          <a:p>
            <a:r>
              <a:rPr lang="en-US" sz="1400" dirty="0">
                <a:latin typeface="Times New Roman" panose="02020603050405020304" pitchFamily="18" charset="0"/>
              </a:rPr>
              <a:t>guided</a:t>
            </a:r>
          </a:p>
          <a:p>
            <a:r>
              <a:rPr lang="en-US" sz="1400" dirty="0">
                <a:latin typeface="Times New Roman" panose="02020603050405020304" pitchFamily="18" charset="0"/>
              </a:rPr>
              <a:t>helped</a:t>
            </a:r>
          </a:p>
          <a:p>
            <a:r>
              <a:rPr lang="en-US" sz="1400" dirty="0">
                <a:latin typeface="Times New Roman" panose="02020603050405020304" pitchFamily="18" charset="0"/>
              </a:rPr>
              <a:t>insured</a:t>
            </a:r>
          </a:p>
          <a:p>
            <a:r>
              <a:rPr lang="en-US" sz="1400" dirty="0">
                <a:latin typeface="Times New Roman" panose="02020603050405020304" pitchFamily="18" charset="0"/>
              </a:rPr>
              <a:t>intervened</a:t>
            </a:r>
          </a:p>
          <a:p>
            <a:r>
              <a:rPr lang="en-US" sz="1400" dirty="0">
                <a:latin typeface="Times New Roman" panose="02020603050405020304" pitchFamily="18" charset="0"/>
              </a:rPr>
              <a:t>motivated</a:t>
            </a:r>
          </a:p>
          <a:p>
            <a:r>
              <a:rPr lang="en-US" sz="1400" dirty="0">
                <a:latin typeface="Times New Roman" panose="02020603050405020304" pitchFamily="18" charset="0"/>
              </a:rPr>
              <a:t>provided</a:t>
            </a:r>
          </a:p>
          <a:p>
            <a:r>
              <a:rPr lang="en-US" sz="1400" dirty="0">
                <a:latin typeface="Times New Roman" panose="02020603050405020304" pitchFamily="18" charset="0"/>
              </a:rPr>
              <a:t>referred</a:t>
            </a:r>
          </a:p>
          <a:p>
            <a:r>
              <a:rPr lang="en-US" sz="1400" dirty="0">
                <a:latin typeface="Times New Roman" panose="02020603050405020304" pitchFamily="18" charset="0"/>
              </a:rPr>
              <a:t>rehabilitated</a:t>
            </a:r>
          </a:p>
          <a:p>
            <a:r>
              <a:rPr lang="en-US" sz="1400" dirty="0">
                <a:latin typeface="Times New Roman" panose="02020603050405020304" pitchFamily="18" charset="0"/>
              </a:rPr>
              <a:t>presented</a:t>
            </a:r>
          </a:p>
          <a:p>
            <a:r>
              <a:rPr lang="en-US" sz="1400" dirty="0">
                <a:latin typeface="Times New Roman" panose="02020603050405020304" pitchFamily="18" charset="0"/>
              </a:rPr>
              <a:t>resolved</a:t>
            </a:r>
          </a:p>
        </p:txBody>
      </p:sp>
      <p:sp>
        <p:nvSpPr>
          <p:cNvPr id="10" name="Rectangle 9"/>
          <p:cNvSpPr/>
          <p:nvPr/>
        </p:nvSpPr>
        <p:spPr>
          <a:xfrm>
            <a:off x="7236551" y="1078440"/>
            <a:ext cx="1402482" cy="5755422"/>
          </a:xfrm>
          <a:prstGeom prst="rect">
            <a:avLst/>
          </a:prstGeom>
        </p:spPr>
        <p:txBody>
          <a:bodyPr wrap="square">
            <a:spAutoFit/>
          </a:bodyPr>
          <a:lstStyle/>
          <a:p>
            <a:pPr lvl="0"/>
            <a:r>
              <a:rPr lang="en-US" sz="1400" dirty="0">
                <a:solidFill>
                  <a:prstClr val="black"/>
                </a:solidFill>
                <a:latin typeface="Times New Roman" panose="02020603050405020304" pitchFamily="18" charset="0"/>
              </a:rPr>
              <a:t>simplified</a:t>
            </a:r>
          </a:p>
          <a:p>
            <a:pPr lvl="0"/>
            <a:r>
              <a:rPr lang="en-US" sz="1400" dirty="0">
                <a:solidFill>
                  <a:prstClr val="black"/>
                </a:solidFill>
                <a:latin typeface="Times New Roman" panose="02020603050405020304" pitchFamily="18" charset="0"/>
              </a:rPr>
              <a:t>supplied</a:t>
            </a:r>
          </a:p>
          <a:p>
            <a:pPr lvl="0"/>
            <a:r>
              <a:rPr lang="en-US" sz="1400" dirty="0">
                <a:solidFill>
                  <a:prstClr val="black"/>
                </a:solidFill>
                <a:latin typeface="Times New Roman" panose="02020603050405020304" pitchFamily="18" charset="0"/>
              </a:rPr>
              <a:t>supported</a:t>
            </a:r>
          </a:p>
          <a:p>
            <a:pPr lvl="0"/>
            <a:r>
              <a:rPr lang="en-US" sz="1400" dirty="0">
                <a:solidFill>
                  <a:prstClr val="black"/>
                </a:solidFill>
                <a:latin typeface="Times New Roman" panose="02020603050405020304" pitchFamily="18" charset="0"/>
              </a:rPr>
              <a:t>Volunteered</a:t>
            </a:r>
          </a:p>
          <a:p>
            <a:pPr lvl="0"/>
            <a:r>
              <a:rPr lang="en-US" sz="1600" b="1" dirty="0">
                <a:solidFill>
                  <a:prstClr val="black"/>
                </a:solidFill>
              </a:rPr>
              <a:t>Organization/</a:t>
            </a:r>
          </a:p>
          <a:p>
            <a:pPr lvl="0"/>
            <a:r>
              <a:rPr lang="en-US" sz="1600" b="1" dirty="0">
                <a:solidFill>
                  <a:prstClr val="black"/>
                </a:solidFill>
              </a:rPr>
              <a:t>Detail Skills</a:t>
            </a:r>
            <a:endParaRPr lang="en-US" sz="1400" b="1" dirty="0">
              <a:solidFill>
                <a:prstClr val="black"/>
              </a:solidFill>
            </a:endParaRPr>
          </a:p>
          <a:p>
            <a:pPr lvl="0"/>
            <a:r>
              <a:rPr lang="en-US" sz="1400" dirty="0">
                <a:solidFill>
                  <a:prstClr val="black"/>
                </a:solidFill>
              </a:rPr>
              <a:t>approved</a:t>
            </a:r>
          </a:p>
          <a:p>
            <a:pPr lvl="0"/>
            <a:r>
              <a:rPr lang="en-US" sz="1400" dirty="0">
                <a:solidFill>
                  <a:prstClr val="black"/>
                </a:solidFill>
              </a:rPr>
              <a:t>arranged</a:t>
            </a:r>
          </a:p>
          <a:p>
            <a:pPr lvl="0"/>
            <a:r>
              <a:rPr lang="en-US" sz="1400" dirty="0">
                <a:solidFill>
                  <a:prstClr val="black"/>
                </a:solidFill>
              </a:rPr>
              <a:t>cataloged</a:t>
            </a:r>
          </a:p>
          <a:p>
            <a:pPr lvl="0"/>
            <a:r>
              <a:rPr lang="en-US" sz="1400" dirty="0">
                <a:solidFill>
                  <a:prstClr val="black"/>
                </a:solidFill>
              </a:rPr>
              <a:t>categorized</a:t>
            </a:r>
          </a:p>
          <a:p>
            <a:pPr lvl="0"/>
            <a:r>
              <a:rPr lang="en-US" sz="1400" dirty="0">
                <a:solidFill>
                  <a:prstClr val="black"/>
                </a:solidFill>
              </a:rPr>
              <a:t>charted</a:t>
            </a:r>
          </a:p>
          <a:p>
            <a:pPr lvl="0"/>
            <a:r>
              <a:rPr lang="en-US" sz="1400" dirty="0">
                <a:solidFill>
                  <a:prstClr val="black"/>
                </a:solidFill>
              </a:rPr>
              <a:t>classified</a:t>
            </a:r>
          </a:p>
          <a:p>
            <a:pPr lvl="0"/>
            <a:r>
              <a:rPr lang="en-US" sz="1400" dirty="0">
                <a:solidFill>
                  <a:prstClr val="black"/>
                </a:solidFill>
              </a:rPr>
              <a:t>coded</a:t>
            </a:r>
          </a:p>
          <a:p>
            <a:pPr lvl="0"/>
            <a:r>
              <a:rPr lang="en-US" sz="1400" dirty="0">
                <a:solidFill>
                  <a:prstClr val="black"/>
                </a:solidFill>
              </a:rPr>
              <a:t>collected</a:t>
            </a:r>
          </a:p>
          <a:p>
            <a:pPr lvl="0"/>
            <a:r>
              <a:rPr lang="en-US" sz="1400" dirty="0">
                <a:solidFill>
                  <a:prstClr val="black"/>
                </a:solidFill>
              </a:rPr>
              <a:t>compiled</a:t>
            </a:r>
          </a:p>
          <a:p>
            <a:pPr lvl="0"/>
            <a:r>
              <a:rPr lang="en-US" sz="1400" dirty="0">
                <a:solidFill>
                  <a:prstClr val="black"/>
                </a:solidFill>
              </a:rPr>
              <a:t>corresponded</a:t>
            </a:r>
          </a:p>
          <a:p>
            <a:pPr lvl="0"/>
            <a:r>
              <a:rPr lang="en-US" sz="1400" dirty="0">
                <a:solidFill>
                  <a:prstClr val="black"/>
                </a:solidFill>
              </a:rPr>
              <a:t>distributed</a:t>
            </a:r>
          </a:p>
          <a:p>
            <a:pPr lvl="0"/>
            <a:r>
              <a:rPr lang="en-US" sz="1400" dirty="0">
                <a:solidFill>
                  <a:prstClr val="black"/>
                </a:solidFill>
              </a:rPr>
              <a:t>executed</a:t>
            </a:r>
          </a:p>
          <a:p>
            <a:pPr lvl="0"/>
            <a:r>
              <a:rPr lang="en-US" sz="1400" dirty="0">
                <a:solidFill>
                  <a:prstClr val="black"/>
                </a:solidFill>
              </a:rPr>
              <a:t>filed</a:t>
            </a:r>
          </a:p>
          <a:p>
            <a:pPr lvl="0"/>
            <a:r>
              <a:rPr lang="en-US" sz="1400" dirty="0">
                <a:solidFill>
                  <a:prstClr val="black"/>
                </a:solidFill>
              </a:rPr>
              <a:t>generated</a:t>
            </a:r>
          </a:p>
          <a:p>
            <a:pPr lvl="0"/>
            <a:r>
              <a:rPr lang="en-US" sz="1400" dirty="0">
                <a:solidFill>
                  <a:prstClr val="black"/>
                </a:solidFill>
              </a:rPr>
              <a:t>implemented</a:t>
            </a:r>
          </a:p>
          <a:p>
            <a:pPr lvl="0"/>
            <a:r>
              <a:rPr lang="en-US" sz="1400" dirty="0">
                <a:solidFill>
                  <a:prstClr val="black"/>
                </a:solidFill>
              </a:rPr>
              <a:t>incorporated</a:t>
            </a:r>
          </a:p>
          <a:p>
            <a:pPr lvl="0"/>
            <a:r>
              <a:rPr lang="en-US" sz="1400" dirty="0">
                <a:solidFill>
                  <a:prstClr val="black"/>
                </a:solidFill>
              </a:rPr>
              <a:t>inspected</a:t>
            </a:r>
          </a:p>
          <a:p>
            <a:pPr lvl="0"/>
            <a:r>
              <a:rPr lang="en-US" sz="1400" dirty="0">
                <a:solidFill>
                  <a:prstClr val="black"/>
                </a:solidFill>
              </a:rPr>
              <a:t>logged</a:t>
            </a:r>
          </a:p>
          <a:p>
            <a:pPr lvl="0"/>
            <a:r>
              <a:rPr lang="en-US" sz="1400" dirty="0">
                <a:solidFill>
                  <a:prstClr val="black"/>
                </a:solidFill>
              </a:rPr>
              <a:t>maintained</a:t>
            </a:r>
          </a:p>
          <a:p>
            <a:pPr lvl="0"/>
            <a:r>
              <a:rPr lang="en-US" sz="1400" dirty="0">
                <a:solidFill>
                  <a:prstClr val="black"/>
                </a:solidFill>
              </a:rPr>
              <a:t>monitored</a:t>
            </a:r>
          </a:p>
        </p:txBody>
      </p:sp>
      <p:sp>
        <p:nvSpPr>
          <p:cNvPr id="11" name="Rectangle 10"/>
          <p:cNvSpPr/>
          <p:nvPr/>
        </p:nvSpPr>
        <p:spPr>
          <a:xfrm>
            <a:off x="8639033" y="1078440"/>
            <a:ext cx="1678674" cy="5262979"/>
          </a:xfrm>
          <a:prstGeom prst="rect">
            <a:avLst/>
          </a:prstGeom>
        </p:spPr>
        <p:txBody>
          <a:bodyPr wrap="square">
            <a:spAutoFit/>
          </a:bodyPr>
          <a:lstStyle/>
          <a:p>
            <a:r>
              <a:rPr lang="en-US" sz="1400" dirty="0"/>
              <a:t>obtained</a:t>
            </a:r>
          </a:p>
          <a:p>
            <a:r>
              <a:rPr lang="en-US" sz="1400" dirty="0"/>
              <a:t>operated</a:t>
            </a:r>
          </a:p>
          <a:p>
            <a:r>
              <a:rPr lang="en-US" sz="1400" dirty="0"/>
              <a:t>Ordered</a:t>
            </a:r>
          </a:p>
          <a:p>
            <a:r>
              <a:rPr lang="en-US" sz="1400" dirty="0"/>
              <a:t>organized</a:t>
            </a:r>
          </a:p>
          <a:p>
            <a:r>
              <a:rPr lang="en-US" sz="1400" dirty="0"/>
              <a:t>prepared</a:t>
            </a:r>
          </a:p>
          <a:p>
            <a:r>
              <a:rPr lang="en-US" sz="1400" dirty="0"/>
              <a:t>processed</a:t>
            </a:r>
          </a:p>
          <a:p>
            <a:r>
              <a:rPr lang="en-US" sz="1400" dirty="0"/>
              <a:t>provided</a:t>
            </a:r>
          </a:p>
          <a:p>
            <a:r>
              <a:rPr lang="en-US" sz="1400" dirty="0"/>
              <a:t>purchased</a:t>
            </a:r>
          </a:p>
          <a:p>
            <a:r>
              <a:rPr lang="en-US" sz="1400" dirty="0"/>
              <a:t>recorded</a:t>
            </a:r>
          </a:p>
          <a:p>
            <a:r>
              <a:rPr lang="en-US" sz="1400" dirty="0"/>
              <a:t>registered</a:t>
            </a:r>
          </a:p>
          <a:p>
            <a:r>
              <a:rPr lang="en-US" sz="1400" dirty="0"/>
              <a:t>reserved</a:t>
            </a:r>
          </a:p>
          <a:p>
            <a:r>
              <a:rPr lang="en-US" sz="1400" dirty="0"/>
              <a:t>responded</a:t>
            </a:r>
          </a:p>
          <a:p>
            <a:r>
              <a:rPr lang="en-US" sz="1400" dirty="0"/>
              <a:t>reviewed</a:t>
            </a:r>
          </a:p>
          <a:p>
            <a:r>
              <a:rPr lang="en-US" sz="1400" dirty="0"/>
              <a:t>routed</a:t>
            </a:r>
          </a:p>
          <a:p>
            <a:r>
              <a:rPr lang="en-US" sz="1400" dirty="0"/>
              <a:t>scheduled</a:t>
            </a:r>
          </a:p>
          <a:p>
            <a:r>
              <a:rPr lang="en-US" sz="1400" dirty="0"/>
              <a:t>screened</a:t>
            </a:r>
          </a:p>
          <a:p>
            <a:r>
              <a:rPr lang="en-US" sz="1400" dirty="0"/>
              <a:t>set up</a:t>
            </a:r>
          </a:p>
          <a:p>
            <a:r>
              <a:rPr lang="en-US" sz="1400" dirty="0"/>
              <a:t>submitted</a:t>
            </a:r>
          </a:p>
          <a:p>
            <a:r>
              <a:rPr lang="en-US" sz="1400" dirty="0"/>
              <a:t>supplied</a:t>
            </a:r>
          </a:p>
          <a:p>
            <a:r>
              <a:rPr lang="en-US" sz="1400" dirty="0"/>
              <a:t>standardized</a:t>
            </a:r>
          </a:p>
          <a:p>
            <a:r>
              <a:rPr lang="en-US" sz="1400" dirty="0"/>
              <a:t>systematized</a:t>
            </a:r>
          </a:p>
          <a:p>
            <a:r>
              <a:rPr lang="en-US" sz="1400" dirty="0"/>
              <a:t>updated</a:t>
            </a:r>
          </a:p>
          <a:p>
            <a:r>
              <a:rPr lang="en-US" sz="1400" dirty="0"/>
              <a:t>validated</a:t>
            </a:r>
          </a:p>
          <a:p>
            <a:r>
              <a:rPr lang="en-US" sz="1400" dirty="0"/>
              <a:t>verified</a:t>
            </a:r>
          </a:p>
        </p:txBody>
      </p:sp>
      <p:sp>
        <p:nvSpPr>
          <p:cNvPr id="12" name="Rectangle 11"/>
          <p:cNvSpPr/>
          <p:nvPr/>
        </p:nvSpPr>
        <p:spPr>
          <a:xfrm>
            <a:off x="10041515" y="1186162"/>
            <a:ext cx="1678674" cy="3600986"/>
          </a:xfrm>
          <a:prstGeom prst="rect">
            <a:avLst/>
          </a:prstGeom>
        </p:spPr>
        <p:txBody>
          <a:bodyPr wrap="square">
            <a:spAutoFit/>
          </a:bodyPr>
          <a:lstStyle/>
          <a:p>
            <a:r>
              <a:rPr lang="en-US" sz="1600" b="1" dirty="0"/>
              <a:t>More verbs for</a:t>
            </a:r>
          </a:p>
          <a:p>
            <a:r>
              <a:rPr lang="en-US" sz="1600" b="1" dirty="0"/>
              <a:t>Accomplishments</a:t>
            </a:r>
          </a:p>
          <a:p>
            <a:r>
              <a:rPr lang="en-US" sz="1400" dirty="0"/>
              <a:t>achieved</a:t>
            </a:r>
          </a:p>
          <a:p>
            <a:r>
              <a:rPr lang="en-US" sz="1400" dirty="0"/>
              <a:t>completed</a:t>
            </a:r>
          </a:p>
          <a:p>
            <a:r>
              <a:rPr lang="en-US" sz="1400" dirty="0"/>
              <a:t>expanded</a:t>
            </a:r>
          </a:p>
          <a:p>
            <a:r>
              <a:rPr lang="en-US" sz="1400" dirty="0"/>
              <a:t>exceeded</a:t>
            </a:r>
          </a:p>
          <a:p>
            <a:r>
              <a:rPr lang="en-US" sz="1400" dirty="0"/>
              <a:t>improved</a:t>
            </a:r>
          </a:p>
          <a:p>
            <a:r>
              <a:rPr lang="en-US" sz="1400" dirty="0"/>
              <a:t>pioneered</a:t>
            </a:r>
          </a:p>
          <a:p>
            <a:r>
              <a:rPr lang="en-US" sz="1400" dirty="0"/>
              <a:t>reduced (losses)</a:t>
            </a:r>
          </a:p>
          <a:p>
            <a:r>
              <a:rPr lang="en-US" sz="1400" dirty="0"/>
              <a:t>resolved (issues)</a:t>
            </a:r>
          </a:p>
          <a:p>
            <a:r>
              <a:rPr lang="en-US" sz="1400" dirty="0"/>
              <a:t>restored</a:t>
            </a:r>
          </a:p>
          <a:p>
            <a:r>
              <a:rPr lang="en-US" sz="1400" dirty="0"/>
              <a:t>spearheaded</a:t>
            </a:r>
          </a:p>
          <a:p>
            <a:r>
              <a:rPr lang="en-US" sz="1400" dirty="0"/>
              <a:t>succeeded</a:t>
            </a:r>
          </a:p>
          <a:p>
            <a:r>
              <a:rPr lang="en-US" sz="1400" dirty="0"/>
              <a:t>surpassed</a:t>
            </a:r>
          </a:p>
          <a:p>
            <a:r>
              <a:rPr lang="en-US" sz="1400" dirty="0"/>
              <a:t>transformed</a:t>
            </a:r>
          </a:p>
          <a:p>
            <a:r>
              <a:rPr lang="en-US" sz="1400" dirty="0"/>
              <a:t>won</a:t>
            </a:r>
          </a:p>
        </p:txBody>
      </p:sp>
      <p:sp>
        <p:nvSpPr>
          <p:cNvPr id="13" name="Rectangle 12"/>
          <p:cNvSpPr/>
          <p:nvPr/>
        </p:nvSpPr>
        <p:spPr>
          <a:xfrm>
            <a:off x="7926259" y="6617196"/>
            <a:ext cx="4334228" cy="246221"/>
          </a:xfrm>
          <a:prstGeom prst="rect">
            <a:avLst/>
          </a:prstGeom>
        </p:spPr>
        <p:txBody>
          <a:bodyPr wrap="square">
            <a:spAutoFit/>
          </a:bodyPr>
          <a:lstStyle/>
          <a:p>
            <a:r>
              <a:rPr lang="en-US" sz="1000" dirty="0"/>
              <a:t>http://career.opcd.wfu.edu/files/2011/05/Action-Verbs-for-Resumes.pdf</a:t>
            </a:r>
          </a:p>
        </p:txBody>
      </p:sp>
    </p:spTree>
    <p:extLst>
      <p:ext uri="{BB962C8B-B14F-4D97-AF65-F5344CB8AC3E}">
        <p14:creationId xmlns:p14="http://schemas.microsoft.com/office/powerpoint/2010/main" val="702017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39722"/>
            <a:ext cx="12191999" cy="830997"/>
          </a:xfrm>
          <a:prstGeom prst="rect">
            <a:avLst/>
          </a:prstGeom>
          <a:noFill/>
        </p:spPr>
        <p:txBody>
          <a:bodyPr wrap="square" rtlCol="0">
            <a:spAutoFit/>
          </a:bodyPr>
          <a:lstStyle/>
          <a:p>
            <a:pPr algn="ctr"/>
            <a:r>
              <a:rPr lang="en-US" sz="3200" dirty="0">
                <a:latin typeface="Calisto MT" panose="02040603050505030304" pitchFamily="18" charset="0"/>
              </a:rPr>
              <a:t>Adjectives </a:t>
            </a:r>
          </a:p>
          <a:p>
            <a:pPr algn="ctr"/>
            <a:r>
              <a:rPr lang="en-US" sz="1600" dirty="0">
                <a:latin typeface="Calisto MT" panose="02040603050505030304" pitchFamily="18" charset="0"/>
              </a:rPr>
              <a:t>word or phrase naming an attribute, added to or grammatically related to a noun to modify or describe it</a:t>
            </a:r>
            <a:endParaRPr lang="en-US" sz="3200" dirty="0">
              <a:latin typeface="Calisto MT" panose="02040603050505030304" pitchFamily="18" charset="0"/>
            </a:endParaRP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7" name="Rectangle 6"/>
          <p:cNvSpPr/>
          <p:nvPr/>
        </p:nvSpPr>
        <p:spPr>
          <a:xfrm>
            <a:off x="123485" y="1343406"/>
            <a:ext cx="1240635" cy="5478423"/>
          </a:xfrm>
          <a:prstGeom prst="rect">
            <a:avLst/>
          </a:prstGeom>
        </p:spPr>
        <p:txBody>
          <a:bodyPr wrap="square">
            <a:spAutoFit/>
          </a:bodyPr>
          <a:lstStyle/>
          <a:p>
            <a:r>
              <a:rPr lang="en-US" sz="1400" dirty="0"/>
              <a:t>able</a:t>
            </a:r>
          </a:p>
          <a:p>
            <a:r>
              <a:rPr lang="en-US" sz="1400" dirty="0"/>
              <a:t>above average</a:t>
            </a:r>
          </a:p>
          <a:p>
            <a:r>
              <a:rPr lang="en-US" sz="1400" dirty="0"/>
              <a:t>acclaimed </a:t>
            </a:r>
          </a:p>
          <a:p>
            <a:r>
              <a:rPr lang="en-US" sz="1400" dirty="0"/>
              <a:t>accomplished</a:t>
            </a:r>
          </a:p>
          <a:p>
            <a:r>
              <a:rPr lang="en-US" sz="1400" dirty="0"/>
              <a:t>active </a:t>
            </a:r>
          </a:p>
          <a:p>
            <a:r>
              <a:rPr lang="en-US" sz="1400" dirty="0"/>
              <a:t>adaptable </a:t>
            </a:r>
          </a:p>
          <a:p>
            <a:r>
              <a:rPr lang="en-US" sz="1400" dirty="0"/>
              <a:t>adept </a:t>
            </a:r>
          </a:p>
          <a:p>
            <a:r>
              <a:rPr lang="en-US" sz="1400" dirty="0"/>
              <a:t>admirable</a:t>
            </a:r>
          </a:p>
          <a:p>
            <a:r>
              <a:rPr lang="en-US" sz="1400" dirty="0"/>
              <a:t> advanced </a:t>
            </a:r>
          </a:p>
          <a:p>
            <a:r>
              <a:rPr lang="en-US" sz="1400" dirty="0"/>
              <a:t>advancing</a:t>
            </a:r>
          </a:p>
          <a:p>
            <a:r>
              <a:rPr lang="en-US" sz="1400" dirty="0"/>
              <a:t> aggressive</a:t>
            </a:r>
          </a:p>
          <a:p>
            <a:r>
              <a:rPr lang="en-US" sz="1400" dirty="0"/>
              <a:t> agile </a:t>
            </a:r>
          </a:p>
          <a:p>
            <a:r>
              <a:rPr lang="en-US" sz="1400" dirty="0"/>
              <a:t>alert</a:t>
            </a:r>
          </a:p>
          <a:p>
            <a:r>
              <a:rPr lang="en-US" sz="1400" dirty="0"/>
              <a:t> ambitious</a:t>
            </a:r>
          </a:p>
          <a:p>
            <a:r>
              <a:rPr lang="en-US" sz="1400" dirty="0"/>
              <a:t> analytical </a:t>
            </a:r>
          </a:p>
          <a:p>
            <a:r>
              <a:rPr lang="en-US" sz="1400" dirty="0"/>
              <a:t>articulate</a:t>
            </a:r>
          </a:p>
          <a:p>
            <a:r>
              <a:rPr lang="en-US" sz="1400" dirty="0"/>
              <a:t>assured </a:t>
            </a:r>
          </a:p>
          <a:p>
            <a:r>
              <a:rPr lang="en-US" sz="1400" dirty="0"/>
              <a:t>astute </a:t>
            </a:r>
          </a:p>
          <a:p>
            <a:r>
              <a:rPr lang="en-US" sz="1400" dirty="0"/>
              <a:t>athletic</a:t>
            </a:r>
          </a:p>
          <a:p>
            <a:r>
              <a:rPr lang="en-US" sz="1400" dirty="0"/>
              <a:t>attentive</a:t>
            </a:r>
          </a:p>
          <a:p>
            <a:r>
              <a:rPr lang="en-US" sz="1400" dirty="0"/>
              <a:t>authoritative </a:t>
            </a:r>
          </a:p>
          <a:p>
            <a:r>
              <a:rPr lang="en-US" sz="1400" dirty="0"/>
              <a:t>aware </a:t>
            </a:r>
          </a:p>
          <a:p>
            <a:r>
              <a:rPr lang="en-US" sz="1400" dirty="0"/>
              <a:t>bold </a:t>
            </a:r>
          </a:p>
          <a:p>
            <a:r>
              <a:rPr lang="en-US" sz="1400" dirty="0"/>
              <a:t>brilliant </a:t>
            </a:r>
          </a:p>
          <a:p>
            <a:endParaRPr lang="en-US" sz="1400" dirty="0"/>
          </a:p>
        </p:txBody>
      </p:sp>
      <p:sp>
        <p:nvSpPr>
          <p:cNvPr id="8" name="Rectangle 7"/>
          <p:cNvSpPr/>
          <p:nvPr/>
        </p:nvSpPr>
        <p:spPr>
          <a:xfrm>
            <a:off x="1478507" y="910441"/>
            <a:ext cx="1660478" cy="6124754"/>
          </a:xfrm>
          <a:prstGeom prst="rect">
            <a:avLst/>
          </a:prstGeom>
        </p:spPr>
        <p:txBody>
          <a:bodyPr wrap="square">
            <a:spAutoFit/>
          </a:bodyPr>
          <a:lstStyle/>
          <a:p>
            <a:r>
              <a:rPr lang="en-US" sz="1400" dirty="0"/>
              <a:t>bright </a:t>
            </a:r>
          </a:p>
          <a:p>
            <a:r>
              <a:rPr lang="en-US" sz="1400" dirty="0"/>
              <a:t>beneficial </a:t>
            </a:r>
          </a:p>
          <a:p>
            <a:r>
              <a:rPr lang="en-US" sz="1400" dirty="0"/>
              <a:t>best</a:t>
            </a:r>
          </a:p>
          <a:p>
            <a:r>
              <a:rPr lang="en-US" sz="1400" dirty="0"/>
              <a:t>brave </a:t>
            </a:r>
          </a:p>
          <a:p>
            <a:r>
              <a:rPr lang="en-US" sz="1400" dirty="0"/>
              <a:t>bulletproof</a:t>
            </a:r>
          </a:p>
          <a:p>
            <a:r>
              <a:rPr lang="en-US" sz="1400" dirty="0"/>
              <a:t>balanced</a:t>
            </a:r>
          </a:p>
          <a:p>
            <a:r>
              <a:rPr lang="en-US" sz="1400" dirty="0"/>
              <a:t> competent</a:t>
            </a:r>
          </a:p>
          <a:p>
            <a:r>
              <a:rPr lang="en-US" sz="1400" dirty="0"/>
              <a:t> conscientious</a:t>
            </a:r>
          </a:p>
          <a:p>
            <a:r>
              <a:rPr lang="en-US" sz="1400" dirty="0"/>
              <a:t> cooperative</a:t>
            </a:r>
          </a:p>
          <a:p>
            <a:r>
              <a:rPr lang="en-US" sz="1400" dirty="0"/>
              <a:t> confident</a:t>
            </a:r>
          </a:p>
          <a:p>
            <a:r>
              <a:rPr lang="en-US" sz="1400" dirty="0"/>
              <a:t> considerate </a:t>
            </a:r>
          </a:p>
          <a:p>
            <a:r>
              <a:rPr lang="en-US" sz="1400" dirty="0"/>
              <a:t>creative </a:t>
            </a:r>
          </a:p>
          <a:p>
            <a:r>
              <a:rPr lang="en-US" sz="1400" dirty="0"/>
              <a:t>capable </a:t>
            </a:r>
          </a:p>
          <a:p>
            <a:r>
              <a:rPr lang="en-US" sz="1400" dirty="0"/>
              <a:t>consistent</a:t>
            </a:r>
          </a:p>
          <a:p>
            <a:r>
              <a:rPr lang="en-US" sz="1400" dirty="0"/>
              <a:t> critical </a:t>
            </a:r>
          </a:p>
          <a:p>
            <a:r>
              <a:rPr lang="en-US" sz="1400" dirty="0"/>
              <a:t>committed</a:t>
            </a:r>
          </a:p>
          <a:p>
            <a:r>
              <a:rPr lang="en-US" sz="1400" dirty="0"/>
              <a:t> conservative </a:t>
            </a:r>
          </a:p>
          <a:p>
            <a:r>
              <a:rPr lang="en-US" sz="1400" dirty="0"/>
              <a:t>commanding </a:t>
            </a:r>
          </a:p>
          <a:p>
            <a:r>
              <a:rPr lang="en-US" sz="1400" dirty="0"/>
              <a:t>careful </a:t>
            </a:r>
          </a:p>
          <a:p>
            <a:r>
              <a:rPr lang="en-US" sz="1400" dirty="0"/>
              <a:t>cautious</a:t>
            </a:r>
          </a:p>
          <a:p>
            <a:r>
              <a:rPr lang="en-US" sz="1400" dirty="0"/>
              <a:t> certified</a:t>
            </a:r>
          </a:p>
          <a:p>
            <a:r>
              <a:rPr lang="en-US" sz="1400" dirty="0"/>
              <a:t> courageous</a:t>
            </a:r>
          </a:p>
          <a:p>
            <a:r>
              <a:rPr lang="en-US" sz="1400" dirty="0"/>
              <a:t> compassionate</a:t>
            </a:r>
          </a:p>
          <a:p>
            <a:r>
              <a:rPr lang="en-US" sz="1400" dirty="0"/>
              <a:t> courteous </a:t>
            </a:r>
          </a:p>
          <a:p>
            <a:r>
              <a:rPr lang="en-US" sz="1400" dirty="0"/>
              <a:t>calm </a:t>
            </a:r>
          </a:p>
          <a:p>
            <a:r>
              <a:rPr lang="en-US" sz="1400" dirty="0"/>
              <a:t>commendable</a:t>
            </a:r>
          </a:p>
          <a:p>
            <a:r>
              <a:rPr lang="en-US" sz="1400" dirty="0"/>
              <a:t> contributing </a:t>
            </a:r>
          </a:p>
        </p:txBody>
      </p:sp>
      <p:sp>
        <p:nvSpPr>
          <p:cNvPr id="9" name="Rectangle 8"/>
          <p:cNvSpPr/>
          <p:nvPr/>
        </p:nvSpPr>
        <p:spPr>
          <a:xfrm>
            <a:off x="3084394" y="870719"/>
            <a:ext cx="1446007" cy="5909310"/>
          </a:xfrm>
          <a:prstGeom prst="rect">
            <a:avLst/>
          </a:prstGeom>
        </p:spPr>
        <p:txBody>
          <a:bodyPr wrap="square">
            <a:spAutoFit/>
          </a:bodyPr>
          <a:lstStyle/>
          <a:p>
            <a:r>
              <a:rPr lang="en-US" sz="1400" dirty="0"/>
              <a:t>determined</a:t>
            </a:r>
          </a:p>
          <a:p>
            <a:r>
              <a:rPr lang="en-US" sz="1400" dirty="0"/>
              <a:t> diligent </a:t>
            </a:r>
          </a:p>
          <a:p>
            <a:r>
              <a:rPr lang="en-US" sz="1400" dirty="0"/>
              <a:t>decisive </a:t>
            </a:r>
          </a:p>
          <a:p>
            <a:r>
              <a:rPr lang="en-US" sz="1400" dirty="0"/>
              <a:t>dedicated</a:t>
            </a:r>
          </a:p>
          <a:p>
            <a:r>
              <a:rPr lang="en-US" sz="1400" dirty="0"/>
              <a:t> dynamic </a:t>
            </a:r>
          </a:p>
          <a:p>
            <a:r>
              <a:rPr lang="en-US" sz="1400" dirty="0"/>
              <a:t>diplomatic </a:t>
            </a:r>
          </a:p>
          <a:p>
            <a:r>
              <a:rPr lang="en-US" sz="1400" dirty="0"/>
              <a:t>discreet</a:t>
            </a:r>
          </a:p>
          <a:p>
            <a:r>
              <a:rPr lang="en-US" sz="1400" dirty="0"/>
              <a:t> dependable </a:t>
            </a:r>
          </a:p>
          <a:p>
            <a:r>
              <a:rPr lang="en-US" sz="1400" dirty="0"/>
              <a:t>detail-oriented</a:t>
            </a:r>
          </a:p>
          <a:p>
            <a:r>
              <a:rPr lang="en-US" sz="1400" dirty="0"/>
              <a:t> deliberate </a:t>
            </a:r>
          </a:p>
          <a:p>
            <a:r>
              <a:rPr lang="en-US" sz="1400" dirty="0"/>
              <a:t>daring </a:t>
            </a:r>
          </a:p>
          <a:p>
            <a:r>
              <a:rPr lang="en-US" sz="1400" dirty="0"/>
              <a:t>driven </a:t>
            </a:r>
          </a:p>
          <a:p>
            <a:r>
              <a:rPr lang="en-US" sz="1400" dirty="0"/>
              <a:t>dutiful </a:t>
            </a:r>
          </a:p>
          <a:p>
            <a:r>
              <a:rPr lang="en-US" sz="1400" dirty="0"/>
              <a:t>dominating </a:t>
            </a:r>
          </a:p>
          <a:p>
            <a:r>
              <a:rPr lang="en-US" sz="1400" dirty="0"/>
              <a:t>educated</a:t>
            </a:r>
          </a:p>
          <a:p>
            <a:r>
              <a:rPr lang="en-US" sz="1400" dirty="0"/>
              <a:t> eloquent</a:t>
            </a:r>
          </a:p>
          <a:p>
            <a:r>
              <a:rPr lang="en-US" sz="1400" dirty="0"/>
              <a:t> exceptional </a:t>
            </a:r>
          </a:p>
          <a:p>
            <a:r>
              <a:rPr lang="en-US" sz="1400" dirty="0"/>
              <a:t>enabling</a:t>
            </a:r>
          </a:p>
          <a:p>
            <a:r>
              <a:rPr lang="en-US" sz="1400" dirty="0"/>
              <a:t> encouraging</a:t>
            </a:r>
          </a:p>
          <a:p>
            <a:r>
              <a:rPr lang="en-US" sz="1400" dirty="0"/>
              <a:t> essential </a:t>
            </a:r>
          </a:p>
          <a:p>
            <a:r>
              <a:rPr lang="en-US" sz="1400" dirty="0"/>
              <a:t>energetic</a:t>
            </a:r>
          </a:p>
          <a:p>
            <a:r>
              <a:rPr lang="en-US" sz="1400" dirty="0"/>
              <a:t> enthusiastic </a:t>
            </a:r>
          </a:p>
          <a:p>
            <a:r>
              <a:rPr lang="en-US" sz="1400" dirty="0"/>
              <a:t>earnest </a:t>
            </a:r>
          </a:p>
          <a:p>
            <a:r>
              <a:rPr lang="en-US" sz="1400" dirty="0"/>
              <a:t>enterprising</a:t>
            </a:r>
          </a:p>
          <a:p>
            <a:r>
              <a:rPr lang="en-US" sz="1400" dirty="0"/>
              <a:t> efficient</a:t>
            </a:r>
          </a:p>
          <a:p>
            <a:r>
              <a:rPr lang="en-US" sz="1400" dirty="0"/>
              <a:t> expert </a:t>
            </a:r>
          </a:p>
          <a:p>
            <a:r>
              <a:rPr lang="en-US" sz="1400" dirty="0"/>
              <a:t>eager</a:t>
            </a:r>
          </a:p>
        </p:txBody>
      </p:sp>
      <p:sp>
        <p:nvSpPr>
          <p:cNvPr id="10" name="Rectangle 9"/>
          <p:cNvSpPr/>
          <p:nvPr/>
        </p:nvSpPr>
        <p:spPr>
          <a:xfrm>
            <a:off x="4644788" y="910441"/>
            <a:ext cx="1715069" cy="5909310"/>
          </a:xfrm>
          <a:prstGeom prst="rect">
            <a:avLst/>
          </a:prstGeom>
        </p:spPr>
        <p:txBody>
          <a:bodyPr wrap="square">
            <a:spAutoFit/>
          </a:bodyPr>
          <a:lstStyle/>
          <a:p>
            <a:r>
              <a:rPr lang="en-US" sz="1400" dirty="0"/>
              <a:t> effective</a:t>
            </a:r>
          </a:p>
          <a:p>
            <a:r>
              <a:rPr lang="en-US" sz="1400" dirty="0"/>
              <a:t> experienced </a:t>
            </a:r>
          </a:p>
          <a:p>
            <a:r>
              <a:rPr lang="en-US" sz="1400" dirty="0"/>
              <a:t>energized</a:t>
            </a:r>
          </a:p>
          <a:p>
            <a:r>
              <a:rPr lang="en-US" sz="1400" dirty="0"/>
              <a:t> excellent</a:t>
            </a:r>
          </a:p>
          <a:p>
            <a:r>
              <a:rPr lang="en-US" sz="1400" dirty="0"/>
              <a:t> exemplary </a:t>
            </a:r>
          </a:p>
          <a:p>
            <a:r>
              <a:rPr lang="en-US" sz="1400" dirty="0"/>
              <a:t>flexible </a:t>
            </a:r>
          </a:p>
          <a:p>
            <a:r>
              <a:rPr lang="en-US" sz="1400" dirty="0"/>
              <a:t>fearless </a:t>
            </a:r>
          </a:p>
          <a:p>
            <a:r>
              <a:rPr lang="en-US" sz="1400" dirty="0"/>
              <a:t>facilitating </a:t>
            </a:r>
          </a:p>
          <a:p>
            <a:r>
              <a:rPr lang="en-US" sz="1400" dirty="0"/>
              <a:t>faithful</a:t>
            </a:r>
          </a:p>
          <a:p>
            <a:r>
              <a:rPr lang="en-US" sz="1400" dirty="0"/>
              <a:t> firm</a:t>
            </a:r>
          </a:p>
          <a:p>
            <a:r>
              <a:rPr lang="en-US" sz="1400" dirty="0"/>
              <a:t> fair </a:t>
            </a:r>
          </a:p>
          <a:p>
            <a:r>
              <a:rPr lang="en-US" sz="1400" dirty="0"/>
              <a:t>focused</a:t>
            </a:r>
          </a:p>
          <a:p>
            <a:r>
              <a:rPr lang="en-US" sz="1400" dirty="0"/>
              <a:t> flawless </a:t>
            </a:r>
          </a:p>
          <a:p>
            <a:r>
              <a:rPr lang="en-US" sz="1400" dirty="0"/>
              <a:t>forceful </a:t>
            </a:r>
          </a:p>
          <a:p>
            <a:r>
              <a:rPr lang="en-US" sz="1400" dirty="0"/>
              <a:t>gung-ho </a:t>
            </a:r>
          </a:p>
          <a:p>
            <a:r>
              <a:rPr lang="en-US" sz="1400" dirty="0"/>
              <a:t>genuine </a:t>
            </a:r>
          </a:p>
          <a:p>
            <a:r>
              <a:rPr lang="en-US" sz="1400" dirty="0"/>
              <a:t>goal-oriented  </a:t>
            </a:r>
          </a:p>
          <a:p>
            <a:r>
              <a:rPr lang="en-US" sz="1400" dirty="0"/>
              <a:t> hard working </a:t>
            </a:r>
          </a:p>
          <a:p>
            <a:r>
              <a:rPr lang="en-US" sz="1400" dirty="0"/>
              <a:t>hard-charging</a:t>
            </a:r>
          </a:p>
          <a:p>
            <a:r>
              <a:rPr lang="en-US" sz="1400" dirty="0"/>
              <a:t> helpful </a:t>
            </a:r>
          </a:p>
          <a:p>
            <a:r>
              <a:rPr lang="en-US" sz="1400" dirty="0"/>
              <a:t>honest</a:t>
            </a:r>
          </a:p>
          <a:p>
            <a:r>
              <a:rPr lang="en-US" sz="1400" dirty="0"/>
              <a:t> honorable </a:t>
            </a:r>
          </a:p>
          <a:p>
            <a:r>
              <a:rPr lang="en-US" sz="1400" dirty="0"/>
              <a:t>industrious </a:t>
            </a:r>
          </a:p>
          <a:p>
            <a:r>
              <a:rPr lang="en-US" sz="1400" dirty="0"/>
              <a:t>innovative </a:t>
            </a:r>
          </a:p>
          <a:p>
            <a:r>
              <a:rPr lang="en-US" sz="1400" dirty="0"/>
              <a:t>independent </a:t>
            </a:r>
          </a:p>
          <a:p>
            <a:r>
              <a:rPr lang="en-US" sz="1400" dirty="0"/>
              <a:t>inventive</a:t>
            </a:r>
          </a:p>
          <a:p>
            <a:r>
              <a:rPr lang="en-US" sz="1400" dirty="0"/>
              <a:t> </a:t>
            </a:r>
          </a:p>
        </p:txBody>
      </p:sp>
      <p:sp>
        <p:nvSpPr>
          <p:cNvPr id="11" name="Rectangle 10"/>
          <p:cNvSpPr/>
          <p:nvPr/>
        </p:nvSpPr>
        <p:spPr>
          <a:xfrm>
            <a:off x="6164893" y="910441"/>
            <a:ext cx="1739435" cy="6124754"/>
          </a:xfrm>
          <a:prstGeom prst="rect">
            <a:avLst/>
          </a:prstGeom>
        </p:spPr>
        <p:txBody>
          <a:bodyPr wrap="square">
            <a:spAutoFit/>
          </a:bodyPr>
          <a:lstStyle/>
          <a:p>
            <a:r>
              <a:rPr lang="en-US" sz="1400" dirty="0"/>
              <a:t>impartial </a:t>
            </a:r>
          </a:p>
          <a:p>
            <a:r>
              <a:rPr lang="en-US" sz="1400" dirty="0"/>
              <a:t>imaginative </a:t>
            </a:r>
          </a:p>
          <a:p>
            <a:r>
              <a:rPr lang="en-US" sz="1400" dirty="0"/>
              <a:t>impressive</a:t>
            </a:r>
          </a:p>
          <a:p>
            <a:r>
              <a:rPr lang="en-US" sz="1400" dirty="0"/>
              <a:t> intelligent</a:t>
            </a:r>
          </a:p>
          <a:p>
            <a:r>
              <a:rPr lang="en-US" sz="1400" dirty="0"/>
              <a:t> important </a:t>
            </a:r>
          </a:p>
          <a:p>
            <a:r>
              <a:rPr lang="en-US" sz="1400" dirty="0"/>
              <a:t>indispensable </a:t>
            </a:r>
          </a:p>
          <a:p>
            <a:r>
              <a:rPr lang="en-US" sz="1400" dirty="0"/>
              <a:t>inspired</a:t>
            </a:r>
          </a:p>
          <a:p>
            <a:r>
              <a:rPr lang="en-US" sz="1400" dirty="0"/>
              <a:t> involved </a:t>
            </a:r>
          </a:p>
          <a:p>
            <a:r>
              <a:rPr lang="en-US" sz="1400" dirty="0"/>
              <a:t>influential</a:t>
            </a:r>
          </a:p>
          <a:p>
            <a:r>
              <a:rPr lang="en-US" sz="1400" dirty="0"/>
              <a:t> ingenious</a:t>
            </a:r>
          </a:p>
          <a:p>
            <a:r>
              <a:rPr lang="en-US" sz="1400" dirty="0"/>
              <a:t> informed</a:t>
            </a:r>
          </a:p>
          <a:p>
            <a:r>
              <a:rPr lang="en-US" sz="1400" dirty="0"/>
              <a:t>invaluable</a:t>
            </a:r>
          </a:p>
          <a:p>
            <a:r>
              <a:rPr lang="en-US" sz="1400" dirty="0"/>
              <a:t> insatiable </a:t>
            </a:r>
          </a:p>
          <a:p>
            <a:r>
              <a:rPr lang="en-US" sz="1400" dirty="0"/>
              <a:t>inexhaustible </a:t>
            </a:r>
          </a:p>
          <a:p>
            <a:r>
              <a:rPr lang="en-US" sz="1400" dirty="0"/>
              <a:t>invested </a:t>
            </a:r>
          </a:p>
          <a:p>
            <a:r>
              <a:rPr lang="en-US" sz="1400" dirty="0"/>
              <a:t>just </a:t>
            </a:r>
          </a:p>
          <a:p>
            <a:r>
              <a:rPr lang="en-US" sz="1400" dirty="0"/>
              <a:t>judicious</a:t>
            </a:r>
          </a:p>
          <a:p>
            <a:r>
              <a:rPr lang="en-US" sz="1400" dirty="0"/>
              <a:t> key</a:t>
            </a:r>
          </a:p>
          <a:p>
            <a:r>
              <a:rPr lang="en-US" sz="1400" dirty="0"/>
              <a:t>knowledgeable </a:t>
            </a:r>
          </a:p>
          <a:p>
            <a:r>
              <a:rPr lang="en-US" sz="1400" dirty="0"/>
              <a:t>leading</a:t>
            </a:r>
          </a:p>
          <a:p>
            <a:r>
              <a:rPr lang="en-US" sz="1400" dirty="0"/>
              <a:t> logical</a:t>
            </a:r>
          </a:p>
          <a:p>
            <a:r>
              <a:rPr lang="en-US" sz="1400" dirty="0"/>
              <a:t> level-headed</a:t>
            </a:r>
          </a:p>
          <a:p>
            <a:r>
              <a:rPr lang="en-US" sz="1400" dirty="0"/>
              <a:t>learned </a:t>
            </a:r>
          </a:p>
          <a:p>
            <a:r>
              <a:rPr lang="en-US" sz="1400" dirty="0"/>
              <a:t>loyal</a:t>
            </a:r>
          </a:p>
          <a:p>
            <a:r>
              <a:rPr lang="en-US" sz="1400" dirty="0"/>
              <a:t> lasting</a:t>
            </a:r>
          </a:p>
          <a:p>
            <a:r>
              <a:rPr lang="en-US" sz="1400" dirty="0"/>
              <a:t>masterful</a:t>
            </a:r>
          </a:p>
          <a:p>
            <a:r>
              <a:rPr lang="en-US" sz="1400" dirty="0"/>
              <a:t> motivated</a:t>
            </a:r>
          </a:p>
          <a:p>
            <a:endParaRPr lang="en-US" sz="1400" dirty="0"/>
          </a:p>
        </p:txBody>
      </p:sp>
      <p:sp>
        <p:nvSpPr>
          <p:cNvPr id="12" name="Rectangle 11"/>
          <p:cNvSpPr/>
          <p:nvPr/>
        </p:nvSpPr>
        <p:spPr>
          <a:xfrm>
            <a:off x="7728316" y="870719"/>
            <a:ext cx="1611090" cy="5909310"/>
          </a:xfrm>
          <a:prstGeom prst="rect">
            <a:avLst/>
          </a:prstGeom>
        </p:spPr>
        <p:txBody>
          <a:bodyPr wrap="square">
            <a:spAutoFit/>
          </a:bodyPr>
          <a:lstStyle/>
          <a:p>
            <a:r>
              <a:rPr lang="en-US" sz="1400" dirty="0"/>
              <a:t>multi-talented </a:t>
            </a:r>
          </a:p>
          <a:p>
            <a:r>
              <a:rPr lang="en-US" sz="1400" dirty="0"/>
              <a:t>multi-skilled </a:t>
            </a:r>
          </a:p>
          <a:p>
            <a:r>
              <a:rPr lang="en-US" sz="1400" dirty="0"/>
              <a:t>Meticulous</a:t>
            </a:r>
          </a:p>
          <a:p>
            <a:r>
              <a:rPr lang="en-US" sz="1400" dirty="0"/>
              <a:t> modest </a:t>
            </a:r>
          </a:p>
          <a:p>
            <a:r>
              <a:rPr lang="en-US" sz="1400" dirty="0"/>
              <a:t>Mature</a:t>
            </a:r>
          </a:p>
          <a:p>
            <a:r>
              <a:rPr lang="en-US" sz="1400" dirty="0"/>
              <a:t>methodical </a:t>
            </a:r>
          </a:p>
          <a:p>
            <a:r>
              <a:rPr lang="en-US" sz="1400" dirty="0"/>
              <a:t>Nimble</a:t>
            </a:r>
          </a:p>
          <a:p>
            <a:r>
              <a:rPr lang="en-US" sz="1400" dirty="0"/>
              <a:t> notable </a:t>
            </a:r>
          </a:p>
          <a:p>
            <a:r>
              <a:rPr lang="en-US" sz="1400" dirty="0"/>
              <a:t>no-nonsense </a:t>
            </a:r>
          </a:p>
          <a:p>
            <a:r>
              <a:rPr lang="en-US" sz="1400" dirty="0"/>
              <a:t>Outstanding</a:t>
            </a:r>
          </a:p>
          <a:p>
            <a:r>
              <a:rPr lang="en-US" sz="1400" dirty="0"/>
              <a:t> organized</a:t>
            </a:r>
          </a:p>
          <a:p>
            <a:r>
              <a:rPr lang="en-US" sz="1400" dirty="0"/>
              <a:t> observant </a:t>
            </a:r>
          </a:p>
          <a:p>
            <a:r>
              <a:rPr lang="en-US" sz="1400" dirty="0"/>
              <a:t>orderly </a:t>
            </a:r>
          </a:p>
          <a:p>
            <a:r>
              <a:rPr lang="en-US" sz="1400" dirty="0"/>
              <a:t>punctual </a:t>
            </a:r>
          </a:p>
          <a:p>
            <a:r>
              <a:rPr lang="en-US" sz="1400" dirty="0"/>
              <a:t>Proficient</a:t>
            </a:r>
          </a:p>
          <a:p>
            <a:r>
              <a:rPr lang="en-US" sz="1400" dirty="0"/>
              <a:t>prepared </a:t>
            </a:r>
          </a:p>
          <a:p>
            <a:r>
              <a:rPr lang="en-US" sz="1400" dirty="0"/>
              <a:t>productive</a:t>
            </a:r>
          </a:p>
          <a:p>
            <a:r>
              <a:rPr lang="en-US" sz="1400" dirty="0"/>
              <a:t> positive</a:t>
            </a:r>
          </a:p>
          <a:p>
            <a:r>
              <a:rPr lang="en-US" sz="1400" dirty="0"/>
              <a:t> professional </a:t>
            </a:r>
          </a:p>
          <a:p>
            <a:r>
              <a:rPr lang="en-US" sz="1400" dirty="0"/>
              <a:t>perfect </a:t>
            </a:r>
          </a:p>
          <a:p>
            <a:r>
              <a:rPr lang="en-US" sz="1400" dirty="0"/>
              <a:t>prominent protective proactive </a:t>
            </a:r>
          </a:p>
          <a:p>
            <a:r>
              <a:rPr lang="en-US" sz="1400" dirty="0"/>
              <a:t>proven </a:t>
            </a:r>
          </a:p>
          <a:p>
            <a:r>
              <a:rPr lang="en-US" sz="1400" dirty="0"/>
              <a:t>persuasive </a:t>
            </a:r>
          </a:p>
          <a:p>
            <a:r>
              <a:rPr lang="en-US" sz="1400" dirty="0"/>
              <a:t>Practiced</a:t>
            </a:r>
          </a:p>
          <a:p>
            <a:r>
              <a:rPr lang="en-US" sz="1400" dirty="0"/>
              <a:t> perceptive</a:t>
            </a:r>
          </a:p>
        </p:txBody>
      </p:sp>
      <p:sp>
        <p:nvSpPr>
          <p:cNvPr id="13" name="Rectangle 12"/>
          <p:cNvSpPr/>
          <p:nvPr/>
        </p:nvSpPr>
        <p:spPr>
          <a:xfrm>
            <a:off x="9233213" y="881458"/>
            <a:ext cx="1612400" cy="5909310"/>
          </a:xfrm>
          <a:prstGeom prst="rect">
            <a:avLst/>
          </a:prstGeom>
        </p:spPr>
        <p:txBody>
          <a:bodyPr wrap="square">
            <a:spAutoFit/>
          </a:bodyPr>
          <a:lstStyle/>
          <a:p>
            <a:r>
              <a:rPr lang="en-US" sz="1400" dirty="0"/>
              <a:t>promising</a:t>
            </a:r>
          </a:p>
          <a:p>
            <a:r>
              <a:rPr lang="en-US" sz="1400" dirty="0"/>
              <a:t> polished </a:t>
            </a:r>
          </a:p>
          <a:p>
            <a:r>
              <a:rPr lang="en-US" sz="1400" dirty="0"/>
              <a:t>prudent </a:t>
            </a:r>
          </a:p>
          <a:p>
            <a:r>
              <a:rPr lang="en-US" sz="1400" dirty="0"/>
              <a:t>Precise</a:t>
            </a:r>
          </a:p>
          <a:p>
            <a:r>
              <a:rPr lang="en-US" sz="1400" dirty="0"/>
              <a:t>Persistent</a:t>
            </a:r>
          </a:p>
          <a:p>
            <a:r>
              <a:rPr lang="en-US" sz="1400" dirty="0"/>
              <a:t>persevering</a:t>
            </a:r>
          </a:p>
          <a:p>
            <a:r>
              <a:rPr lang="en-US" sz="1400" dirty="0"/>
              <a:t> practical</a:t>
            </a:r>
          </a:p>
          <a:p>
            <a:r>
              <a:rPr lang="en-US" sz="1400" dirty="0"/>
              <a:t> poised</a:t>
            </a:r>
          </a:p>
          <a:p>
            <a:r>
              <a:rPr lang="en-US" sz="1400" dirty="0"/>
              <a:t> peerless </a:t>
            </a:r>
          </a:p>
          <a:p>
            <a:r>
              <a:rPr lang="en-US" sz="1400" dirty="0"/>
              <a:t>Praiseworthy</a:t>
            </a:r>
          </a:p>
          <a:p>
            <a:r>
              <a:rPr lang="en-US" sz="1400" dirty="0"/>
              <a:t> qualified</a:t>
            </a:r>
          </a:p>
          <a:p>
            <a:r>
              <a:rPr lang="en-US" sz="1400" dirty="0"/>
              <a:t> quick </a:t>
            </a:r>
          </a:p>
          <a:p>
            <a:r>
              <a:rPr lang="en-US" sz="1400" dirty="0"/>
              <a:t>quick-thinking </a:t>
            </a:r>
          </a:p>
          <a:p>
            <a:r>
              <a:rPr lang="en-US" sz="1400" dirty="0"/>
              <a:t>Responsible</a:t>
            </a:r>
          </a:p>
          <a:p>
            <a:r>
              <a:rPr lang="en-US" sz="1400" dirty="0"/>
              <a:t>ready</a:t>
            </a:r>
          </a:p>
          <a:p>
            <a:r>
              <a:rPr lang="en-US" sz="1400" dirty="0"/>
              <a:t>Rational</a:t>
            </a:r>
          </a:p>
          <a:p>
            <a:r>
              <a:rPr lang="en-US" sz="1400" dirty="0"/>
              <a:t>Recognized</a:t>
            </a:r>
          </a:p>
          <a:p>
            <a:r>
              <a:rPr lang="en-US" sz="1400" dirty="0"/>
              <a:t>Relentless</a:t>
            </a:r>
          </a:p>
          <a:p>
            <a:r>
              <a:rPr lang="en-US" sz="1400" dirty="0"/>
              <a:t>reliable </a:t>
            </a:r>
          </a:p>
          <a:p>
            <a:r>
              <a:rPr lang="en-US" sz="1400" dirty="0"/>
              <a:t>Resourceful</a:t>
            </a:r>
          </a:p>
          <a:p>
            <a:r>
              <a:rPr lang="en-US" sz="1400" dirty="0"/>
              <a:t>remarkable </a:t>
            </a:r>
          </a:p>
          <a:p>
            <a:r>
              <a:rPr lang="en-US" sz="1400" dirty="0"/>
              <a:t>Reasonable</a:t>
            </a:r>
          </a:p>
          <a:p>
            <a:r>
              <a:rPr lang="en-US" sz="1400" dirty="0"/>
              <a:t>Reputable</a:t>
            </a:r>
          </a:p>
          <a:p>
            <a:r>
              <a:rPr lang="en-US" sz="1400" dirty="0"/>
              <a:t>Resilient</a:t>
            </a:r>
          </a:p>
          <a:p>
            <a:r>
              <a:rPr lang="en-US" sz="1400" dirty="0"/>
              <a:t> results-oriented </a:t>
            </a:r>
          </a:p>
          <a:p>
            <a:r>
              <a:rPr lang="en-US" sz="1400" dirty="0"/>
              <a:t>resolute </a:t>
            </a:r>
          </a:p>
          <a:p>
            <a:r>
              <a:rPr lang="en-US" sz="1400" dirty="0"/>
              <a:t> </a:t>
            </a:r>
          </a:p>
        </p:txBody>
      </p:sp>
      <p:sp>
        <p:nvSpPr>
          <p:cNvPr id="14" name="Rectangle 13"/>
          <p:cNvSpPr/>
          <p:nvPr/>
        </p:nvSpPr>
        <p:spPr>
          <a:xfrm>
            <a:off x="10845613" y="1343406"/>
            <a:ext cx="1346388" cy="5478423"/>
          </a:xfrm>
          <a:prstGeom prst="rect">
            <a:avLst/>
          </a:prstGeom>
        </p:spPr>
        <p:txBody>
          <a:bodyPr wrap="square">
            <a:spAutoFit/>
          </a:bodyPr>
          <a:lstStyle/>
          <a:p>
            <a:r>
              <a:rPr lang="en-US" sz="1400" dirty="0"/>
              <a:t>skillful/skilled </a:t>
            </a:r>
          </a:p>
          <a:p>
            <a:r>
              <a:rPr lang="en-US" sz="1400" dirty="0"/>
              <a:t>superior </a:t>
            </a:r>
          </a:p>
          <a:p>
            <a:r>
              <a:rPr lang="en-US" sz="1400" dirty="0"/>
              <a:t>scrupulous </a:t>
            </a:r>
          </a:p>
          <a:p>
            <a:r>
              <a:rPr lang="en-US" sz="1400" dirty="0"/>
              <a:t>sober </a:t>
            </a:r>
          </a:p>
          <a:p>
            <a:r>
              <a:rPr lang="en-US" sz="1400" dirty="0"/>
              <a:t>Supportive</a:t>
            </a:r>
          </a:p>
          <a:p>
            <a:r>
              <a:rPr lang="en-US" sz="1400" dirty="0"/>
              <a:t> self-assured </a:t>
            </a:r>
          </a:p>
          <a:p>
            <a:r>
              <a:rPr lang="en-US" sz="1400" dirty="0"/>
              <a:t>stable </a:t>
            </a:r>
          </a:p>
          <a:p>
            <a:r>
              <a:rPr lang="en-US" sz="1400" dirty="0"/>
              <a:t>steady </a:t>
            </a:r>
          </a:p>
          <a:p>
            <a:r>
              <a:rPr lang="en-US" sz="1400" dirty="0"/>
              <a:t>satisfactory </a:t>
            </a:r>
          </a:p>
          <a:p>
            <a:r>
              <a:rPr lang="en-US" sz="1400" dirty="0"/>
              <a:t>Significant</a:t>
            </a:r>
          </a:p>
          <a:p>
            <a:r>
              <a:rPr lang="en-US" sz="1400" dirty="0"/>
              <a:t>self-motivated</a:t>
            </a:r>
          </a:p>
          <a:p>
            <a:r>
              <a:rPr lang="en-US" sz="1400" dirty="0"/>
              <a:t>sincere </a:t>
            </a:r>
          </a:p>
          <a:p>
            <a:r>
              <a:rPr lang="en-US" sz="1400" dirty="0"/>
              <a:t>strong </a:t>
            </a:r>
          </a:p>
          <a:p>
            <a:r>
              <a:rPr lang="en-US" sz="1400" dirty="0"/>
              <a:t>Secure</a:t>
            </a:r>
          </a:p>
          <a:p>
            <a:r>
              <a:rPr lang="en-US" sz="1400" dirty="0"/>
              <a:t>self-reliant</a:t>
            </a:r>
          </a:p>
          <a:p>
            <a:r>
              <a:rPr lang="en-US" sz="1400" dirty="0"/>
              <a:t>systematic </a:t>
            </a:r>
          </a:p>
          <a:p>
            <a:r>
              <a:rPr lang="en-US" sz="1400" dirty="0"/>
              <a:t>smart </a:t>
            </a:r>
          </a:p>
          <a:p>
            <a:r>
              <a:rPr lang="en-US" sz="1400" dirty="0"/>
              <a:t>sensible </a:t>
            </a:r>
          </a:p>
          <a:p>
            <a:r>
              <a:rPr lang="en-US" sz="1400" dirty="0"/>
              <a:t>Selfless</a:t>
            </a:r>
          </a:p>
          <a:p>
            <a:r>
              <a:rPr lang="en-US" sz="1400" dirty="0"/>
              <a:t> steadfast</a:t>
            </a:r>
          </a:p>
          <a:p>
            <a:r>
              <a:rPr lang="en-US" sz="1400" dirty="0"/>
              <a:t> serious</a:t>
            </a:r>
          </a:p>
          <a:p>
            <a:r>
              <a:rPr lang="en-US" sz="1400" dirty="0"/>
              <a:t> spirited</a:t>
            </a:r>
          </a:p>
          <a:p>
            <a:r>
              <a:rPr lang="en-US" sz="1400" dirty="0"/>
              <a:t>sharp </a:t>
            </a:r>
          </a:p>
          <a:p>
            <a:r>
              <a:rPr lang="en-US" sz="1400" dirty="0"/>
              <a:t>successful </a:t>
            </a:r>
          </a:p>
          <a:p>
            <a:endParaRPr lang="en-US" sz="1400" dirty="0"/>
          </a:p>
        </p:txBody>
      </p:sp>
    </p:spTree>
    <p:extLst>
      <p:ext uri="{BB962C8B-B14F-4D97-AF65-F5344CB8AC3E}">
        <p14:creationId xmlns:p14="http://schemas.microsoft.com/office/powerpoint/2010/main" val="25894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26429" y="1068275"/>
            <a:ext cx="1728717" cy="5632311"/>
          </a:xfrm>
          <a:prstGeom prst="rect">
            <a:avLst/>
          </a:prstGeom>
        </p:spPr>
        <p:txBody>
          <a:bodyPr wrap="square">
            <a:spAutoFit/>
          </a:bodyPr>
          <a:lstStyle/>
          <a:p>
            <a:r>
              <a:rPr lang="en-US" dirty="0"/>
              <a:t>self-confident</a:t>
            </a:r>
          </a:p>
          <a:p>
            <a:r>
              <a:rPr lang="en-US" dirty="0"/>
              <a:t> stalwart </a:t>
            </a:r>
          </a:p>
          <a:p>
            <a:r>
              <a:rPr lang="en-US" dirty="0"/>
              <a:t>stellar </a:t>
            </a:r>
          </a:p>
          <a:p>
            <a:r>
              <a:rPr lang="en-US" dirty="0"/>
              <a:t>sustaining </a:t>
            </a:r>
          </a:p>
          <a:p>
            <a:r>
              <a:rPr lang="en-US" dirty="0"/>
              <a:t>selected </a:t>
            </a:r>
          </a:p>
          <a:p>
            <a:r>
              <a:rPr lang="en-US" dirty="0"/>
              <a:t>superb </a:t>
            </a:r>
          </a:p>
          <a:p>
            <a:r>
              <a:rPr lang="en-US" dirty="0"/>
              <a:t>sterling </a:t>
            </a:r>
          </a:p>
          <a:p>
            <a:r>
              <a:rPr lang="en-US" dirty="0"/>
              <a:t>superlative     </a:t>
            </a:r>
          </a:p>
          <a:p>
            <a:r>
              <a:rPr lang="en-US" dirty="0"/>
              <a:t>Tactful</a:t>
            </a:r>
          </a:p>
          <a:p>
            <a:r>
              <a:rPr lang="en-US" dirty="0"/>
              <a:t> tested</a:t>
            </a:r>
          </a:p>
          <a:p>
            <a:r>
              <a:rPr lang="en-US" dirty="0"/>
              <a:t> tenacious</a:t>
            </a:r>
          </a:p>
          <a:p>
            <a:r>
              <a:rPr lang="en-US" dirty="0"/>
              <a:t> trained</a:t>
            </a:r>
          </a:p>
          <a:p>
            <a:r>
              <a:rPr lang="en-US" dirty="0"/>
              <a:t> talented</a:t>
            </a:r>
          </a:p>
          <a:p>
            <a:r>
              <a:rPr lang="en-US" dirty="0"/>
              <a:t> tireless </a:t>
            </a:r>
          </a:p>
          <a:p>
            <a:r>
              <a:rPr lang="en-US" dirty="0"/>
              <a:t>Thorough</a:t>
            </a:r>
          </a:p>
          <a:p>
            <a:r>
              <a:rPr lang="en-US" dirty="0"/>
              <a:t> traditional </a:t>
            </a:r>
          </a:p>
          <a:p>
            <a:r>
              <a:rPr lang="en-US" dirty="0"/>
              <a:t>Trustworthy</a:t>
            </a:r>
          </a:p>
          <a:p>
            <a:r>
              <a:rPr lang="en-US" dirty="0"/>
              <a:t> top</a:t>
            </a:r>
          </a:p>
          <a:p>
            <a:r>
              <a:rPr lang="en-US" dirty="0"/>
              <a:t> thoughtful</a:t>
            </a:r>
          </a:p>
          <a:p>
            <a:r>
              <a:rPr lang="en-US" dirty="0"/>
              <a:t> tough </a:t>
            </a:r>
          </a:p>
        </p:txBody>
      </p:sp>
      <p:sp>
        <p:nvSpPr>
          <p:cNvPr id="5" name="Rectangle 4"/>
          <p:cNvSpPr/>
          <p:nvPr/>
        </p:nvSpPr>
        <p:spPr>
          <a:xfrm>
            <a:off x="2938818" y="1068275"/>
            <a:ext cx="1824251" cy="5078313"/>
          </a:xfrm>
          <a:prstGeom prst="rect">
            <a:avLst/>
          </a:prstGeom>
        </p:spPr>
        <p:txBody>
          <a:bodyPr wrap="square">
            <a:spAutoFit/>
          </a:bodyPr>
          <a:lstStyle/>
          <a:p>
            <a:r>
              <a:rPr lang="en-US" dirty="0"/>
              <a:t>Unique</a:t>
            </a:r>
          </a:p>
          <a:p>
            <a:r>
              <a:rPr lang="en-US" dirty="0"/>
              <a:t>unfailing </a:t>
            </a:r>
          </a:p>
          <a:p>
            <a:r>
              <a:rPr lang="en-US" dirty="0"/>
              <a:t>Unlimited</a:t>
            </a:r>
          </a:p>
          <a:p>
            <a:r>
              <a:rPr lang="en-US" dirty="0"/>
              <a:t>unrivaled </a:t>
            </a:r>
          </a:p>
          <a:p>
            <a:r>
              <a:rPr lang="en-US" dirty="0"/>
              <a:t>Unmatched</a:t>
            </a:r>
          </a:p>
          <a:p>
            <a:r>
              <a:rPr lang="en-US" dirty="0"/>
              <a:t>unstoppable </a:t>
            </a:r>
          </a:p>
          <a:p>
            <a:r>
              <a:rPr lang="en-US" dirty="0"/>
              <a:t>Vital</a:t>
            </a:r>
          </a:p>
          <a:p>
            <a:r>
              <a:rPr lang="en-US" dirty="0"/>
              <a:t>veteran </a:t>
            </a:r>
          </a:p>
          <a:p>
            <a:r>
              <a:rPr lang="en-US" dirty="0"/>
              <a:t>Valuable</a:t>
            </a:r>
          </a:p>
          <a:p>
            <a:r>
              <a:rPr lang="en-US" dirty="0"/>
              <a:t>vigilant</a:t>
            </a:r>
          </a:p>
          <a:p>
            <a:r>
              <a:rPr lang="en-US" dirty="0"/>
              <a:t>vigorous  </a:t>
            </a:r>
          </a:p>
          <a:p>
            <a:r>
              <a:rPr lang="en-US" dirty="0"/>
              <a:t>Willing</a:t>
            </a:r>
          </a:p>
          <a:p>
            <a:r>
              <a:rPr lang="en-US" dirty="0"/>
              <a:t>well-grounded </a:t>
            </a:r>
          </a:p>
          <a:p>
            <a:r>
              <a:rPr lang="en-US" dirty="0"/>
              <a:t>well-rounded</a:t>
            </a:r>
          </a:p>
          <a:p>
            <a:r>
              <a:rPr lang="en-US" dirty="0"/>
              <a:t>watchful </a:t>
            </a:r>
          </a:p>
          <a:p>
            <a:r>
              <a:rPr lang="en-US" dirty="0"/>
              <a:t>wise </a:t>
            </a:r>
          </a:p>
          <a:p>
            <a:r>
              <a:rPr lang="en-US" dirty="0"/>
              <a:t>working  </a:t>
            </a:r>
          </a:p>
          <a:p>
            <a:r>
              <a:rPr lang="en-US" dirty="0"/>
              <a:t>zealous </a:t>
            </a:r>
          </a:p>
        </p:txBody>
      </p:sp>
      <p:sp>
        <p:nvSpPr>
          <p:cNvPr id="6" name="TextBox 5"/>
          <p:cNvSpPr txBox="1"/>
          <p:nvPr/>
        </p:nvSpPr>
        <p:spPr>
          <a:xfrm>
            <a:off x="0" y="39722"/>
            <a:ext cx="12191999" cy="830997"/>
          </a:xfrm>
          <a:prstGeom prst="rect">
            <a:avLst/>
          </a:prstGeom>
          <a:noFill/>
        </p:spPr>
        <p:txBody>
          <a:bodyPr wrap="square" rtlCol="0">
            <a:spAutoFit/>
          </a:bodyPr>
          <a:lstStyle/>
          <a:p>
            <a:pPr algn="ctr"/>
            <a:r>
              <a:rPr lang="en-US" sz="3200" dirty="0">
                <a:latin typeface="Calisto MT" panose="02040603050505030304" pitchFamily="18" charset="0"/>
              </a:rPr>
              <a:t>Adjectives </a:t>
            </a:r>
          </a:p>
          <a:p>
            <a:pPr algn="ctr"/>
            <a:r>
              <a:rPr lang="en-US" sz="1600" dirty="0">
                <a:latin typeface="Calisto MT" panose="02040603050505030304" pitchFamily="18" charset="0"/>
              </a:rPr>
              <a:t>word or phrase naming an attribute, added to or grammatically related to a noun to modify or describe it</a:t>
            </a:r>
            <a:endParaRPr lang="en-US" sz="3200" dirty="0">
              <a:latin typeface="Calisto MT" panose="02040603050505030304" pitchFamily="18" charset="0"/>
            </a:endParaRPr>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Tree>
    <p:extLst>
      <p:ext uri="{BB962C8B-B14F-4D97-AF65-F5344CB8AC3E}">
        <p14:creationId xmlns:p14="http://schemas.microsoft.com/office/powerpoint/2010/main" val="4110828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435630"/>
            <a:ext cx="12191999" cy="584775"/>
          </a:xfrm>
          <a:prstGeom prst="rect">
            <a:avLst/>
          </a:prstGeom>
          <a:noFill/>
        </p:spPr>
        <p:txBody>
          <a:bodyPr wrap="square" rtlCol="0">
            <a:spAutoFit/>
          </a:bodyPr>
          <a:lstStyle/>
          <a:p>
            <a:pPr algn="ctr"/>
            <a:r>
              <a:rPr lang="en-US" sz="3200" dirty="0">
                <a:latin typeface="Arial" panose="020B0604020202020204" pitchFamily="34" charset="0"/>
                <a:cs typeface="Arial" panose="020B0604020202020204" pitchFamily="34" charset="0"/>
              </a:rPr>
              <a:t>EXAMPLES </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7" name="Rectangle 6"/>
          <p:cNvSpPr/>
          <p:nvPr/>
        </p:nvSpPr>
        <p:spPr>
          <a:xfrm>
            <a:off x="171449" y="1233071"/>
            <a:ext cx="11880179" cy="5447645"/>
          </a:xfrm>
          <a:prstGeom prst="rect">
            <a:avLst/>
          </a:prstGeom>
        </p:spPr>
        <p:txBody>
          <a:bodyPr wrap="square">
            <a:spAutoFit/>
          </a:bodyPr>
          <a:lstStyle/>
          <a:p>
            <a:pPr algn="ctr"/>
            <a:r>
              <a:rPr lang="en-US" b="1" dirty="0">
                <a:latin typeface="Calibri" panose="020F0502020204030204" pitchFamily="34" charset="0"/>
                <a:ea typeface="Calibri" panose="020F0502020204030204" pitchFamily="34" charset="0"/>
                <a:cs typeface="Times New Roman" panose="02020603050405020304" pitchFamily="18" charset="0"/>
              </a:rPr>
              <a:t>NCOERs DUTIES &amp; RESPONSIBILITIES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b="1" dirty="0">
                <a:latin typeface="Calibri" panose="020F0502020204030204" pitchFamily="34" charset="0"/>
                <a:ea typeface="Calibri" panose="020F0502020204030204" pitchFamily="34" charset="0"/>
                <a:cs typeface="Times New Roman" panose="02020603050405020304" pitchFamily="18" charset="0"/>
              </a:rPr>
              <a:t>ACE NCOIC</a:t>
            </a:r>
            <a:r>
              <a:rPr lang="en-US" sz="1100" dirty="0">
                <a:latin typeface="Calibri" panose="020F0502020204030204" pitchFamily="34" charset="0"/>
                <a:ea typeface="Calibri" panose="020F0502020204030204" pitchFamily="34" charset="0"/>
                <a:cs typeface="Times New Roman" panose="02020603050405020304" pitchFamily="18" charset="0"/>
              </a:rPr>
              <a:t>: Serves as the NCOIC of the 101st ABN DIV (AASLT) G2 Analysis and Control Element (ACE) and Joint Intelligence Support Element (JISE) for OPERATIONS FREEDOM SENTINEL (OFS) and RESOLUTE SUPPORT (RS); responsible for the readiness, health, welfare, and training of 114 Soldiers; responsible for the production, quality control, and dissemination of intelligence production while providing timely, relevant, accurate, and predictive analysis to the </a:t>
            </a:r>
            <a:r>
              <a:rPr lang="en-US" sz="1100" dirty="0" err="1">
                <a:latin typeface="Calibri" panose="020F0502020204030204" pitchFamily="34" charset="0"/>
                <a:ea typeface="Calibri" panose="020F0502020204030204" pitchFamily="34" charset="0"/>
                <a:cs typeface="Times New Roman" panose="02020603050405020304" pitchFamily="18" charset="0"/>
              </a:rPr>
              <a:t>ACofS</a:t>
            </a:r>
            <a:r>
              <a:rPr lang="en-US" sz="1100" dirty="0">
                <a:latin typeface="Calibri" panose="020F0502020204030204" pitchFamily="34" charset="0"/>
                <a:ea typeface="Calibri" panose="020F0502020204030204" pitchFamily="34" charset="0"/>
                <a:cs typeface="Times New Roman" panose="02020603050405020304" pitchFamily="18" charset="0"/>
              </a:rPr>
              <a:t> G2 and Deputy Chief of Operations (</a:t>
            </a:r>
            <a:r>
              <a:rPr lang="en-US" sz="1100" dirty="0" err="1">
                <a:latin typeface="Calibri" panose="020F0502020204030204" pitchFamily="34" charset="0"/>
                <a:ea typeface="Calibri" panose="020F0502020204030204" pitchFamily="34" charset="0"/>
                <a:cs typeface="Times New Roman" panose="02020603050405020304" pitchFamily="18" charset="0"/>
              </a:rPr>
              <a:t>DCoS</a:t>
            </a:r>
            <a:r>
              <a:rPr lang="en-US" sz="1100" dirty="0">
                <a:latin typeface="Calibri" panose="020F0502020204030204" pitchFamily="34" charset="0"/>
                <a:ea typeface="Calibri" panose="020F0502020204030204" pitchFamily="34" charset="0"/>
                <a:cs typeface="Times New Roman" panose="02020603050405020304" pitchFamily="18" charset="0"/>
              </a:rPr>
              <a:t>-Ops) in Combined Joint Operations Area-Afghanistan (CJOA-A); supports Train Advise Assist Commands (TAAC) for OFS &amp; RS; responsible for over 32 million dollars’ worth of equipment.</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 </a:t>
            </a:r>
            <a:r>
              <a:rPr lang="en-US" sz="1100" b="1" dirty="0">
                <a:latin typeface="Calibri" panose="020F0502020204030204" pitchFamily="34" charset="0"/>
                <a:ea typeface="Calibri" panose="020F0502020204030204" pitchFamily="34" charset="0"/>
                <a:cs typeface="Times New Roman" panose="02020603050405020304" pitchFamily="18" charset="0"/>
              </a:rPr>
              <a:t>SENIOR GEOINT ENGINEER OPERATIONS SERGEANT</a:t>
            </a:r>
            <a:r>
              <a:rPr lang="en-US" sz="1100" dirty="0">
                <a:latin typeface="Calibri" panose="020F0502020204030204" pitchFamily="34" charset="0"/>
                <a:ea typeface="Calibri" panose="020F0502020204030204" pitchFamily="34" charset="0"/>
                <a:cs typeface="Times New Roman" panose="02020603050405020304" pitchFamily="18" charset="0"/>
              </a:rPr>
              <a:t>: Serves as the senior geospatial imagery intelligence sergeant and GEOINT NCOIC for the Division G2 Analysis and Control Element (ACE), 101st ABN DIV (AASLT) and the Resolute Support J2 section in support of the Combined Joint Operations Area-Afghanistan (CJOA-A); supervises a team of six active duty NCO's, eight active duty, and seven National Guard (NG) Soldiers; oversees all geospatial imagery intelligence tactical decision aids, Moving Target Indicator (MTI) products, mapping support to Division staff sections, and five subordinate Brigade Combat Teams; coordinates and synchronizes dissemination of current digital imagery for CENTCOM theater operations, Division wide Warfighter (WFX) exercises, and Joint Readiness Training Center rotations (JRTC).</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Senior Intelligence Sergeant: Serves as Noncommissioned Officer in Charge of the Intelligence Fusion Section within the G2, Analysis &amp; Control Element, 101st ABN DIV (AASLT); as the NCOIC, he supervises, reviews, analyzes, &amp; evaluates intelligence information on a daily basis during Division-Level Validation Exercises to provide timely, accurate &amp; fused intelligence products to the Commanding General (CG) &amp; his staff; validates &amp; manages training of all-source intelligence analysts; coordinates &amp; facilitates flow of information across the G2's multiple intelligence disciplines; responsible for G2 Communications Security Program and account; responsible for health and welfare of two Sergeants and four junior Soldiers.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S3 Operations SGM (SOF): Serves as the NCOIC for the 1st Special Forces Command (SFC) MI BN (A) (P) S3 Operations section composed of three personnel, responsible for training and readiness oversight of all Soldiers assigned to the 1st SFC MI BN (A) (P); interacts daily with the 528th Sustainment BDE S3 section on operational requirements; assists the commander in controlling integrating, synchronizing, and coordinating support for SOF missions; helps plan, coordinate, and supervise the execution and evaluation of BN METL-based training; helps develop training plans and monitors readiness of subordinate elements; coordinates training support assets and advises on ways to make training more effective; coordinates with BDE element for resources and taskings.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S3 Operations SGM (SOF): Serves as the Battalion Operations NCOIC and Headquarters and Headquarters Detachment NCOIC, 1st Special Forces Command Military Intelligence Battalion; coordinates and monitors all Battalion training; prepares and disseminates all warning, operations, and fragmentary orders; develops subordinate unit taskings based on unit capabilities and resources; develops and maintains copies of all training records for the Battalion; plans all Soldier and NCO of the Quarter Competitions; manages two Sensitive Compartmentalized Information Facilities; manages the 1SG Barracks Program at the Battalion level; responsible for the health and welfare of eight enlisted Soldiers and commissioned officers.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Battalion S1 NCOIC (SOF): Hand-selected to serve as the first ever Senior Human Resources Sergeant for the only Military Intelligence Battalion within United States Army Special Operations Command; supervises all </a:t>
            </a:r>
            <a:r>
              <a:rPr lang="en-US" sz="1100" dirty="0" err="1">
                <a:latin typeface="Calibri" panose="020F0502020204030204" pitchFamily="34" charset="0"/>
                <a:ea typeface="Calibri" panose="020F0502020204030204" pitchFamily="34" charset="0"/>
                <a:cs typeface="Times New Roman" panose="02020603050405020304" pitchFamily="18" charset="0"/>
              </a:rPr>
              <a:t>eMILPO</a:t>
            </a:r>
            <a:r>
              <a:rPr lang="en-US" sz="1100" dirty="0">
                <a:latin typeface="Calibri" panose="020F0502020204030204" pitchFamily="34" charset="0"/>
                <a:ea typeface="Calibri" panose="020F0502020204030204" pitchFamily="34" charset="0"/>
                <a:cs typeface="Times New Roman" panose="02020603050405020304" pitchFamily="18" charset="0"/>
              </a:rPr>
              <a:t> transactions, postal operations, finance operations, personnel actions, promotions, legal actions, awards, and personnel readiness for 108 Soldiers in direct support of 1st Special Forces Command; responsible for the health, welfare, and training of one Soldier.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68417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1343406"/>
            <a:ext cx="12191999" cy="5786199"/>
          </a:xfrm>
          <a:prstGeom prst="rect">
            <a:avLst/>
          </a:prstGeom>
        </p:spPr>
        <p:txBody>
          <a:bodyPr wrap="square">
            <a:spAutoFit/>
          </a:bodyPr>
          <a:lstStyle/>
          <a:p>
            <a:r>
              <a:rPr lang="en-US" b="1" dirty="0">
                <a:latin typeface="Calibri" panose="020F0502020204030204" pitchFamily="34" charset="0"/>
                <a:ea typeface="Calibri" panose="020F0502020204030204" pitchFamily="34" charset="0"/>
                <a:cs typeface="Times New Roman" panose="02020603050405020304" pitchFamily="18" charset="0"/>
              </a:rPr>
              <a:t>NCOERs (Action, Impact, Results) / DUTIES &amp; RESPONSIBILITIES:</a:t>
            </a:r>
          </a:p>
          <a:p>
            <a:endParaRPr lang="en-US" sz="1100" dirty="0">
              <a:latin typeface="Calibri" panose="020F0502020204030204" pitchFamily="34" charset="0"/>
              <a:ea typeface="Calibri" panose="020F0502020204030204" pitchFamily="34" charset="0"/>
              <a:cs typeface="Times New Roman" panose="02020603050405020304" pitchFamily="18" charset="0"/>
            </a:endParaRP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 Company 1SG (SOF): Serves as the First Sergeant for the Analytical Support Company (ASC), 1st Special Forces Command (A) Military Intelligence Battalion; responsible for coordinating all-source intelligence support for 1st SFC (A) and Army Special Operations Forces; shepherds the MI BN capability to provide tailorable and scalable intelligence support on behalf of ARSOF; ensures company's ability to integrate and collaborate with the larger Intelligence Community; supervises the training and readiness of all-source intelligence Soldiers; accountable for $70,000 worth of equipment; responsible for the health, welfare, and morale of 48 personnel.</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Regional Support Team NCOIC (SOF): Serves as the Noncommissioned Officer in Charge (NCOIC) of the Africa Regional Support Team of the Analytical Support Company, 1st Special Forces Command (1st SFC) Military Intelligence Battalion(SO)(A)(P); responsible for providing intelligence products, conducting analysis and presenting classified and unclassified briefings in support of Special Forces operations throughout Africa, and in support of Operation Inherent Resolve (OIR); provides intelligence briefings to the 1st SFC(A)(P) Commanding General and his senior staff; provides timely and relevant intelligence to the 1st SFC(A)(P), 3rd Special Forces Group(A) and their subordinate Battalions. Responsible for the supervision, training, health, and welfare of one NCO and one Soldier.</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Senior GEOINT Imagery NCO (SOF): Serves as the Regional Support Team - Middle East's Senior GEOSPATIAL Analyst; responsible for the health, welfare, and technical competence of a 14-man RST with property valued over $130,000; integrates imagery and geo-spatial collection in support of special warfare operations; coordinates with geospatial engineers and the ARSOF Geospatial Planning Cell (GPC) to provide multidiscipline geospatial support to operations-intelligence fusion; provides Combat Support Units (CSUs) and the Commanding General with in depth knowledge of the assigned area of responsibility while maintaining deployment readiness in support of a Special Operations Joint Task Force (SOJTF).</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Senior CI Sergeant: Serves as the Non-Commissioned Officer (NCO) in Charge (NCOIC) for the G2X, 101st Airborne Division (AASLT) and Senior Enlisted NCO; provides leadership, mentorship, and training on Military Intelligence skills; maintains accountability and maintenance of assigned equipment; provides CI support to force protection; remains abreast of DoD and National Security topics which influence target issues and regions; designs OPSEC initiatives; prepares and disseminates intelligence reports, briefings, and assessments to answer intelligence requirements; responsible for the accountability, discipline, readiness, physical fitness, training, professional development of 5 NCOs and 2 Soldiers; serves as the acting G2 Sergeant Major (SGM) and Platoon Sergeant (PSG) supporting over 100 Soldiers.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SIGINT NCO: Serves as the ASAS Master Analyst for Signals Intelligence (SIGINT)section for the </a:t>
            </a:r>
            <a:r>
              <a:rPr lang="en-US" sz="1100" dirty="0" err="1">
                <a:latin typeface="Calibri" panose="020F0502020204030204" pitchFamily="34" charset="0"/>
                <a:ea typeface="Calibri" panose="020F0502020204030204" pitchFamily="34" charset="0"/>
                <a:cs typeface="Times New Roman" panose="02020603050405020304" pitchFamily="18" charset="0"/>
              </a:rPr>
              <a:t>ACofS</a:t>
            </a:r>
            <a:r>
              <a:rPr lang="en-US" sz="1100" dirty="0">
                <a:latin typeface="Calibri" panose="020F0502020204030204" pitchFamily="34" charset="0"/>
                <a:ea typeface="Calibri" panose="020F0502020204030204" pitchFamily="34" charset="0"/>
                <a:cs typeface="Times New Roman" panose="02020603050405020304" pitchFamily="18" charset="0"/>
              </a:rPr>
              <a:t>, G2 of the 101st ABN DIV (AASLT); supervises the production of timely and accurate intelligence for the Division Commander, his staff and subordinate Brigade Combat Teams during deployment operations supporting the Combined Joint Operations Area-Afghanistan (CJOA-A), and garrison intelligence missions; directs the day to day activities executing section requirements and meeting logistical needs; facilitates training and establishes training qualification standards for new analysts; responsible for the welfare, morale, and professional development of six Soldiers.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G2 Targeting NCOIC: Executes duties as the Analysis and Control Element's (ACE) Targeting Cell NCOIC, G2, 101st Airborne Division (Air Assault); responsible for supervising the production targeting nominations, production and refinement of targeting working group products, fused intelligence products in support of the Command Group, Division staff, and subordinate units; assists in conducting intelligence analyst training and briefings; responsible for the training, health, morale and welfare of one NCO and two Soldiers.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p:txBody>
      </p:sp>
      <p:sp>
        <p:nvSpPr>
          <p:cNvPr id="5" name="TextBox 4"/>
          <p:cNvSpPr txBox="1"/>
          <p:nvPr/>
        </p:nvSpPr>
        <p:spPr>
          <a:xfrm>
            <a:off x="0" y="77822"/>
            <a:ext cx="12191999" cy="584775"/>
          </a:xfrm>
          <a:prstGeom prst="rect">
            <a:avLst/>
          </a:prstGeom>
          <a:noFill/>
        </p:spPr>
        <p:txBody>
          <a:bodyPr wrap="square" rtlCol="0">
            <a:spAutoFit/>
          </a:bodyPr>
          <a:lstStyle/>
          <a:p>
            <a:pPr algn="ctr"/>
            <a:r>
              <a:rPr lang="en-US" sz="3200" dirty="0">
                <a:latin typeface="Arial" panose="020B0604020202020204" pitchFamily="34" charset="0"/>
                <a:cs typeface="Arial" panose="020B0604020202020204" pitchFamily="34" charset="0"/>
              </a:rPr>
              <a:t>EXAMPLES </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Tree>
    <p:extLst>
      <p:ext uri="{BB962C8B-B14F-4D97-AF65-F5344CB8AC3E}">
        <p14:creationId xmlns:p14="http://schemas.microsoft.com/office/powerpoint/2010/main" val="2574593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589" y="1637407"/>
            <a:ext cx="11553825" cy="3247043"/>
          </a:xfrm>
          <a:prstGeom prst="rect">
            <a:avLst/>
          </a:prstGeom>
        </p:spPr>
        <p:txBody>
          <a:bodyPr wrap="square">
            <a:spAutoFit/>
          </a:bodyPr>
          <a:lstStyle/>
          <a:p>
            <a:r>
              <a:rPr lang="en-US" b="1" dirty="0"/>
              <a:t>NCOERs (Action, Impact, Results) / DUTIES &amp; RESPONSIBILITIES:</a:t>
            </a:r>
          </a:p>
          <a:p>
            <a:endParaRPr lang="en-US" sz="1100" dirty="0"/>
          </a:p>
          <a:p>
            <a:endParaRPr lang="en-US" sz="1100" dirty="0"/>
          </a:p>
          <a:p>
            <a:r>
              <a:rPr lang="en-US" sz="1100" dirty="0"/>
              <a:t>GEOINT Imagery NCO: Serves as the Geospatial Imagery Intelligence Sergeant for the 101st Airborne Division (Air Assault) G2 Analysis and Control Element (ACE); responsible for the supervision and training of one NCO and four Soldiers and their families; oversees the production and dissemination of the latest Imagery and data maintenance for the Tactical Intelligence Ground System Vehicle (TGS); supervises a team that provides GEOINT Field Training Exercises (FTX's) support to five subordinate Brigade Combat Teams and two Special Operation echelons; maintains the serviceability and accountability of imagery intelligence, production equipment, military vehicles, and a Secret Compartmented Information Facility (SCIF) that exceeds a net worth of $5,000,000 dollars.</a:t>
            </a:r>
          </a:p>
          <a:p>
            <a:r>
              <a:rPr lang="en-US" sz="1100" dirty="0"/>
              <a:t> </a:t>
            </a:r>
          </a:p>
          <a:p>
            <a:r>
              <a:rPr lang="en-US" sz="1100" dirty="0"/>
              <a:t>GEOINT NCOIC: Serves as the Division G2 Analysis Control Elements (ACE) Geospatial NCOIC for the 101st Airborne Division (AASLT); responsible for the production of imagery and geospatial intelligence products supporting the Division HQ and five subordinate Brigades; manages geospatial data extractions from various platforms and sensors, and provides quality assurance and quality control (QA/QC) for GEOINT analytical processes; manages the Divisions topographic databases; supervises the training and development of a multi-composition teams consisting of six active duty NCOs, 11 junior Soldiers, and seven National Guard Soldiers; maintains accountability and maintenance of the Division's GEOINT equipment valued at $21 million dollars.</a:t>
            </a:r>
          </a:p>
          <a:p>
            <a:r>
              <a:rPr lang="en-US" sz="1100" dirty="0"/>
              <a:t>  </a:t>
            </a:r>
          </a:p>
          <a:p>
            <a:r>
              <a:rPr lang="en-US" sz="1100" dirty="0"/>
              <a:t>G2 Operations NCOIC: Serves in the G2, 101st ABN DIV (AASLT), as the senior intelligence operations sergeant for a 91-person section. The senior-most intelligence NCO responsible for integrating intelligence activities in support of division main command post operations. Provides current intelligence assessments to the division command team. Liaises with the G2 Analysis and Control Element to rapidly build situational understanding, focus intelligence collection, and conduct targeting. Responsible for developing the standard operating procedures, load plans, and battle drills that enable the G2 to direct and manage intelligence operations across three command posts and six subordinate Brigades. Supervises intelligence readiness operations capability (IROC) to enable intelligence reach back and over watch with forward deployed units.</a:t>
            </a:r>
          </a:p>
        </p:txBody>
      </p:sp>
      <p:sp>
        <p:nvSpPr>
          <p:cNvPr id="5" name="TextBox 4"/>
          <p:cNvSpPr txBox="1"/>
          <p:nvPr/>
        </p:nvSpPr>
        <p:spPr>
          <a:xfrm>
            <a:off x="0" y="77822"/>
            <a:ext cx="12191999" cy="584775"/>
          </a:xfrm>
          <a:prstGeom prst="rect">
            <a:avLst/>
          </a:prstGeom>
          <a:noFill/>
        </p:spPr>
        <p:txBody>
          <a:bodyPr wrap="square" rtlCol="0">
            <a:spAutoFit/>
          </a:bodyPr>
          <a:lstStyle/>
          <a:p>
            <a:pPr algn="ctr"/>
            <a:r>
              <a:rPr lang="en-US" sz="3200" dirty="0">
                <a:latin typeface="Arial" panose="020B0604020202020204" pitchFamily="34" charset="0"/>
                <a:cs typeface="Arial" panose="020B0604020202020204" pitchFamily="34" charset="0"/>
              </a:rPr>
              <a:t>EXAMPLES </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Tree>
    <p:extLst>
      <p:ext uri="{BB962C8B-B14F-4D97-AF65-F5344CB8AC3E}">
        <p14:creationId xmlns:p14="http://schemas.microsoft.com/office/powerpoint/2010/main" val="1442310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77822"/>
            <a:ext cx="12191999" cy="1200329"/>
          </a:xfrm>
          <a:prstGeom prst="rect">
            <a:avLst/>
          </a:prstGeom>
          <a:noFill/>
        </p:spPr>
        <p:txBody>
          <a:bodyPr wrap="square" rtlCol="0">
            <a:spAutoFit/>
          </a:bodyPr>
          <a:lstStyle/>
          <a:p>
            <a:pPr algn="ctr"/>
            <a:r>
              <a:rPr lang="en-US" sz="3200" dirty="0">
                <a:latin typeface="Calisto MT" panose="02040603050505030304" pitchFamily="18" charset="0"/>
              </a:rPr>
              <a:t>EXAMPLES </a:t>
            </a:r>
          </a:p>
          <a:p>
            <a:pPr algn="ctr"/>
            <a:r>
              <a:rPr lang="en-US" sz="2000" dirty="0">
                <a:latin typeface="Calisto MT" panose="02040603050505030304" pitchFamily="18" charset="0"/>
              </a:rPr>
              <a:t>Character </a:t>
            </a:r>
          </a:p>
          <a:p>
            <a:pPr algn="ctr"/>
            <a:endParaRPr lang="en-US" sz="2000" dirty="0">
              <a:latin typeface="Calisto MT" panose="02040603050505030304" pitchFamily="18" charset="0"/>
            </a:endParaRP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8" name="Rectangle 7"/>
          <p:cNvSpPr/>
          <p:nvPr/>
        </p:nvSpPr>
        <p:spPr>
          <a:xfrm>
            <a:off x="0" y="1135478"/>
            <a:ext cx="5722022" cy="5847755"/>
          </a:xfrm>
          <a:prstGeom prst="rect">
            <a:avLst/>
          </a:prstGeom>
        </p:spPr>
        <p:txBody>
          <a:bodyPr wrap="square">
            <a:spAutoFit/>
          </a:bodyPr>
          <a:lstStyle/>
          <a:p>
            <a:endParaRPr lang="en-US" sz="1100" dirty="0">
              <a:latin typeface="Calibri" panose="020F0502020204030204" pitchFamily="34" charset="0"/>
              <a:ea typeface="Calibri" panose="020F0502020204030204" pitchFamily="34" charset="0"/>
              <a:cs typeface="Times New Roman" panose="02020603050405020304" pitchFamily="18" charset="0"/>
            </a:endParaRPr>
          </a:p>
          <a:p>
            <a:r>
              <a:rPr lang="en-US" sz="1100" dirty="0">
                <a:latin typeface="Calibri" panose="020F0502020204030204" pitchFamily="34" charset="0"/>
                <a:ea typeface="Calibri" panose="020F0502020204030204" pitchFamily="34" charset="0"/>
                <a:cs typeface="Times New Roman" panose="02020603050405020304" pitchFamily="18" charset="0"/>
              </a:rPr>
              <a:t>o fostered an environment of dignity, respect, and empathy for Soldiers; exemplified the Army Values in his daily duties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steadfast commitment to the Army's SHARP and EO programs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highly motivated, influential, and respected NCO by his seniors, peers, and subordinates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created professional work climate centered on dignity and respect for Soldiers and Civilians which resulted in zero SHARP, EO and EEO related incidents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supported SHARP and Equal Opportunity by fostering climate of dignity and respect within the G2 and throughout HHBN</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routinely displayed dedication to professionalism, the warrior ethos and the NCO creed; always remained mission-focused while taking care of his team</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never compromised his integrity; always did what was right, both morally and ethically</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fully supported the Army's SHARP and EO programs, fostering a climate of dignity and respect</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enforced a workplace environment of dignity and respect for all members of the shop</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fully supported the BN's SHARP and EO programs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displayed genuine care and concern for Soldiers and their families; eager to support personal and professional growth of subordinates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steadfast commitment to the Army's SHARP and EO programs</a:t>
            </a:r>
          </a:p>
          <a:p>
            <a:endParaRPr lang="en-US" sz="1100" dirty="0">
              <a:latin typeface="Calibri" panose="020F0502020204030204" pitchFamily="34" charset="0"/>
              <a:ea typeface="Calibri" panose="020F0502020204030204" pitchFamily="34" charset="0"/>
              <a:cs typeface="Times New Roman" panose="02020603050405020304" pitchFamily="18" charset="0"/>
            </a:endParaRPr>
          </a:p>
          <a:p>
            <a:r>
              <a:rPr lang="en-US" sz="1100" dirty="0">
                <a:latin typeface="Calibri" panose="020F0502020204030204" pitchFamily="34" charset="0"/>
                <a:ea typeface="Calibri" panose="020F0502020204030204" pitchFamily="34" charset="0"/>
                <a:cs typeface="Times New Roman" panose="02020603050405020304" pitchFamily="18" charset="0"/>
              </a:rPr>
              <a:t>o fostered and supported EEO and SHARP Programs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displayed unyielding duty to his Soldiers, the unit, and the Army</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p:txBody>
      </p:sp>
      <p:sp>
        <p:nvSpPr>
          <p:cNvPr id="9" name="Rectangle 8"/>
          <p:cNvSpPr/>
          <p:nvPr/>
        </p:nvSpPr>
        <p:spPr>
          <a:xfrm>
            <a:off x="5722022" y="1009620"/>
            <a:ext cx="6469977" cy="5847755"/>
          </a:xfrm>
          <a:prstGeom prst="rect">
            <a:avLst/>
          </a:prstGeom>
        </p:spPr>
        <p:txBody>
          <a:bodyPr wrap="square">
            <a:spAutoFit/>
          </a:bodyPr>
          <a:lstStyle/>
          <a:p>
            <a:r>
              <a:rPr lang="en-US" sz="1100" dirty="0"/>
              <a:t>o demonstrated utmost integrity and moral conviction at all times</a:t>
            </a:r>
          </a:p>
          <a:p>
            <a:r>
              <a:rPr lang="en-US" sz="1100" dirty="0"/>
              <a:t> </a:t>
            </a:r>
          </a:p>
          <a:p>
            <a:r>
              <a:rPr lang="en-US" sz="1100" dirty="0"/>
              <a:t>o displayed unwavering commitment to the Army's SHARP and EO programs</a:t>
            </a:r>
          </a:p>
          <a:p>
            <a:r>
              <a:rPr lang="en-US" sz="1100" dirty="0"/>
              <a:t> </a:t>
            </a:r>
          </a:p>
          <a:p>
            <a:r>
              <a:rPr lang="en-US" sz="1100" dirty="0"/>
              <a:t>o exemplified the Army Values in his daily duties and fostered an environment of dignity and respect; fully supports SHARP and EO programs</a:t>
            </a:r>
          </a:p>
          <a:p>
            <a:r>
              <a:rPr lang="en-US" sz="1100" dirty="0"/>
              <a:t> </a:t>
            </a:r>
          </a:p>
          <a:p>
            <a:r>
              <a:rPr lang="en-US" sz="1100" dirty="0"/>
              <a:t>o displayed unwavering discipline before, during, and after an extremely stressful deployment in support of SOJTF-OIR</a:t>
            </a:r>
          </a:p>
          <a:p>
            <a:r>
              <a:rPr lang="en-US" sz="1100" dirty="0"/>
              <a:t> </a:t>
            </a:r>
          </a:p>
          <a:p>
            <a:r>
              <a:rPr lang="en-US" sz="1100" dirty="0"/>
              <a:t>o exemplified the Army Values in his daily duties and fostered an environment of dignity, respect, and empathy for Soldiers</a:t>
            </a:r>
          </a:p>
          <a:p>
            <a:r>
              <a:rPr lang="en-US" sz="1100" dirty="0"/>
              <a:t> </a:t>
            </a:r>
          </a:p>
          <a:p>
            <a:r>
              <a:rPr lang="en-US" sz="1100" dirty="0"/>
              <a:t>o fully supported the BN's SHARP and EO programs; formally trained to serve as the BN SHARP Representative</a:t>
            </a:r>
          </a:p>
          <a:p>
            <a:r>
              <a:rPr lang="en-US" sz="1100" dirty="0"/>
              <a:t> </a:t>
            </a:r>
          </a:p>
          <a:p>
            <a:r>
              <a:rPr lang="en-US" sz="1100" dirty="0"/>
              <a:t>o supported the Army SHARP and EO programs by setting the example and treating all personnel with the highest level of dignity and respect</a:t>
            </a:r>
          </a:p>
          <a:p>
            <a:r>
              <a:rPr lang="en-US" sz="1100" dirty="0"/>
              <a:t> </a:t>
            </a:r>
          </a:p>
          <a:p>
            <a:r>
              <a:rPr lang="en-US" sz="1100" dirty="0"/>
              <a:t>o exhibited a high sense of integrity and moral fiber; told the truth and provided honest assessments regardless of the situation and consequences</a:t>
            </a:r>
          </a:p>
          <a:p>
            <a:r>
              <a:rPr lang="en-US" sz="1100" dirty="0"/>
              <a:t> </a:t>
            </a:r>
          </a:p>
          <a:p>
            <a:r>
              <a:rPr lang="en-US" sz="1100" dirty="0"/>
              <a:t>o fostered a work environment free of SHARP, EO, and EEO violations and inspired junior NCOs to do the same</a:t>
            </a:r>
          </a:p>
          <a:p>
            <a:r>
              <a:rPr lang="en-US" sz="1100" dirty="0"/>
              <a:t> </a:t>
            </a:r>
          </a:p>
          <a:p>
            <a:r>
              <a:rPr lang="en-US" sz="1100" dirty="0"/>
              <a:t>o model of Selfless Service; always extends himself beyond expectations to accomplish the mission and assist Soldiers</a:t>
            </a:r>
          </a:p>
          <a:p>
            <a:r>
              <a:rPr lang="en-US" sz="1100" dirty="0"/>
              <a:t> </a:t>
            </a:r>
          </a:p>
          <a:p>
            <a:r>
              <a:rPr lang="en-US" sz="1100" dirty="0"/>
              <a:t>o epitomized the Army values, the profession of Soldiering, and the NCO Corps</a:t>
            </a:r>
          </a:p>
          <a:p>
            <a:r>
              <a:rPr lang="en-US" sz="1100" dirty="0"/>
              <a:t> </a:t>
            </a:r>
          </a:p>
          <a:p>
            <a:pPr lvl="0"/>
            <a:r>
              <a:rPr lang="en-US" sz="1100" dirty="0"/>
              <a:t> </a:t>
            </a:r>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stood above contemporaries in personal commitment to professionalism and dedication to duty; model Soldier who upheld the traditions of the Army</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created a work climate centered around dignity and respect for Soldiers and Civilians which resulted in zero SHARP, EO and EEO related incidents</a:t>
            </a:r>
            <a:endParaRPr lang="en-US" sz="1100" dirty="0"/>
          </a:p>
        </p:txBody>
      </p:sp>
    </p:spTree>
    <p:extLst>
      <p:ext uri="{BB962C8B-B14F-4D97-AF65-F5344CB8AC3E}">
        <p14:creationId xmlns:p14="http://schemas.microsoft.com/office/powerpoint/2010/main" val="35539183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540" y="1258791"/>
            <a:ext cx="6096000" cy="1785104"/>
          </a:xfrm>
          <a:prstGeom prst="rect">
            <a:avLst/>
          </a:prstGeom>
        </p:spPr>
        <p:txBody>
          <a:bodyPr>
            <a:spAutoFit/>
          </a:bodyPr>
          <a:lstStyle/>
          <a:p>
            <a:pPr lvl="0"/>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Character Bullets Continued </a:t>
            </a:r>
          </a:p>
          <a:p>
            <a:pPr lvl="0"/>
            <a:r>
              <a:rPr lang="en-US" sz="1100" dirty="0">
                <a:solidFill>
                  <a:prstClr val="black"/>
                </a:solidFill>
              </a:rPr>
              <a:t>o created professional work climate centered on dignity and respect; resulted in zero SHARP, EO and EEO related incidents</a:t>
            </a:r>
          </a:p>
          <a:p>
            <a:pPr lvl="0"/>
            <a:r>
              <a:rPr lang="en-US" sz="1100" dirty="0">
                <a:solidFill>
                  <a:prstClr val="black"/>
                </a:solidFill>
              </a:rPr>
              <a:t> </a:t>
            </a:r>
          </a:p>
          <a:p>
            <a:pPr lvl="0"/>
            <a:r>
              <a:rPr lang="en-US" sz="1100" dirty="0">
                <a:solidFill>
                  <a:prstClr val="black"/>
                </a:solidFill>
              </a:rPr>
              <a:t>o highly motivated, influential, and respected NCO by his seniors, peers, and subordinates</a:t>
            </a:r>
          </a:p>
          <a:p>
            <a:pPr lvl="0"/>
            <a:r>
              <a:rPr lang="en-US" sz="1100" dirty="0">
                <a:solidFill>
                  <a:prstClr val="black"/>
                </a:solidFill>
              </a:rPr>
              <a:t> </a:t>
            </a:r>
          </a:p>
          <a:p>
            <a:pPr lvl="0"/>
            <a:r>
              <a:rPr lang="en-US" sz="1100" dirty="0">
                <a:solidFill>
                  <a:prstClr val="black"/>
                </a:solidFill>
              </a:rPr>
              <a:t>o fully supported and implemented Army SHARP, EO, and EEO programs</a:t>
            </a:r>
          </a:p>
          <a:p>
            <a:pPr lvl="0"/>
            <a:r>
              <a:rPr lang="en-US" sz="1100" dirty="0">
                <a:solidFill>
                  <a:prstClr val="black"/>
                </a:solidFill>
              </a:rPr>
              <a:t> </a:t>
            </a:r>
          </a:p>
          <a:p>
            <a:pPr lvl="0"/>
            <a:r>
              <a:rPr lang="en-US" sz="1100" dirty="0">
                <a:solidFill>
                  <a:prstClr val="black"/>
                </a:solidFill>
              </a:rPr>
              <a:t>o exemplified Army Values; earned the trust, loyalty, and respect of subordinates, superiors, and peers</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p:cNvSpPr txBox="1"/>
          <p:nvPr/>
        </p:nvSpPr>
        <p:spPr>
          <a:xfrm>
            <a:off x="0" y="77822"/>
            <a:ext cx="12191999" cy="1077218"/>
          </a:xfrm>
          <a:prstGeom prst="rect">
            <a:avLst/>
          </a:prstGeom>
          <a:noFill/>
        </p:spPr>
        <p:txBody>
          <a:bodyPr wrap="square" rtlCol="0">
            <a:spAutoFit/>
          </a:bodyPr>
          <a:lstStyle/>
          <a:p>
            <a:pPr algn="ctr"/>
            <a:r>
              <a:rPr lang="en-US" sz="3200" dirty="0">
                <a:latin typeface="Calisto MT" panose="02040603050505030304" pitchFamily="18" charset="0"/>
              </a:rPr>
              <a:t>EXAMPLES </a:t>
            </a:r>
          </a:p>
          <a:p>
            <a:pPr algn="ctr"/>
            <a:r>
              <a:rPr lang="en-US" sz="3200" dirty="0">
                <a:latin typeface="Calisto MT" panose="02040603050505030304" pitchFamily="18" charset="0"/>
              </a:rPr>
              <a:t>Presence</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8" name="Rectangle 7"/>
          <p:cNvSpPr/>
          <p:nvPr/>
        </p:nvSpPr>
        <p:spPr>
          <a:xfrm>
            <a:off x="15540" y="2855529"/>
            <a:ext cx="6198270" cy="3816429"/>
          </a:xfrm>
          <a:prstGeom prst="rect">
            <a:avLst/>
          </a:prstGeom>
        </p:spPr>
        <p:txBody>
          <a:bodyPr wrap="square">
            <a:spAutoFit/>
          </a:bodyPr>
          <a:lstStyle/>
          <a:p>
            <a:r>
              <a:rPr lang="en-US" sz="1100" b="1" dirty="0">
                <a:latin typeface="Calibri" panose="020F0502020204030204" pitchFamily="34" charset="0"/>
                <a:ea typeface="Calibri" panose="020F0502020204030204" pitchFamily="34" charset="0"/>
                <a:cs typeface="Times New Roman" panose="02020603050405020304" pitchFamily="18" charset="0"/>
              </a:rPr>
              <a:t>Presence Bullets </a:t>
            </a:r>
          </a:p>
          <a:p>
            <a:r>
              <a:rPr lang="en-US" sz="1100" dirty="0">
                <a:latin typeface="Calibri" panose="020F0502020204030204" pitchFamily="34" charset="0"/>
                <a:ea typeface="Calibri" panose="020F0502020204030204" pitchFamily="34" charset="0"/>
                <a:cs typeface="Times New Roman" panose="02020603050405020304" pitchFamily="18" charset="0"/>
              </a:rPr>
              <a:t>o superbly performed as the J2 NCOIC for expeditionary advisory package missions in support of Afghan Brigades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exemplified what an NCO should be; forward thinking, passionate, and enthusiastic during a high operational tempo</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consistently displayed an air of confidence and resilience despite numerous readiness and operational setbacks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embodied physical fitness scored 291 on last record APFT; motivated three officers and eight soldiers to adopt PT regiment</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enabled the Company's execution of the German Armed Forces Marksmanship range; resulted in 17 J2 Soldiers receiving badge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ensured the G2 continued operations with minimal manning and direction, in the absence of the G2 SGM and ACE NCOIC</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top 5% of BN scoring 300 on most recent APFT; dedication reciprocated throughout team as APFT avg. rose from 235 to 267</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p:txBody>
      </p:sp>
      <p:sp>
        <p:nvSpPr>
          <p:cNvPr id="9" name="Rectangle 8"/>
          <p:cNvSpPr/>
          <p:nvPr/>
        </p:nvSpPr>
        <p:spPr>
          <a:xfrm>
            <a:off x="6095999" y="1343406"/>
            <a:ext cx="6096000" cy="5339923"/>
          </a:xfrm>
          <a:prstGeom prst="rect">
            <a:avLst/>
          </a:prstGeom>
        </p:spPr>
        <p:txBody>
          <a:bodyPr>
            <a:spAutoFit/>
          </a:bodyPr>
          <a:lstStyle/>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upheld the highest professional standards; inspired subordinates to lead with confidence and determination</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consistently demonstrated passion for his craft, seized the initiative, and remained open-minded when finding solutions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remained composed, focused, and disciplined, even in the most demanding circumstances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encouraged Soldiers to maintain physical fitness with use of Army resources; resulted in 100% APFT pass rate for the CO</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briefed the MI BN's mission and construct three times at the SOF Integration Course; educated Soldiers on MI BN capabilities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consistently set high standards of military appearance and discipline, elicited the same standards from those around him</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won the inaugural MI BN NCO of the Quarter board during 1st </a:t>
            </a:r>
            <a:r>
              <a:rPr lang="en-US" sz="1100" dirty="0" err="1">
                <a:solidFill>
                  <a:prstClr val="black"/>
                </a:solidFill>
                <a:latin typeface="Calibri" panose="020F0502020204030204" pitchFamily="34" charset="0"/>
                <a:ea typeface="Calibri" panose="020F0502020204030204" pitchFamily="34" charset="0"/>
                <a:cs typeface="Times New Roman" panose="02020603050405020304" pitchFamily="18" charset="0"/>
              </a:rPr>
              <a:t>Qtr</a:t>
            </a:r>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FY16, out-pacing peers through superior performance</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exceeded physical fitness standards and consistently scored over 290 on the APFT with more than 90 points in each event</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exemplified the professional Soldier; always led from the front and displayed unparalleled energy and expertise at all times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chosen to brief the 1st SFC CG during weekly Ops and Intel updates; set the standard for all briefers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commended by the SOJTF-OIR CCWO for outstanding performance during bi-weekly CTS source network updates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3839009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130" y="1316834"/>
            <a:ext cx="6096000" cy="5509200"/>
          </a:xfrm>
          <a:prstGeom prst="rect">
            <a:avLst/>
          </a:prstGeom>
        </p:spPr>
        <p:txBody>
          <a:bodyPr>
            <a:spAutoFit/>
          </a:bodyPr>
          <a:lstStyle/>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impeccable bearing, confidence, and appearance serving as a role model for all noncommissioned officers in the G2</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routinely coordinated across multiple sections which fostered a cohesive environment of camaraderie across G2 &amp; BN</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overcame adversity leading a 3-person S3 team that was critical to establishing the BN; worked long hours to complete missions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maintained high level of physical fitness while deployed; scored 296 on APFT and earned the Army Physical Fitness Badge</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impeccable bearing, confidence, and appearance serve as a role model for all noncommissioned officers</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r>
              <a:rPr lang="en-US" sz="1100" dirty="0">
                <a:latin typeface="Calibri" panose="020F0502020204030204" pitchFamily="34" charset="0"/>
                <a:ea typeface="Calibri" panose="020F0502020204030204" pitchFamily="34" charset="0"/>
                <a:cs typeface="Times New Roman" panose="02020603050405020304" pitchFamily="18" charset="0"/>
              </a:rPr>
              <a:t>o elected as board member for seven Soldier and NCO boards; expertly coordinated hands-on, oral, and physical events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hand-selected to lead the MI BN during Sentinel Day activities; won second place in the BDE physical fitness challenge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exemplified the professional Soldier; always led from the front and displayed unparalleled energy and expertise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earned the Army Physical Fitness Badge, scored 279 and enforced high standards of physical readiness for the G2X</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demonstrated professional bearing at all times, a living blueprint for other Soldiers to emulate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served for one month as the G2 Sergeant Major, exuded professional presence two grades above his current rank</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p:cNvSpPr txBox="1"/>
          <p:nvPr/>
        </p:nvSpPr>
        <p:spPr>
          <a:xfrm>
            <a:off x="0" y="77822"/>
            <a:ext cx="12191999" cy="892552"/>
          </a:xfrm>
          <a:prstGeom prst="rect">
            <a:avLst/>
          </a:prstGeom>
          <a:noFill/>
        </p:spPr>
        <p:txBody>
          <a:bodyPr wrap="square" rtlCol="0">
            <a:spAutoFit/>
          </a:bodyPr>
          <a:lstStyle/>
          <a:p>
            <a:pPr algn="ctr"/>
            <a:r>
              <a:rPr lang="en-US" sz="3200" dirty="0">
                <a:latin typeface="Calisto MT" panose="02040603050505030304" pitchFamily="18" charset="0"/>
              </a:rPr>
              <a:t>EXAMPLES </a:t>
            </a:r>
          </a:p>
          <a:p>
            <a:pPr algn="ctr"/>
            <a:r>
              <a:rPr lang="en-US" sz="2000" dirty="0">
                <a:latin typeface="Calisto MT" panose="02040603050505030304" pitchFamily="18" charset="0"/>
              </a:rPr>
              <a:t>Presence </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8" name="Rectangle 7"/>
          <p:cNvSpPr/>
          <p:nvPr/>
        </p:nvSpPr>
        <p:spPr>
          <a:xfrm>
            <a:off x="6296025" y="1219646"/>
            <a:ext cx="6096000" cy="5847755"/>
          </a:xfrm>
          <a:prstGeom prst="rect">
            <a:avLst/>
          </a:prstGeom>
        </p:spPr>
        <p:txBody>
          <a:bodyPr>
            <a:spAutoFit/>
          </a:bodyPr>
          <a:lstStyle/>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o presented confidence in himself and the team; acted as NCOIC five times, keeping team on task and challenged</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maintained a positive attitude throughout a rigorous Division training cycle; influenced all Soldiers under his charge</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demonstrated professional bearing at all times; directed the team during deployed mission responsible for the entire CJOA-A</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scored 266 on APFT; sets the example of physical fitness for the Targeting section and G2 enlisted Soldiers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highly resilient; executed HICOM, DIV CPX, WFX training events and completed SLC in less than seven months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briefed Field Grade and General Officer leaders with poise and confidence demonstrating maturity beyond his rank</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demonstrated exceptional dedication to the mission; deployed to JRTC with 24hrs notice to support the 101st 3rd Brigade FTX</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displayed outstanding resilience and mental toughness; supported three concurrent Division validation exercises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impeccable military bearing, compassionate and caring leader; maintained 100% safety for 11 GEOINT soldiers without incident</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instructed a four week GAFB preparation program; increased G2's GAFB qualification by five silver badges and one gold badge</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led most proficient section; his calm demeanor and confidence encouraged all Soldiers to emulate unmatched military bearing</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7229013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1326359"/>
            <a:ext cx="6096000" cy="2123658"/>
          </a:xfrm>
          <a:prstGeom prst="rect">
            <a:avLst/>
          </a:prstGeom>
        </p:spPr>
        <p:txBody>
          <a:bodyPr>
            <a:spAutoFit/>
          </a:bodyPr>
          <a:lstStyle/>
          <a:p>
            <a:pPr lvl="0"/>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Presence Bullets Continued</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displayed ultimate resiliency; worked tirelessly to recuperate from knee surgery in Iraq returning to duty 90 days early</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aptly developed and lead an advanced PT program for the G2 that incorporated functional fitness and battle-focused training</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motivated the entire operations section to consistently score above 270 on all APFTs; highest PT average of all G2 sections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expertly provided leader training and Soldier familiarization for ACFT implementation, standards, and equipment</a:t>
            </a:r>
          </a:p>
        </p:txBody>
      </p:sp>
      <p:sp>
        <p:nvSpPr>
          <p:cNvPr id="5" name="TextBox 4"/>
          <p:cNvSpPr txBox="1"/>
          <p:nvPr/>
        </p:nvSpPr>
        <p:spPr>
          <a:xfrm>
            <a:off x="0" y="77822"/>
            <a:ext cx="12191999" cy="892552"/>
          </a:xfrm>
          <a:prstGeom prst="rect">
            <a:avLst/>
          </a:prstGeom>
          <a:noFill/>
        </p:spPr>
        <p:txBody>
          <a:bodyPr wrap="square" rtlCol="0">
            <a:spAutoFit/>
          </a:bodyPr>
          <a:lstStyle/>
          <a:p>
            <a:pPr algn="ctr"/>
            <a:r>
              <a:rPr lang="en-US" sz="3200" dirty="0">
                <a:latin typeface="Calisto MT" panose="02040603050505030304" pitchFamily="18" charset="0"/>
              </a:rPr>
              <a:t>EXAMPLES </a:t>
            </a:r>
          </a:p>
          <a:p>
            <a:pPr algn="ctr"/>
            <a:r>
              <a:rPr lang="en-US" sz="2000" dirty="0">
                <a:latin typeface="Calisto MT" panose="02040603050505030304" pitchFamily="18" charset="0"/>
              </a:rPr>
              <a:t>Intellect</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8" name="Rectangle 7"/>
          <p:cNvSpPr/>
          <p:nvPr/>
        </p:nvSpPr>
        <p:spPr>
          <a:xfrm>
            <a:off x="0" y="3450017"/>
            <a:ext cx="6096000" cy="3477875"/>
          </a:xfrm>
          <a:prstGeom prst="rect">
            <a:avLst/>
          </a:prstGeom>
        </p:spPr>
        <p:txBody>
          <a:bodyPr>
            <a:spAutoFit/>
          </a:bodyPr>
          <a:lstStyle/>
          <a:p>
            <a:r>
              <a:rPr lang="en-US" sz="1100" b="1" dirty="0">
                <a:latin typeface="Calibri" panose="020F0502020204030204" pitchFamily="34" charset="0"/>
                <a:ea typeface="Calibri" panose="020F0502020204030204" pitchFamily="34" charset="0"/>
                <a:cs typeface="Times New Roman" panose="02020603050405020304" pitchFamily="18" charset="0"/>
              </a:rPr>
              <a:t>INTELLECT</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deftly executed the duties of the J2 SGM and JISE NCOIC for two months; provided seamless transition during redeployment</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single-handedly redesigned the power distribution plan for the G2 ACE thereby ensuring operations continued without fail</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regularly exhibited an innovative ability to solve complex problems; allowed the G2 ACE flexibility to adapt and succeed</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developed the template for the MTI analytical team; template was adopted for WFX 20-01 across all subordinate BCT's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executed the setup and movement of 138 Soldiers in support of Eagle Talon I and II exercises; reduced time by 30 minutes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contributed to the contract approval of five GEOINT software programs valued at over $53,000; enhanced production by 85%</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p:txBody>
      </p:sp>
      <p:sp>
        <p:nvSpPr>
          <p:cNvPr id="9" name="Rectangle 8"/>
          <p:cNvSpPr/>
          <p:nvPr/>
        </p:nvSpPr>
        <p:spPr>
          <a:xfrm>
            <a:off x="6238875" y="1343406"/>
            <a:ext cx="6096000" cy="5678478"/>
          </a:xfrm>
          <a:prstGeom prst="rect">
            <a:avLst/>
          </a:prstGeom>
        </p:spPr>
        <p:txBody>
          <a:bodyPr>
            <a:spAutoFit/>
          </a:bodyPr>
          <a:lstStyle/>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as Section NCOIC, supervised, refined &amp; produced 20+ Graphic Intelligence Summaries &amp; Battle Update Briefs for the DIV CG</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fused a highly capable, multi-unit team made up of subordinate BCT, National Guard, and G2 Soldiers multiple DIV exercises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led numerous G2 PT events including a 12-mile foot march; single-handedly created the new G2 foot march SOP</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produced and briefed 100 daily and 13 weekly SOJTF-Iraq INTSUMs; kept operational level decision-makers informed</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answered 40 RFIs for the SOCCENT J2 Watch; provided ground truth intelligence on Iraq to the SOCCENT CG</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chosen by USASOC and 1st SFC G2 to participate in a PDSS to Kuwait; resulted in successful BN integration with SOJTF-OIR</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selected over numerous other NCOs in the BDE to help stand up the BN S-1 shop due to his experience and knowledge in HR</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problem solved with limited guidance and minimal oversight, demonstrating mental agility and leadership abilities</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applied innovation in a difficult HR environment to overcome multiple constraints caused by the BN's provisional status</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created the company's training room procedures; resulted in 100% compliance with AR 350-1 training requirements</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expertly prepared three Soldiers for short notice deployments; all analysts successfully deployed on time and without incident</a:t>
            </a:r>
          </a:p>
        </p:txBody>
      </p:sp>
    </p:spTree>
    <p:extLst>
      <p:ext uri="{BB962C8B-B14F-4D97-AF65-F5344CB8AC3E}">
        <p14:creationId xmlns:p14="http://schemas.microsoft.com/office/powerpoint/2010/main" val="7962174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4775" y="1337638"/>
            <a:ext cx="6096000" cy="5509200"/>
          </a:xfrm>
          <a:prstGeom prst="rect">
            <a:avLst/>
          </a:prstGeom>
        </p:spPr>
        <p:txBody>
          <a:bodyPr>
            <a:spAutoFit/>
          </a:bodyPr>
          <a:lstStyle/>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developed a CO Training Resource Model to forecast equipment and training requirements for the next five years</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selected as the MI BN's Africa SME for strategic IC partner engagements based on her extensive area knowledge and expertise</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leveraged IA partners to provide deployed SF Teams with SSE support, enabling strategic level access to critical enemy data</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lauded by the BN CDR for identifying and developing six insurgent LOOs across five cities in southern Syria</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coordinated and </a:t>
            </a:r>
            <a:r>
              <a:rPr lang="en-US" sz="1100" dirty="0" err="1">
                <a:solidFill>
                  <a:prstClr val="black"/>
                </a:solidFill>
                <a:latin typeface="Calibri" panose="020F0502020204030204" pitchFamily="34" charset="0"/>
                <a:ea typeface="Calibri" panose="020F0502020204030204" pitchFamily="34" charset="0"/>
                <a:cs typeface="Times New Roman" panose="02020603050405020304" pitchFamily="18" charset="0"/>
              </a:rPr>
              <a:t>deconflicted</a:t>
            </a:r>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all CTS HUMINT across Iraq, highlighting the utility of host nation reporting throughout CJTF</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trained MIBN analysts on new NGA tools and databases, increasing Geospatial productivity by 30%</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single-handedly executed the duties of the Battalion S3 OIC for two months; provided seamless transition between OPSOs</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r>
              <a:rPr lang="en-US" sz="1100" dirty="0">
                <a:latin typeface="Calibri" panose="020F0502020204030204" pitchFamily="34" charset="0"/>
                <a:ea typeface="Calibri" panose="020F0502020204030204" pitchFamily="34" charset="0"/>
                <a:cs typeface="Times New Roman" panose="02020603050405020304" pitchFamily="18" charset="0"/>
              </a:rPr>
              <a:t>o lauded by intel leaders for deftly briefing MI BN capabilities; drove decision-makers to prioritize and support SOF intel efforts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provided steadfast support and counsel for all Soldiers; habitually sought by NCOs and officers for advice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contributed extensive expertise in order to enhance the CI &amp; HUMINT capacity and capabilities of the G2 section</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coordinated G2 training meetings, ensured the organization balanced operations and </a:t>
            </a:r>
            <a:r>
              <a:rPr lang="en-US" sz="1100" dirty="0" err="1">
                <a:latin typeface="Calibri" panose="020F0502020204030204" pitchFamily="34" charset="0"/>
                <a:ea typeface="Calibri" panose="020F0502020204030204" pitchFamily="34" charset="0"/>
                <a:cs typeface="Times New Roman" panose="02020603050405020304" pitchFamily="18" charset="0"/>
              </a:rPr>
              <a:t>taskings</a:t>
            </a:r>
            <a:r>
              <a:rPr lang="en-US" sz="1100" dirty="0">
                <a:latin typeface="Calibri" panose="020F0502020204030204" pitchFamily="34" charset="0"/>
                <a:ea typeface="Calibri" panose="020F0502020204030204" pitchFamily="34" charset="0"/>
                <a:cs typeface="Times New Roman" panose="02020603050405020304" pitchFamily="18" charset="0"/>
              </a:rPr>
              <a:t> with 100% success</a:t>
            </a:r>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p:cNvSpPr txBox="1"/>
          <p:nvPr/>
        </p:nvSpPr>
        <p:spPr>
          <a:xfrm>
            <a:off x="0" y="77822"/>
            <a:ext cx="12191999" cy="892552"/>
          </a:xfrm>
          <a:prstGeom prst="rect">
            <a:avLst/>
          </a:prstGeom>
          <a:noFill/>
        </p:spPr>
        <p:txBody>
          <a:bodyPr wrap="square" rtlCol="0">
            <a:spAutoFit/>
          </a:bodyPr>
          <a:lstStyle/>
          <a:p>
            <a:pPr algn="ctr"/>
            <a:r>
              <a:rPr lang="en-US" sz="3200" dirty="0">
                <a:latin typeface="Calisto MT" panose="02040603050505030304" pitchFamily="18" charset="0"/>
              </a:rPr>
              <a:t>EXAMPLES </a:t>
            </a:r>
          </a:p>
          <a:p>
            <a:pPr algn="ctr"/>
            <a:r>
              <a:rPr lang="en-US" sz="2000" dirty="0">
                <a:latin typeface="Calisto MT" panose="02040603050505030304" pitchFamily="18" charset="0"/>
              </a:rPr>
              <a:t>Intellect </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8" name="Rectangle 7"/>
          <p:cNvSpPr/>
          <p:nvPr/>
        </p:nvSpPr>
        <p:spPr>
          <a:xfrm>
            <a:off x="6162675" y="1337638"/>
            <a:ext cx="6096000" cy="5509200"/>
          </a:xfrm>
          <a:prstGeom prst="rect">
            <a:avLst/>
          </a:prstGeom>
        </p:spPr>
        <p:txBody>
          <a:bodyPr>
            <a:spAutoFit/>
          </a:bodyPr>
          <a:lstStyle/>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reviewed over 15 packets for military training attendance to support intelligence operations for 101st Division readiness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served as mission database auditor; tracked over 100 national data inquiries without incident during deployed operations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successfully completed MCCEP Phase 1 certification; balanced mission requirements with professional development goals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enhanced technical growth of all Soldiers; integrated training requirements to satisfy newly established qualification standards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hand-selected to serve as the temporary ACE NCOIC as a Staff Sergeant out of a competitive pool of E6's and E7's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known as the G2 SME in threat tactics and equipment; quickly identified enemy high value targets to support dynamic targeting</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developed and codified targeting SOP best practices; improved the G2 targeting sections of three divisions and corps level staff</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restructured the 101st G2 GEOINT building layout; increased training and readiness for five Brigades by 50%</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facilitated the movement of classified systems valued at $3 million dollars; led to 100% validation of G2 DMAIN and DTAC</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aggressively approached unfamiliar tasks with common sense and the urgency required by the chain of command</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streamlined the setup and movement of DTAC in ET II and WFX 20-01 DIV exercises; reduced setup time by 60 minutes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491313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343406"/>
            <a:ext cx="6096000" cy="2462213"/>
          </a:xfrm>
          <a:prstGeom prst="rect">
            <a:avLst/>
          </a:prstGeom>
        </p:spPr>
        <p:txBody>
          <a:bodyPr>
            <a:spAutoFit/>
          </a:bodyPr>
          <a:lstStyle/>
          <a:p>
            <a:pPr lvl="0"/>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Intellect bullets Continued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recognized in ET II, WFX 19-03, and 20-01 DIV exercises by G2 leadership; being the most decorated section inside the G2</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trusted to operate independently; demonstrated ability to use sound judgment and common sense to facilitate task completion</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flawlessly replicated the functions of a Corps G2 while serving in a two-Soldier intel team for 10th MTN's CPX III</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developed load plan and TACSOP that guided G2 deployment and operations during almost five collective training exercises</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quickly learned and integrated mission command systems to an unprecedented level of proficiency</a:t>
            </a:r>
          </a:p>
        </p:txBody>
      </p:sp>
      <p:sp>
        <p:nvSpPr>
          <p:cNvPr id="5" name="TextBox 4"/>
          <p:cNvSpPr txBox="1"/>
          <p:nvPr/>
        </p:nvSpPr>
        <p:spPr>
          <a:xfrm>
            <a:off x="0" y="77822"/>
            <a:ext cx="12191999" cy="892552"/>
          </a:xfrm>
          <a:prstGeom prst="rect">
            <a:avLst/>
          </a:prstGeom>
          <a:noFill/>
        </p:spPr>
        <p:txBody>
          <a:bodyPr wrap="square" rtlCol="0">
            <a:spAutoFit/>
          </a:bodyPr>
          <a:lstStyle/>
          <a:p>
            <a:pPr algn="ctr"/>
            <a:r>
              <a:rPr lang="en-US" sz="3200" dirty="0">
                <a:latin typeface="Calisto MT" panose="02040603050505030304" pitchFamily="18" charset="0"/>
              </a:rPr>
              <a:t>EXAMPLES </a:t>
            </a:r>
          </a:p>
          <a:p>
            <a:pPr algn="ctr"/>
            <a:r>
              <a:rPr lang="en-US" sz="2000" dirty="0">
                <a:latin typeface="Calisto MT" panose="02040603050505030304" pitchFamily="18" charset="0"/>
              </a:rPr>
              <a:t>Leads</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8" name="Rectangle 7"/>
          <p:cNvSpPr/>
          <p:nvPr/>
        </p:nvSpPr>
        <p:spPr>
          <a:xfrm>
            <a:off x="0" y="3805619"/>
            <a:ext cx="6096000" cy="2970044"/>
          </a:xfrm>
          <a:prstGeom prst="rect">
            <a:avLst/>
          </a:prstGeom>
        </p:spPr>
        <p:txBody>
          <a:bodyPr>
            <a:spAutoFit/>
          </a:bodyPr>
          <a:lstStyle/>
          <a:p>
            <a:r>
              <a:rPr lang="en-US" sz="1100" b="1" dirty="0">
                <a:latin typeface="Calibri" panose="020F0502020204030204" pitchFamily="34" charset="0"/>
                <a:ea typeface="Calibri" panose="020F0502020204030204" pitchFamily="34" charset="0"/>
                <a:cs typeface="Times New Roman" panose="02020603050405020304" pitchFamily="18" charset="0"/>
              </a:rPr>
              <a:t>LEADS: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flawlessly planned and supervised the redeployment of the J2; coordinated at all echelons of command to ensure accomplishment</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skillfully prepared the G2 ACE to conduct four Division level exercises; ensured planning, loadout, and setup were successful</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bolstered ACE functionality by influencing decision-makers to place G2 operational needs above other Division Staff sections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flawlessly managed the re-deployment of 67x J2 personnel from CJOA-A to Ft. Campbell with zero incidents or loss of property</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structured the GEOINT capabilities in multiple WFX's; unified a common operating picture across all participating echelons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p:cNvSpPr/>
          <p:nvPr/>
        </p:nvSpPr>
        <p:spPr>
          <a:xfrm>
            <a:off x="6095999" y="1343406"/>
            <a:ext cx="6096000" cy="5509200"/>
          </a:xfrm>
          <a:prstGeom prst="rect">
            <a:avLst/>
          </a:prstGeom>
        </p:spPr>
        <p:txBody>
          <a:bodyPr>
            <a:spAutoFit/>
          </a:bodyPr>
          <a:lstStyle/>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augmented three BCT exercises and one JRTC rotation with six G2 GEOINT soldiers; each soldier was recognized for support</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selected to fill a Sergeant First Class billet and successfully balanced and executed three additional duties in the G2 and BN</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lead trainer for G2 INTELEX with four G2 intelligence teams &amp; three 5th SFG analysts facilitating multi-discipline training</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coordinated across multiple intelligence disciplines in order to maximize G2 processes efficiency and effectiveness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served for one month as the acting Battalion CSM in his absence; ensured seamless leadership of ongoing operations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built relationships with key mission partners; partnered with 1st SFC and BDE Staff to ensure mission success for all involved</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r>
              <a:rPr lang="en-US" sz="1100" dirty="0">
                <a:latin typeface="Calibri" panose="020F0502020204030204" pitchFamily="34" charset="0"/>
                <a:ea typeface="Calibri" panose="020F0502020204030204" pitchFamily="34" charset="0"/>
                <a:cs typeface="Times New Roman" panose="02020603050405020304" pitchFamily="18" charset="0"/>
              </a:rPr>
              <a:t>o promoted flat communications within the command; developed a sense of respect and mutual trust among his team</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worked with higher echelons (up to the DIV level) to accomplish BN HR priorities unique to a provisional, rapidly growing unit</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coordinated with external HR professionals to gain mail room accessibility for the MI BN, directly impacting the morale and welfare of 67 Soldiers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fostered an environment of trust; personally advocated for Soldiers with the Command's surgeon and care coordinator</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went above and beyond to ensure Soldiers received a vast array of resources, including family and financial-oriented resources</a:t>
            </a:r>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5960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77822"/>
            <a:ext cx="12191999" cy="892552"/>
          </a:xfrm>
          <a:prstGeom prst="rect">
            <a:avLst/>
          </a:prstGeom>
          <a:noFill/>
        </p:spPr>
        <p:txBody>
          <a:bodyPr wrap="square" rtlCol="0">
            <a:spAutoFit/>
          </a:bodyPr>
          <a:lstStyle/>
          <a:p>
            <a:pPr algn="ctr"/>
            <a:r>
              <a:rPr lang="en-US" sz="3200" dirty="0">
                <a:latin typeface="Calisto MT" panose="02040603050505030304" pitchFamily="18" charset="0"/>
              </a:rPr>
              <a:t>EXAMPLES </a:t>
            </a:r>
          </a:p>
          <a:p>
            <a:pPr algn="ctr"/>
            <a:r>
              <a:rPr lang="en-US" sz="2000" dirty="0">
                <a:latin typeface="Calisto MT" panose="02040603050505030304" pitchFamily="18" charset="0"/>
              </a:rPr>
              <a:t>Leads</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7" name="Rectangle 6"/>
          <p:cNvSpPr/>
          <p:nvPr/>
        </p:nvSpPr>
        <p:spPr>
          <a:xfrm>
            <a:off x="95250" y="1259303"/>
            <a:ext cx="6096000" cy="5339923"/>
          </a:xfrm>
          <a:prstGeom prst="rect">
            <a:avLst/>
          </a:prstGeom>
        </p:spPr>
        <p:txBody>
          <a:bodyPr>
            <a:spAutoFit/>
          </a:bodyPr>
          <a:lstStyle/>
          <a:p>
            <a:r>
              <a:rPr lang="en-US" sz="1100" dirty="0">
                <a:latin typeface="Calibri" panose="020F0502020204030204" pitchFamily="34" charset="0"/>
                <a:ea typeface="Calibri" panose="020F0502020204030204" pitchFamily="34" charset="0"/>
                <a:cs typeface="Times New Roman" panose="02020603050405020304" pitchFamily="18" charset="0"/>
              </a:rPr>
              <a:t>o established a Foundry intelligence live environment training program; improved SOF-Conventional Force interoperability</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served as 1SG and RST NCOIC for 30 days; expertly balanced both full time positions and accomplished all assigned missions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led a team of 10 NCOs, Junior Soldiers, and a contractor in providing mission critical intelligence support to a deployed TF</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facilitated partnerships between national-level agencies and 3rd SFG(A); enabled real-time collaboration on multiple problem sets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selected over 10 SOF NCOs to serve as the SOJTF-OIR Special Activities Strike Cell NCOIC, a testament to his ability to lead</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facilitated Situational Awareness Geospatial Enabled training for ARSOF units at Fort Bragg</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widely recognized as a Geospatial SME across Fort Bragg, his influence and subject matter expertise are known across ARSOF</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selected to perform CO 1SG and S3 NCOIC duties; expertly balanced both positions without degradation of assigned missions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specifically chosen to present the BN LET program to the DA G2 Staff; secured buy-in that proved critical to program success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rapidly bolstered analysts' functionality by influencing higher HQs to prioritize MI BN operational needs above other units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selected ahead of peers as the PSG for the G2 section due to his exceptional presence, bearing, and leadership abilities</a:t>
            </a:r>
          </a:p>
        </p:txBody>
      </p:sp>
      <p:sp>
        <p:nvSpPr>
          <p:cNvPr id="8" name="Rectangle 7"/>
          <p:cNvSpPr/>
          <p:nvPr/>
        </p:nvSpPr>
        <p:spPr>
          <a:xfrm>
            <a:off x="6286500" y="1259303"/>
            <a:ext cx="5991225" cy="5509200"/>
          </a:xfrm>
          <a:prstGeom prst="rect">
            <a:avLst/>
          </a:prstGeom>
        </p:spPr>
        <p:txBody>
          <a:bodyPr wrap="square">
            <a:spAutoFit/>
          </a:bodyPr>
          <a:lstStyle/>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o rallied nine NCOs to attend Fort Campbell range control training and Battalion safety course to ensure mission success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planned, coordinated, and led the execution of M4 range operations, over 60 Soldiers qualified on assigned weapons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selected as shift NCOIC during ORS deployment; managed and oversaw the production of three Soldiers and 10 civilian analysts</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r>
              <a:rPr lang="en-US" sz="1100" dirty="0">
                <a:latin typeface="Calibri" panose="020F0502020204030204" pitchFamily="34" charset="0"/>
                <a:ea typeface="Calibri" panose="020F0502020204030204" pitchFamily="34" charset="0"/>
                <a:cs typeface="Times New Roman" panose="02020603050405020304" pitchFamily="18" charset="0"/>
              </a:rPr>
              <a:t>o served as Team Leader for seven Soldiers; ensured overall readiness, well-being and professional development of all Soldiers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displayed the ability to adapt; led the sections analytical effort in preparing for two separate combat theaters simultaneously</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flawlessly lead the night shift G2 targeting section while supporting ACE NCOIC duties during Division WFX 20-01</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immediately executed WFX four days after graduating from SLC; demonstrated selflessness to ensure success of the G2</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coordinated targeting with fires cell, joint air ground integration center, air force, and several other warfighting functions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supervised the GEOINT team in support of two Brigade FTX's; provided vital imagery intelligence during maneuver operations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extended training opportunities to eight subordinate GEOINT sections; improved technical capabilities for 20 GEOINT Soldiers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encouraged her subordinates to reach their educational goals; motivated three soldiers to enroll in college courses</a:t>
            </a:r>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26138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343406"/>
            <a:ext cx="5810250" cy="3139321"/>
          </a:xfrm>
          <a:prstGeom prst="rect">
            <a:avLst/>
          </a:prstGeom>
        </p:spPr>
        <p:txBody>
          <a:bodyPr wrap="square">
            <a:spAutoFit/>
          </a:bodyPr>
          <a:lstStyle/>
          <a:p>
            <a:pPr lvl="0"/>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Leads Bullets Continued:</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augmented six brigades with over 200 hours of GEOINT support; increased technical proficiency for 60 GEOINT Soldiers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built a cohesive and lethal GEOINT cell supporting Inherent Resolve; achieved efficiency with effective and deliberate planning</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structured the GEOINT capabilities in ET II and WFX 20-01; creating a unified COP across all participating echelons and units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led G2 operations through Afghanistan redeployment and rapid transition to training for large-scale combat operations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led six intelligence Soldiers in the COIC to synchronize IC, target dynamically, and provide intel briefings during WFX 19-5</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provided superior organizational leadership by guiding G2 operations through competing requirements and training events</a:t>
            </a:r>
          </a:p>
        </p:txBody>
      </p:sp>
      <p:sp>
        <p:nvSpPr>
          <p:cNvPr id="5" name="TextBox 4"/>
          <p:cNvSpPr txBox="1"/>
          <p:nvPr/>
        </p:nvSpPr>
        <p:spPr>
          <a:xfrm>
            <a:off x="0" y="77822"/>
            <a:ext cx="12191999" cy="892552"/>
          </a:xfrm>
          <a:prstGeom prst="rect">
            <a:avLst/>
          </a:prstGeom>
          <a:noFill/>
        </p:spPr>
        <p:txBody>
          <a:bodyPr wrap="square" rtlCol="0">
            <a:spAutoFit/>
          </a:bodyPr>
          <a:lstStyle/>
          <a:p>
            <a:pPr algn="ctr"/>
            <a:r>
              <a:rPr lang="en-US" sz="3200" dirty="0">
                <a:latin typeface="Calisto MT" panose="02040603050505030304" pitchFamily="18" charset="0"/>
              </a:rPr>
              <a:t>EXAMPLES </a:t>
            </a:r>
          </a:p>
          <a:p>
            <a:pPr algn="ctr"/>
            <a:r>
              <a:rPr lang="en-US" sz="2000" dirty="0">
                <a:latin typeface="Calisto MT" panose="02040603050505030304" pitchFamily="18" charset="0"/>
              </a:rPr>
              <a:t>Develops</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8" name="Rectangle 7"/>
          <p:cNvSpPr/>
          <p:nvPr/>
        </p:nvSpPr>
        <p:spPr>
          <a:xfrm>
            <a:off x="-1" y="4482727"/>
            <a:ext cx="5810251" cy="2462213"/>
          </a:xfrm>
          <a:prstGeom prst="rect">
            <a:avLst/>
          </a:prstGeom>
        </p:spPr>
        <p:txBody>
          <a:bodyPr wrap="square">
            <a:spAutoFit/>
          </a:bodyPr>
          <a:lstStyle/>
          <a:p>
            <a:r>
              <a:rPr lang="en-US" sz="1100" b="1" dirty="0">
                <a:latin typeface="Calibri" panose="020F0502020204030204" pitchFamily="34" charset="0"/>
                <a:ea typeface="Calibri" panose="020F0502020204030204" pitchFamily="34" charset="0"/>
                <a:cs typeface="Times New Roman" panose="02020603050405020304" pitchFamily="18" charset="0"/>
              </a:rPr>
              <a:t>DEVELOPS: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spearheaded the creation of the J2 ISR tactical controller program for Resolute Support; exponentially increased lethality</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supervised and empowered junior NCOs to create detailed training plans that enabled the highest levels of readiness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steadfastly sought out single-source intelligence leaders to expand his base knowledge; enabled Soldiers further development</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facilitated six training iterations to five GEOINT sections across the Division; improved technical capabilities for 20 soldiers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p:txBody>
      </p:sp>
      <p:sp>
        <p:nvSpPr>
          <p:cNvPr id="9" name="Rectangle 8"/>
          <p:cNvSpPr/>
          <p:nvPr/>
        </p:nvSpPr>
        <p:spPr>
          <a:xfrm>
            <a:off x="5955629" y="1343406"/>
            <a:ext cx="6096000" cy="5339923"/>
          </a:xfrm>
          <a:prstGeom prst="rect">
            <a:avLst/>
          </a:prstGeom>
        </p:spPr>
        <p:txBody>
          <a:bodyPr>
            <a:spAutoFit/>
          </a:bodyPr>
          <a:lstStyle/>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effectively trained seven National Guard GEOINT analyst; allowed for seamless integration into Eagle Talon II exercise</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coordinated three iterations of the GPC-F testing; resulted in 10 Soldiers compliance with mandatory GEOINT certification</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r>
              <a:rPr lang="en-US" sz="1100" dirty="0">
                <a:latin typeface="Calibri" panose="020F0502020204030204" pitchFamily="34" charset="0"/>
                <a:ea typeface="Calibri" panose="020F0502020204030204" pitchFamily="34" charset="0"/>
                <a:cs typeface="Times New Roman" panose="02020603050405020304" pitchFamily="18" charset="0"/>
              </a:rPr>
              <a:t>o organized &amp; lead multiple detailed mock boards for two Soldiers, both received p-status and one won BN </a:t>
            </a:r>
            <a:r>
              <a:rPr lang="en-US" sz="1100" dirty="0" err="1">
                <a:latin typeface="Calibri" panose="020F0502020204030204" pitchFamily="34" charset="0"/>
                <a:ea typeface="Calibri" panose="020F0502020204030204" pitchFamily="34" charset="0"/>
                <a:cs typeface="Times New Roman" panose="02020603050405020304" pitchFamily="18" charset="0"/>
              </a:rPr>
              <a:t>SoM</a:t>
            </a:r>
            <a:r>
              <a:rPr lang="en-US" sz="1100" dirty="0">
                <a:latin typeface="Calibri" panose="020F0502020204030204" pitchFamily="34" charset="0"/>
                <a:ea typeface="Calibri" panose="020F0502020204030204" pitchFamily="34" charset="0"/>
                <a:cs typeface="Times New Roman" panose="02020603050405020304" pitchFamily="18" charset="0"/>
              </a:rPr>
              <a:t> Board</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developed 10-day Intelligence Exercise validating 10 &amp; 20 level intel tasks for the G2's intelligence professionals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expertly trained and prepared one Soldier for the Basic Leaders Course; Soldier graduated with Commandants List Honors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developed, coordinated, and ran the MI BN Solider/NCO of the quarter and promotion boards; instilled unit pride in the MI BN</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maintained a positive work ethic and climate that focused on professional development for all of his subordinates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coached and mentored one Soldier to further their military and civilian education; helped the Soldier develop a degree plan</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created a nine-part training plan that taught critical HR tasks necessary for a new Soldier to become proficient in the MI BN's S-1 shop</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streamlined multiple processes through various programs and tools, increasing the shop's efficiency by 50%</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led a BN level cyber investigative NCOPD; brought unique, specialized knowledge into the BN</a:t>
            </a:r>
            <a:endParaRPr lang="en-US" sz="1100" dirty="0">
              <a:solidFill>
                <a:prstClr val="black"/>
              </a:solidFill>
            </a:endParaRPr>
          </a:p>
        </p:txBody>
      </p:sp>
    </p:spTree>
    <p:extLst>
      <p:ext uri="{BB962C8B-B14F-4D97-AF65-F5344CB8AC3E}">
        <p14:creationId xmlns:p14="http://schemas.microsoft.com/office/powerpoint/2010/main" val="2177006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77822"/>
            <a:ext cx="12191999" cy="892552"/>
          </a:xfrm>
          <a:prstGeom prst="rect">
            <a:avLst/>
          </a:prstGeom>
          <a:noFill/>
        </p:spPr>
        <p:txBody>
          <a:bodyPr wrap="square" rtlCol="0">
            <a:spAutoFit/>
          </a:bodyPr>
          <a:lstStyle/>
          <a:p>
            <a:pPr algn="ctr"/>
            <a:r>
              <a:rPr lang="en-US" sz="3200" dirty="0">
                <a:latin typeface="Calisto MT" panose="02040603050505030304" pitchFamily="18" charset="0"/>
              </a:rPr>
              <a:t>EXAMPLES </a:t>
            </a:r>
          </a:p>
          <a:p>
            <a:pPr algn="ctr"/>
            <a:r>
              <a:rPr lang="en-US" sz="2000" dirty="0">
                <a:latin typeface="Calisto MT" panose="02040603050505030304" pitchFamily="18" charset="0"/>
              </a:rPr>
              <a:t>Develops</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7" name="Rectangle 6"/>
          <p:cNvSpPr/>
          <p:nvPr/>
        </p:nvSpPr>
        <p:spPr>
          <a:xfrm>
            <a:off x="95249" y="1216745"/>
            <a:ext cx="5953126" cy="5678478"/>
          </a:xfrm>
          <a:prstGeom prst="rect">
            <a:avLst/>
          </a:prstGeom>
        </p:spPr>
        <p:txBody>
          <a:bodyPr wrap="square">
            <a:spAutoFit/>
          </a:bodyPr>
          <a:lstStyle/>
          <a:p>
            <a:r>
              <a:rPr lang="en-US" sz="1100" dirty="0">
                <a:latin typeface="Calibri" panose="020F0502020204030204" pitchFamily="34" charset="0"/>
                <a:ea typeface="Calibri" panose="020F0502020204030204" pitchFamily="34" charset="0"/>
                <a:cs typeface="Times New Roman" panose="02020603050405020304" pitchFamily="18" charset="0"/>
              </a:rPr>
              <a:t>o developed and personally supervised a Soldier's plan to be removed from the ABCP; resulted in success within 60 days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mentored Soldiers and set standards; resulted in accountable management of training records and administrative data</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trained 15 Soldiers in the use of SOCOM databases; directed real time CONUS-based support for SOJTF-OIR operations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coordinated with Mission Support Company SMEs for training on single source intelligence functions to increase capabilities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mentored 6 Soldiers from 1st SFC and 82nd ABN DIV during SOF/CF integration, tripling their knowledge and analytical skills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trained 10 Iraqi CTS officers on imagery and geospatial data, enabling 17 named counter-ISIL operations by partner forces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trained the CJTF ORSA team, enabling advanced analysis of strike data and optimizing counter-ISIL strikes across the CJOA</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assisted in developing a MOS certification program for 35F and 35G, setting the foundation for SOF-specific intelligence support</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established the BN security program and expertly trained the MI BN S2 to conduct special security representative duties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created multiple training and management tracking systems, effectually streamlining BN operations by 80 percent</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imparted depth of knowledge at every opportunity, effectively broadening Soldiers' abilities as leaders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p:txBody>
      </p:sp>
      <p:sp>
        <p:nvSpPr>
          <p:cNvPr id="8" name="Rectangle 7"/>
          <p:cNvSpPr/>
          <p:nvPr/>
        </p:nvSpPr>
        <p:spPr>
          <a:xfrm>
            <a:off x="6143624" y="1216745"/>
            <a:ext cx="6096000" cy="5509200"/>
          </a:xfrm>
          <a:prstGeom prst="rect">
            <a:avLst/>
          </a:prstGeom>
        </p:spPr>
        <p:txBody>
          <a:bodyPr>
            <a:spAutoFit/>
          </a:bodyPr>
          <a:lstStyle/>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completed 9 credit hours maintaining a 4.0 GPA, three classes from completing a Bachelor of Arts in Intelligence Studies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volunteered over 200 hours coaching baseball to 26 youth children, instilled teamwork and camaraderie to the community</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exemplified esprit de corps within the G2 Section ensuring that departing Soldiers were recognized during farewell ceremonies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led four week post-deployment training program; solidified section readiness for upcoming Division exercises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reviewed records and advised seven Soldiers on career progression; mentored on future plans, educational opportunities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realized areas for self-improvement; sought guidance from supervisors and peers to strengthen professional development</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r>
              <a:rPr lang="en-US" sz="1100" dirty="0">
                <a:latin typeface="Calibri" panose="020F0502020204030204" pitchFamily="34" charset="0"/>
                <a:ea typeface="Calibri" panose="020F0502020204030204" pitchFamily="34" charset="0"/>
                <a:cs typeface="Times New Roman" panose="02020603050405020304" pitchFamily="18" charset="0"/>
              </a:rPr>
              <a:t>o developed two all source analysts and two Sergeants, resulting in one attending ALC and one graduating airborne school</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aptly co-developed the divisions intelligence exercise that trained over twenty all source analysts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created and lead several development classes that prepared targeting analysts for high tempo operations during WFX 20-01</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recognized priorities for GEOINT cell; synchronized incoming and outgoing personnel in order to remain fully mission capable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executed cross-training between geospatial engineers and imagery analyst; enhanced productivity by 60%</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3754097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295241"/>
            <a:ext cx="6096000" cy="3816429"/>
          </a:xfrm>
          <a:prstGeom prst="rect">
            <a:avLst/>
          </a:prstGeom>
        </p:spPr>
        <p:txBody>
          <a:bodyPr>
            <a:spAutoFit/>
          </a:bodyPr>
          <a:lstStyle/>
          <a:p>
            <a:pPr lvl="0"/>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Develops bullet Continued</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balanced mission requirements with Soldiers' needs through careful planning ensuring high morale and mission success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identified as the top enlisted engineer within the division; selected over three SFCs to fill the G2 GEOINT NCOIC position</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developed a QA/QC process for GEOINT TDAs; maximizing efficiency of production and reducing dissemination time by 20%</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implemented cross-training of 15 imagery analysis and geospatial engineers, significantly improved capabilities by 50%</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mentored the G2's M240L MG team as they exceeded all training standards and earned recognition as the BN top gun team</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personally trained the G2s most competent 35F10s later selected to operate autonomously across three command posts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provided continuity and counsel to over ten G2 ops officers, three G2 SGMs, three ACE NCOICs, and three ACE Chiefs</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0" y="4894228"/>
            <a:ext cx="6096000" cy="1954381"/>
          </a:xfrm>
          <a:prstGeom prst="rect">
            <a:avLst/>
          </a:prstGeom>
        </p:spPr>
        <p:txBody>
          <a:bodyPr>
            <a:spAutoFit/>
          </a:bodyPr>
          <a:lstStyle/>
          <a:p>
            <a:r>
              <a:rPr lang="en-US" sz="1100" b="1" dirty="0">
                <a:latin typeface="Calibri" panose="020F0502020204030204" pitchFamily="34" charset="0"/>
                <a:ea typeface="Calibri" panose="020F0502020204030204" pitchFamily="34" charset="0"/>
                <a:cs typeface="Times New Roman" panose="02020603050405020304" pitchFamily="18" charset="0"/>
              </a:rPr>
              <a:t>ACHIEVES:</a:t>
            </a:r>
          </a:p>
          <a:p>
            <a:endParaRPr lang="en-US" sz="1100" dirty="0">
              <a:latin typeface="Calibri" panose="020F0502020204030204" pitchFamily="34" charset="0"/>
              <a:ea typeface="Calibri" panose="020F0502020204030204" pitchFamily="34" charset="0"/>
              <a:cs typeface="Times New Roman" panose="02020603050405020304" pitchFamily="18" charset="0"/>
            </a:endParaRPr>
          </a:p>
          <a:p>
            <a:r>
              <a:rPr lang="en-US" sz="1100" dirty="0">
                <a:latin typeface="Calibri" panose="020F0502020204030204" pitchFamily="34" charset="0"/>
                <a:ea typeface="Calibri" panose="020F0502020204030204" pitchFamily="34" charset="0"/>
                <a:cs typeface="Times New Roman" panose="02020603050405020304" pitchFamily="18" charset="0"/>
              </a:rPr>
              <a:t>o impeccably managed twelve J2 personnel and equipment deployed across six different Afghan provinces without issue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aptly conceptualized, planned, and executed deploying and redeploying the entire G2 ACE for four Division-level exercises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shrewdly identified organizational issues; streamlined administrative processes allowing accurate and timely tracking</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p:txBody>
      </p:sp>
      <p:sp>
        <p:nvSpPr>
          <p:cNvPr id="7" name="Rectangle 6"/>
          <p:cNvSpPr/>
          <p:nvPr/>
        </p:nvSpPr>
        <p:spPr>
          <a:xfrm>
            <a:off x="6191250" y="1295241"/>
            <a:ext cx="6000750" cy="5509200"/>
          </a:xfrm>
          <a:prstGeom prst="rect">
            <a:avLst/>
          </a:prstGeom>
        </p:spPr>
        <p:txBody>
          <a:bodyPr wrap="square">
            <a:spAutoFit/>
          </a:bodyPr>
          <a:lstStyle/>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maintained 100% accountability of over $50 million of sensitive equipment and SCIF during system configurations of three BCT's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implemented the ISTORE program; giving access to both raw and finished products across Army echelons and sister services</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r>
              <a:rPr lang="en-US" sz="1100" dirty="0">
                <a:latin typeface="Calibri" panose="020F0502020204030204" pitchFamily="34" charset="0"/>
                <a:ea typeface="Calibri" panose="020F0502020204030204" pitchFamily="34" charset="0"/>
                <a:cs typeface="Times New Roman" panose="02020603050405020304" pitchFamily="18" charset="0"/>
              </a:rPr>
              <a:t>o aided two National Guard units with GWS configuration; enabled the section to provide GEOINT support at Division level</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selected by BN CSM to lead BN AASLT PT Program; resulted in over 30 AASLT graduates across BN; 300+% more than 2018</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led INTELEX validating technical fundamentals of 15 20-level and below Soldiers improving the overall G2 intel capability</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supervised, refined, &amp; disseminated over 50 G2 Finished Intelligence Products enabling CDR’s timely decision</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identified and closed critical SOJTF-Iraq intelligence gaps by integrating and collaborating with a variety of mission partners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developed and executed a BN training management program; resulted in 95% readiness rates, well above USASOC standards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orchestrated execution of BN operations in response to 1st SFC mission requirements; increased BN operational effectiveness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always strove to identify ways to improve the S-1 shop, helping build it into a fully functioning section necessary for the BN’s overall mission success</a:t>
            </a:r>
          </a:p>
          <a:p>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r>
              <a:rPr lang="en-US" sz="1100" dirty="0">
                <a:latin typeface="Calibri" panose="020F0502020204030204" pitchFamily="34" charset="0"/>
                <a:ea typeface="Calibri" panose="020F0502020204030204" pitchFamily="34" charset="0"/>
                <a:cs typeface="Times New Roman" panose="02020603050405020304" pitchFamily="18" charset="0"/>
              </a:rPr>
              <a:t>o managed all personnel data with attention to detail, successfully supporting the BN’s 131% growth over the rating period</a:t>
            </a:r>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p:cNvSpPr txBox="1"/>
          <p:nvPr/>
        </p:nvSpPr>
        <p:spPr>
          <a:xfrm>
            <a:off x="0" y="77822"/>
            <a:ext cx="12191999" cy="892552"/>
          </a:xfrm>
          <a:prstGeom prst="rect">
            <a:avLst/>
          </a:prstGeom>
          <a:noFill/>
        </p:spPr>
        <p:txBody>
          <a:bodyPr wrap="square" rtlCol="0">
            <a:spAutoFit/>
          </a:bodyPr>
          <a:lstStyle/>
          <a:p>
            <a:pPr algn="ctr"/>
            <a:r>
              <a:rPr lang="en-US" sz="3200" dirty="0">
                <a:latin typeface="Calisto MT" panose="02040603050505030304" pitchFamily="18" charset="0"/>
              </a:rPr>
              <a:t>EXAMPLES </a:t>
            </a:r>
          </a:p>
          <a:p>
            <a:pPr algn="ctr"/>
            <a:r>
              <a:rPr lang="en-US" sz="2000" dirty="0">
                <a:latin typeface="Calisto MT" panose="02040603050505030304" pitchFamily="18" charset="0"/>
              </a:rPr>
              <a:t>Achieves</a:t>
            </a:r>
          </a:p>
        </p:txBody>
      </p:sp>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Tree>
    <p:extLst>
      <p:ext uri="{BB962C8B-B14F-4D97-AF65-F5344CB8AC3E}">
        <p14:creationId xmlns:p14="http://schemas.microsoft.com/office/powerpoint/2010/main" val="27937689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9050" y="1257681"/>
            <a:ext cx="6096000" cy="5509200"/>
          </a:xfrm>
          <a:prstGeom prst="rect">
            <a:avLst/>
          </a:prstGeom>
        </p:spPr>
        <p:txBody>
          <a:bodyPr>
            <a:spAutoFit/>
          </a:bodyPr>
          <a:lstStyle/>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taught a professional development session on flags and bars to reenlistment that improved the BN’s overall HR knowledge and readiness</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r>
              <a:rPr lang="en-US" sz="1100" dirty="0">
                <a:latin typeface="Calibri" panose="020F0502020204030204" pitchFamily="34" charset="0"/>
                <a:ea typeface="Calibri" panose="020F0502020204030204" pitchFamily="34" charset="0"/>
                <a:cs typeface="Times New Roman" panose="02020603050405020304" pitchFamily="18" charset="0"/>
              </a:rPr>
              <a:t>o developed the company's first quarterly training brief; set the standard for other companies in the Brigade to achieve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assisted several NCOs to prepare for NCO of the Quarter Boards; directly contributed to an ASC NCO winning the board</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initiated the first-ever ARSOF specific all-source intelligence training pipeline for the BN's Regional Support Teams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commended by the USASOC CG for coalescing the 1st SFC MI BN and 82nd ABN DIV initiatives for intelligence collaboration</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utilized the MI BN's multi-</a:t>
            </a:r>
            <a:r>
              <a:rPr lang="en-US" sz="1100" dirty="0" err="1">
                <a:latin typeface="Calibri" panose="020F0502020204030204" pitchFamily="34" charset="0"/>
                <a:ea typeface="Calibri" panose="020F0502020204030204" pitchFamily="34" charset="0"/>
                <a:cs typeface="Times New Roman" panose="02020603050405020304" pitchFamily="18" charset="0"/>
              </a:rPr>
              <a:t>int</a:t>
            </a:r>
            <a:r>
              <a:rPr lang="en-US" sz="1100" dirty="0">
                <a:latin typeface="Calibri" panose="020F0502020204030204" pitchFamily="34" charset="0"/>
                <a:ea typeface="Calibri" panose="020F0502020204030204" pitchFamily="34" charset="0"/>
                <a:cs typeface="Times New Roman" panose="02020603050405020304" pitchFamily="18" charset="0"/>
              </a:rPr>
              <a:t> capacity to provide timely intelligence to </a:t>
            </a:r>
            <a:r>
              <a:rPr lang="en-US" sz="1100" dirty="0" err="1">
                <a:latin typeface="Calibri" panose="020F0502020204030204" pitchFamily="34" charset="0"/>
                <a:ea typeface="Calibri" panose="020F0502020204030204" pitchFamily="34" charset="0"/>
                <a:cs typeface="Times New Roman" panose="02020603050405020304" pitchFamily="18" charset="0"/>
              </a:rPr>
              <a:t>fwd</a:t>
            </a:r>
            <a:r>
              <a:rPr lang="en-US" sz="1100" dirty="0">
                <a:latin typeface="Calibri" panose="020F0502020204030204" pitchFamily="34" charset="0"/>
                <a:ea typeface="Calibri" panose="020F0502020204030204" pitchFamily="34" charset="0"/>
                <a:cs typeface="Times New Roman" panose="02020603050405020304" pitchFamily="18" charset="0"/>
              </a:rPr>
              <a:t> TFs, resulting in partner force mission success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created 10 location specific intel deep dives for SOF teams deployed across two COCOMs; lauded by TF CDRs for her work</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integrated CTS HUMINT into the Coalition targeting cycle, enabling the seizure of Ramadi and Fallujah with over 200 strikes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responsible for the production of 323 IIRs, approximately one third of the IIRs published in Iraq over six months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illuminated the Baghdad Threat Network through CTS sources, assisting in the creation of the Baghdad Targeting Cell</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designed five LET programs, drastically expanding SOF training opportunities for intelligence professionals Army-wide</a:t>
            </a:r>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6219825" y="1257681"/>
            <a:ext cx="5829300" cy="5509200"/>
          </a:xfrm>
          <a:prstGeom prst="rect">
            <a:avLst/>
          </a:prstGeom>
        </p:spPr>
        <p:txBody>
          <a:bodyPr wrap="square">
            <a:spAutoFit/>
          </a:bodyPr>
          <a:lstStyle/>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conceptualized and established the MI BN's first-ever TSCIF; exponentially increased analysts' operational capabilities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extricated 30 Soldiers from substandard lodging; acquired new barracks and improved quality of life and morale</a:t>
            </a:r>
          </a:p>
          <a:p>
            <a:pPr lvl="0"/>
            <a:endPar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a:p>
            <a:r>
              <a:rPr lang="en-US" sz="1100" dirty="0">
                <a:latin typeface="Calibri" panose="020F0502020204030204" pitchFamily="34" charset="0"/>
                <a:ea typeface="Calibri" panose="020F0502020204030204" pitchFamily="34" charset="0"/>
                <a:cs typeface="Times New Roman" panose="02020603050405020304" pitchFamily="18" charset="0"/>
              </a:rPr>
              <a:t>o received the prestigious Military Intelligence Knowlton Award for honorable service in positions above rank while deployed</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stewarded the use of over $200,000 in DoD travel funds while appointed as the G2 Defense Travel System Approving Official</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improved individual and section readiness in language, MEDPROS, and physical fitness from 72% to 91%</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managed SIGINT production on deployment; ensured accurate and timely release of over 150 products supporting the CJOA-A</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demonstrated the flexibility to meet G2 mission requirements; served as Special Security Representative (SSR) for G2</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reorganized the section to meet Division G2 requirements; led the integration of eight Soldiers into four additional mission areas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critical in the success at WFX; lauded by mission command training program as one of the most effective targeting sections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maintained 100% accountability of all G2 sensitive items and equipment during six division command post jumps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greatly exceled in G2 Targeting NCOIC and Analysis and Control Element NCOIC duties during WFX 20-01 and garrison</a:t>
            </a:r>
          </a:p>
        </p:txBody>
      </p:sp>
      <p:sp>
        <p:nvSpPr>
          <p:cNvPr id="6" name="TextBox 5"/>
          <p:cNvSpPr txBox="1"/>
          <p:nvPr/>
        </p:nvSpPr>
        <p:spPr>
          <a:xfrm>
            <a:off x="0" y="77822"/>
            <a:ext cx="12191999" cy="892552"/>
          </a:xfrm>
          <a:prstGeom prst="rect">
            <a:avLst/>
          </a:prstGeom>
          <a:noFill/>
        </p:spPr>
        <p:txBody>
          <a:bodyPr wrap="square" rtlCol="0">
            <a:spAutoFit/>
          </a:bodyPr>
          <a:lstStyle/>
          <a:p>
            <a:pPr algn="ctr"/>
            <a:r>
              <a:rPr lang="en-US" sz="3200" dirty="0">
                <a:latin typeface="Calisto MT" panose="02040603050505030304" pitchFamily="18" charset="0"/>
              </a:rPr>
              <a:t>EXAMPLES </a:t>
            </a:r>
          </a:p>
          <a:p>
            <a:pPr algn="ctr"/>
            <a:r>
              <a:rPr lang="en-US" sz="2000" dirty="0">
                <a:latin typeface="Calisto MT" panose="02040603050505030304" pitchFamily="18" charset="0"/>
              </a:rPr>
              <a:t>Achieves</a:t>
            </a:r>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Tree>
    <p:extLst>
      <p:ext uri="{BB962C8B-B14F-4D97-AF65-F5344CB8AC3E}">
        <p14:creationId xmlns:p14="http://schemas.microsoft.com/office/powerpoint/2010/main" val="36087252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381750"/>
            <a:ext cx="6096000" cy="4324261"/>
          </a:xfrm>
          <a:prstGeom prst="rect">
            <a:avLst/>
          </a:prstGeom>
        </p:spPr>
        <p:txBody>
          <a:bodyPr>
            <a:spAutoFit/>
          </a:bodyPr>
          <a:lstStyle/>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ensured 100% accountability of five GWS systems, and four mapping plotters valued at $550,000 without loss or damage</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assisted in the execution of the Company's weapons range resulting in 80 Soldiers qualified on the M4</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empowered subordinates and peers by instilling trust and encouraging professional and personal growth</a:t>
            </a:r>
          </a:p>
          <a:p>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r>
              <a:rPr lang="en-US" sz="1100" dirty="0">
                <a:latin typeface="Calibri" panose="020F0502020204030204" pitchFamily="34" charset="0"/>
                <a:ea typeface="Calibri" panose="020F0502020204030204" pitchFamily="34" charset="0"/>
                <a:cs typeface="Times New Roman" panose="02020603050405020304" pitchFamily="18" charset="0"/>
              </a:rPr>
              <a:t>o managed 18 member GEOINT cell impeccably; allowing G2 leadership the maneuver space to focus efforts on mission success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increased company readiness by 40%; provided 60 Soldiers driver's training, resulted in all 60 Soldiers being certified to drive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maintained accountability and physical security of GEOINT equipment in excess of $21 million dollars with no loss of property</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improved target development and prosecution across CJOA-A by improving IROC ITC capability and effectiveness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enabled commanders across two divisions to meet training objectives by providing expert intelligence support to exercises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maintained 100% accountability of over $10,000 of equipment during three FTXs and two geographically separate locations</a:t>
            </a:r>
          </a:p>
          <a:p>
            <a:pPr lvl="0"/>
            <a:endParaRPr lang="en-US" sz="1100" dirty="0"/>
          </a:p>
        </p:txBody>
      </p:sp>
      <p:sp>
        <p:nvSpPr>
          <p:cNvPr id="5" name="TextBox 4"/>
          <p:cNvSpPr txBox="1"/>
          <p:nvPr/>
        </p:nvSpPr>
        <p:spPr>
          <a:xfrm>
            <a:off x="0" y="77822"/>
            <a:ext cx="12191999" cy="892552"/>
          </a:xfrm>
          <a:prstGeom prst="rect">
            <a:avLst/>
          </a:prstGeom>
          <a:noFill/>
        </p:spPr>
        <p:txBody>
          <a:bodyPr wrap="square" rtlCol="0">
            <a:spAutoFit/>
          </a:bodyPr>
          <a:lstStyle/>
          <a:p>
            <a:pPr algn="ctr"/>
            <a:r>
              <a:rPr lang="en-US" sz="3200" dirty="0">
                <a:latin typeface="Calisto MT" panose="02040603050505030304" pitchFamily="18" charset="0"/>
              </a:rPr>
              <a:t>EXAMPLES </a:t>
            </a:r>
          </a:p>
          <a:p>
            <a:pPr algn="ctr"/>
            <a:r>
              <a:rPr lang="en-US" sz="2000" dirty="0">
                <a:latin typeface="Calisto MT" panose="02040603050505030304" pitchFamily="18" charset="0"/>
              </a:rPr>
              <a:t>Achieves</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Tree>
    <p:extLst>
      <p:ext uri="{BB962C8B-B14F-4D97-AF65-F5344CB8AC3E}">
        <p14:creationId xmlns:p14="http://schemas.microsoft.com/office/powerpoint/2010/main" val="36564016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77822"/>
            <a:ext cx="12191999" cy="892552"/>
          </a:xfrm>
          <a:prstGeom prst="rect">
            <a:avLst/>
          </a:prstGeom>
          <a:noFill/>
        </p:spPr>
        <p:txBody>
          <a:bodyPr wrap="square" rtlCol="0">
            <a:spAutoFit/>
          </a:bodyPr>
          <a:lstStyle/>
          <a:p>
            <a:pPr algn="ctr"/>
            <a:r>
              <a:rPr lang="en-US" sz="3200" dirty="0">
                <a:latin typeface="Calisto MT" panose="02040603050505030304" pitchFamily="18" charset="0"/>
              </a:rPr>
              <a:t>EXAMPLES </a:t>
            </a:r>
          </a:p>
          <a:p>
            <a:pPr algn="ctr"/>
            <a:r>
              <a:rPr lang="en-US" sz="2000" dirty="0">
                <a:latin typeface="Calisto MT" panose="02040603050505030304" pitchFamily="18" charset="0"/>
              </a:rPr>
              <a:t>Rater Comments </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7" name="Rectangle 6"/>
          <p:cNvSpPr/>
          <p:nvPr/>
        </p:nvSpPr>
        <p:spPr>
          <a:xfrm>
            <a:off x="76200" y="1421228"/>
            <a:ext cx="6096000" cy="5001369"/>
          </a:xfrm>
          <a:prstGeom prst="rect">
            <a:avLst/>
          </a:prstGeom>
        </p:spPr>
        <p:txBody>
          <a:bodyPr>
            <a:spAutoFit/>
          </a:bodyPr>
          <a:lstStyle/>
          <a:p>
            <a:r>
              <a:rPr lang="en-US" sz="1100" dirty="0">
                <a:latin typeface="Calibri" panose="020F0502020204030204" pitchFamily="34" charset="0"/>
                <a:ea typeface="Calibri" panose="020F0502020204030204" pitchFamily="34" charset="0"/>
                <a:cs typeface="Times New Roman" panose="02020603050405020304" pitchFamily="18" charset="0"/>
              </a:rPr>
              <a:t>o he is in the top 10% of all NCOs I have observed in 12 years of service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very dedicated NCO that was 100% committed to the success of the G2 ACE and 101st ABN DIV (AASLT)</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dependable and capable NCO; fully applied himself to duties and tasks required to accomplish the mission</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performed exceptionally; he is in the top 5% of NCO's that I have worked with in over 21 years of service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demonstrated true professionalism; performing at the MSG level setting an example for all to emulate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set the highest standards of technical proficiency and ensured every Soldiers quality of work exceeded expectations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number 1 of 10 Staff Sergeants I have rated in my 26 year career; exceptional role model for subordinates and peers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outstanding performance by a truly competent, professional, and dedicated Noncommissioned Officer; stands above peers in personal commitment to professionalism and excellence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commendable performance as BN S3 NCOIC during a critical build phase for the BN</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very dedicated NCO that was 100% committed to the success of this new MI BN and its mission</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demonstrated an acute understanding of the importance of relationships and how to build them</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excellent performance over a six month rating period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p:cNvSpPr/>
          <p:nvPr/>
        </p:nvSpPr>
        <p:spPr>
          <a:xfrm>
            <a:off x="6118558" y="1222177"/>
            <a:ext cx="6096000" cy="5509200"/>
          </a:xfrm>
          <a:prstGeom prst="rect">
            <a:avLst/>
          </a:prstGeom>
        </p:spPr>
        <p:txBody>
          <a:bodyPr>
            <a:spAutoFit/>
          </a:bodyPr>
          <a:lstStyle/>
          <a:p>
            <a:r>
              <a:rPr lang="en-US" sz="1100" dirty="0">
                <a:latin typeface="Calibri" panose="020F0502020204030204" pitchFamily="34" charset="0"/>
                <a:ea typeface="Calibri" panose="020F0502020204030204" pitchFamily="34" charset="0"/>
                <a:cs typeface="Times New Roman" panose="02020603050405020304" pitchFamily="18" charset="0"/>
              </a:rPr>
              <a:t>o performed in a challenging duty position with minimal guidance and oversight</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constantly displayed technical expertise and deep knowledge of craft; applied these skills to better the unit</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in a pool of superior performers, places in the top 30% of all 35F's I've served with in 9 years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a dedicated NCO with consistent motivation and a vast knowledge of the intelligence profession and community</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highly dependable and capable NCO; fully applied himself to duties and tasks required to accomplish the mission</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is in the top 5% of all Staff Sergeants I have observed in 18 years of service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unquestionably the most competent NCO that I currently rate; consistently exceeded expectations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always accomplished the mission regardless of unforeseen challenges or set backs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ranks # 1 of 9 Geospatial Analyst NCOs with whom I've served in 13 years, and #1 of 7 NCOs on RST-Middle East</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unparalleled performance by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 his efforts forward received praise from the SOCCENT and SOJTF CGs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one of the best NCOs in the MI BN and throughout Army SOF Intelligence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is in the top 10% of all NCOs I have observed in 9 years of service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absolutely stellar performance in all respects; consistently exceeded expectations with minimal guidance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p:txBody>
      </p:sp>
    </p:spTree>
    <p:extLst>
      <p:ext uri="{BB962C8B-B14F-4D97-AF65-F5344CB8AC3E}">
        <p14:creationId xmlns:p14="http://schemas.microsoft.com/office/powerpoint/2010/main" val="35784601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1616036"/>
            <a:ext cx="5600700" cy="4154984"/>
          </a:xfrm>
          <a:prstGeom prst="rect">
            <a:avLst/>
          </a:prstGeom>
        </p:spPr>
        <p:txBody>
          <a:bodyPr wrap="square">
            <a:spAutoFit/>
          </a:bodyPr>
          <a:lstStyle/>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without question,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Name’s </a:t>
            </a:r>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commitment immeasurably impacted the MI BN's mission success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is #1 of 3 SFCs that I rate; exceptional performance during this rating period</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very deliberate and knowledgeable; extremely effective leader, communicator, and instructor in multiple skill sets</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excels at any task given to him; requires no supervision to ensure success; "fire and forget"</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dedicated to mission and displayed true concern for Soldiers; ensured Soldiers' needs always superseded his own</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a solid young leader and highly skilled in the technical aspects of his field</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excelled with little guidance and direction through personal initiative, tireless effort, and self-confidence</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exceptional competence and leadership that outperformed expectations of a section NCOIC</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communicated and synchronized efforts in the G2 and throughout the division</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 </a:t>
            </a: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o top performer that excelled in difficult and ambiguous environments with little to no guidance</a:t>
            </a:r>
            <a:endParaRPr lang="en-US" dirty="0">
              <a:solidFill>
                <a:prstClr val="black"/>
              </a:solidFill>
            </a:endParaRPr>
          </a:p>
        </p:txBody>
      </p:sp>
      <p:sp>
        <p:nvSpPr>
          <p:cNvPr id="5" name="TextBox 4"/>
          <p:cNvSpPr txBox="1"/>
          <p:nvPr/>
        </p:nvSpPr>
        <p:spPr>
          <a:xfrm>
            <a:off x="0" y="77822"/>
            <a:ext cx="12191999" cy="892552"/>
          </a:xfrm>
          <a:prstGeom prst="rect">
            <a:avLst/>
          </a:prstGeom>
          <a:noFill/>
        </p:spPr>
        <p:txBody>
          <a:bodyPr wrap="square" rtlCol="0">
            <a:spAutoFit/>
          </a:bodyPr>
          <a:lstStyle/>
          <a:p>
            <a:pPr algn="ctr"/>
            <a:r>
              <a:rPr lang="en-US" sz="3200" dirty="0">
                <a:latin typeface="Calisto MT" panose="02040603050505030304" pitchFamily="18" charset="0"/>
              </a:rPr>
              <a:t>EXAMPLES </a:t>
            </a:r>
          </a:p>
          <a:p>
            <a:pPr algn="ctr"/>
            <a:r>
              <a:rPr lang="en-US" sz="2000" dirty="0">
                <a:latin typeface="Calisto MT" panose="02040603050505030304" pitchFamily="18" charset="0"/>
              </a:rPr>
              <a:t>Rater Comments </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8" name="Rectangle 7"/>
          <p:cNvSpPr/>
          <p:nvPr/>
        </p:nvSpPr>
        <p:spPr>
          <a:xfrm>
            <a:off x="5955629" y="1612822"/>
            <a:ext cx="6096000" cy="3308598"/>
          </a:xfrm>
          <a:prstGeom prst="rect">
            <a:avLst/>
          </a:prstGeom>
        </p:spPr>
        <p:txBody>
          <a:bodyPr>
            <a:spAutoFit/>
          </a:bodyPr>
          <a:lstStyle/>
          <a:p>
            <a:r>
              <a:rPr lang="en-US" sz="1100" dirty="0">
                <a:latin typeface="Calibri" panose="020F0502020204030204" pitchFamily="34" charset="0"/>
                <a:ea typeface="Calibri" panose="020F0502020204030204" pitchFamily="34" charset="0"/>
                <a:cs typeface="Times New Roman" panose="02020603050405020304" pitchFamily="18" charset="0"/>
              </a:rPr>
              <a:t>o outstanding NCO with a can-do attitude, always willing to do more challenging tasks with greater responsibility</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dedicated her time to provide guidance to Soldiers and fellow NCO's on and off duty</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loyal NCO always ready to work above and beyond, committed to always accomplishing the mission</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performed exceptionally; he is in the top 5% of NCO's that I have worked with in over 21 years of service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demonstrated true professionalism; performing at the MSG level setting an example for all to emulate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set the highest standards of technical proficiency and ensured every Soldiers quality of work exceeded expectations</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is clearly in the top 1% of all 35F30's I have served with in 12 years active federal service</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o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is a top-performing NCO with outstanding initiative, extraordinary adaptability, and a superb understanding of the intelligence support to tactical operations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22143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77822"/>
            <a:ext cx="12191999" cy="892552"/>
          </a:xfrm>
          <a:prstGeom prst="rect">
            <a:avLst/>
          </a:prstGeom>
          <a:noFill/>
        </p:spPr>
        <p:txBody>
          <a:bodyPr wrap="square" rtlCol="0">
            <a:spAutoFit/>
          </a:bodyPr>
          <a:lstStyle/>
          <a:p>
            <a:pPr algn="ctr"/>
            <a:r>
              <a:rPr lang="en-US" sz="3200" dirty="0">
                <a:latin typeface="Calisto MT" panose="02040603050505030304" pitchFamily="18" charset="0"/>
              </a:rPr>
              <a:t>EXAMPLES </a:t>
            </a:r>
          </a:p>
          <a:p>
            <a:pPr algn="ctr"/>
            <a:r>
              <a:rPr lang="en-US" sz="2000" dirty="0">
                <a:latin typeface="Calisto MT" panose="02040603050505030304" pitchFamily="18" charset="0"/>
              </a:rPr>
              <a:t>Senior Rater Comments </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7" name="Rectangle 6"/>
          <p:cNvSpPr/>
          <p:nvPr/>
        </p:nvSpPr>
        <p:spPr>
          <a:xfrm>
            <a:off x="0" y="1311081"/>
            <a:ext cx="6096000" cy="5509200"/>
          </a:xfrm>
          <a:prstGeom prst="rect">
            <a:avLst/>
          </a:prstGeom>
        </p:spPr>
        <p:txBody>
          <a:bodyPr>
            <a:spAutoFit/>
          </a:bodyPr>
          <a:lstStyle/>
          <a:p>
            <a:r>
              <a:rPr lang="en-US" sz="1100" dirty="0">
                <a:latin typeface="Calibri" panose="020F0502020204030204" pitchFamily="34" charset="0"/>
                <a:ea typeface="Calibri" panose="020F0502020204030204" pitchFamily="34" charset="0"/>
                <a:cs typeface="Times New Roman" panose="02020603050405020304" pitchFamily="18" charset="0"/>
              </a:rPr>
              <a:t>[HQ] Outstanding performance by a dedicated NCO.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ranks in the top 25% of Human Resources NCOs I have served with in nine years. His technical expertise and knowledge of HR helped create the foundation for personnel support to the MI BN. Promote with peers.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possesses the capability to serve in HR positions of greater responsibility.</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[HQ] Stellar performance by an outstanding NCO. Top 15% of all NCOs that I have senior rated.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p is a proven leader that effectively balances technical proficiency with leadership responsibilities. He is mission-focused and shows genuine concern for each Soldiers' development. Continue to assign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to the most difficult positions. Unlimited potential, promote with peers and send to SLC immediately.</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 [HQ]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is a very capable NCO who can always be trusted to accomplish the mission on time and above standard. Of all the SSGs I have known in 21years of service, this Soldier is in the top 20 %. She has excellent organizational skills; great communicator and leader. Send to SLC at the next opportunity, and promote to SFC immediately.</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[HQ]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rates in the top 5% of MI NCOs that I have observed in 12 years. His superb tactical and technical expertise is only outweighed by his unparalleled motivation to steward the profession. He relentlessly seeks out opportunities to excel and consistently exceeds expectations</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 Rank Name </a:t>
            </a:r>
            <a:r>
              <a:rPr lang="en-US" sz="1100" dirty="0">
                <a:latin typeface="Calibri" panose="020F0502020204030204" pitchFamily="34" charset="0"/>
                <a:ea typeface="Calibri" panose="020F0502020204030204" pitchFamily="34" charset="0"/>
                <a:cs typeface="Times New Roman" panose="02020603050405020304" pitchFamily="18" charset="0"/>
              </a:rPr>
              <a:t>demonstrates unlimited potential to serve in the most difficult positions. Promote ahead of peers and send to SLC now.</a:t>
            </a:r>
          </a:p>
          <a:p>
            <a:endParaRPr lang="en-US" sz="1100" dirty="0">
              <a:latin typeface="Calibri" panose="020F0502020204030204" pitchFamily="34" charset="0"/>
              <a:ea typeface="Calibri" panose="020F0502020204030204" pitchFamily="34" charset="0"/>
              <a:cs typeface="Times New Roman" panose="02020603050405020304" pitchFamily="18" charset="0"/>
            </a:endParaRPr>
          </a:p>
          <a:p>
            <a:r>
              <a:rPr lang="en-US" sz="1100" dirty="0">
                <a:latin typeface="Calibri" panose="020F0502020204030204" pitchFamily="34" charset="0"/>
                <a:ea typeface="Calibri" panose="020F0502020204030204" pitchFamily="34" charset="0"/>
                <a:cs typeface="Times New Roman" panose="02020603050405020304" pitchFamily="18" charset="0"/>
              </a:rPr>
              <a:t>[HQ] Top 5% of all SNCOs that I have senior rated. His professionalism, maturity, and work ethic are unparalleled, and his potential for leadership in more challenging assignments is unlimited.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needs to be groomed for senior level leadership. Promote to MSG ahead of peers and send to the Master Leader Course now.</a:t>
            </a:r>
          </a:p>
          <a:p>
            <a:endParaRPr lang="en-US" sz="1100" dirty="0">
              <a:latin typeface="Calibri" panose="020F0502020204030204" pitchFamily="34" charset="0"/>
              <a:ea typeface="Calibri" panose="020F0502020204030204" pitchFamily="34" charset="0"/>
              <a:cs typeface="Times New Roman" panose="02020603050405020304" pitchFamily="18" charset="0"/>
            </a:endParaRPr>
          </a:p>
          <a:p>
            <a:r>
              <a:rPr lang="en-US" sz="1100" dirty="0">
                <a:latin typeface="Calibri" panose="020F0502020204030204" pitchFamily="34" charset="0"/>
                <a:ea typeface="Calibri" panose="020F0502020204030204" pitchFamily="34" charset="0"/>
                <a:cs typeface="Times New Roman" panose="02020603050405020304" pitchFamily="18" charset="0"/>
              </a:rPr>
              <a:t>[HQ]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is an exceptional NCO with unlimited potential.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ranks in the top 5% of Sr. MI NCOs I have served with in 12 years. He is a consummate professional with a vast depth and breadth of knowledge.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is a tenacious team player that customarily provides sound and candid counsel. I trust him implicitly to execute all missions given to him. Must promote to MSG and send to MLC immediately.</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p:cNvSpPr/>
          <p:nvPr/>
        </p:nvSpPr>
        <p:spPr>
          <a:xfrm>
            <a:off x="6096000" y="1251950"/>
            <a:ext cx="6096000" cy="5847755"/>
          </a:xfrm>
          <a:prstGeom prst="rect">
            <a:avLst/>
          </a:prstGeom>
        </p:spPr>
        <p:txBody>
          <a:bodyPr>
            <a:spAutoFit/>
          </a:bodyPr>
          <a:lstStyle/>
          <a:p>
            <a:r>
              <a:rPr lang="en-US" sz="1100" dirty="0">
                <a:latin typeface="Calibri" panose="020F0502020204030204" pitchFamily="34" charset="0"/>
                <a:ea typeface="Calibri" panose="020F0502020204030204" pitchFamily="34" charset="0"/>
                <a:cs typeface="Times New Roman" panose="02020603050405020304" pitchFamily="18" charset="0"/>
              </a:rPr>
              <a:t>[MQ] Truly outstanding performance by a stellar NCO.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is a well-trained and highly motivated NCO who seeks out challenging situations and exceeds all expectations with minimal guidance.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ranks #1 of 3 NCOs in this grade that I currently rate, and is in the top 1% of all NCOs with whom I've worked over 9 years. Promote now, send to SLC immediately.</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[HQ]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is among the top 1/3 of all 35F E-7s that I have observed in 19 years of service. He will be a valued member of any team and has significant potential to succeed at the next higher grade. Promote to MSG and groom for a challenging First Sergeant position.</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[HQ]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is among the top 1/3 of senior intelligence NCOs that I have observed in 19 years of service. He is an extremely dedicated leader and intelligence professional that will excel as a First Sergeant. Promote to MSG ahead of peers and immediately assign as a First Sergeant.</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[HQ]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is my #2 of 4 highly competitive SFCs, and among the top 20% of NCOs I have observed in 19 years of Service. He is a tenacious team player who I implicitly trust to take on any mission. Excellent potential -- promote to MSG now and send to MLC immediately. Groom for a First Sergeant position.</a:t>
            </a:r>
          </a:p>
          <a:p>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100" dirty="0">
                <a:latin typeface="Calibri" panose="020F0502020204030204" pitchFamily="34" charset="0"/>
                <a:ea typeface="Calibri" panose="020F0502020204030204" pitchFamily="34" charset="0"/>
                <a:cs typeface="Times New Roman" panose="02020603050405020304" pitchFamily="18" charset="0"/>
              </a:rPr>
              <a:t>[HQ]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a:t>
            </a:r>
            <a:r>
              <a:rPr lang="en-US" sz="1100" dirty="0">
                <a:latin typeface="Calibri" panose="020F0502020204030204" pitchFamily="34" charset="0"/>
                <a:ea typeface="Calibri" panose="020F0502020204030204" pitchFamily="34" charset="0"/>
                <a:cs typeface="Times New Roman" panose="02020603050405020304" pitchFamily="18" charset="0"/>
              </a:rPr>
              <a:t> is an exceptional NCO with unlimited potential.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ranks as the #1 35G that I have ever worked with and is in the top 10% of all NCOs with whom I've worked over 9 years. SFC Miller is a caring, thoughtful, well-trained, and highly motivated leader who seeks out challenging situations and exceeds all expectations with minimal guidance. Promote now, send to SLC immediately.</a:t>
            </a:r>
          </a:p>
          <a:p>
            <a:r>
              <a:rPr lang="en-US" sz="1100" dirty="0">
                <a:latin typeface="Calibri" panose="020F0502020204030204" pitchFamily="34" charset="0"/>
                <a:ea typeface="Calibri" panose="020F0502020204030204" pitchFamily="34" charset="0"/>
                <a:cs typeface="Times New Roman" panose="02020603050405020304" pitchFamily="18" charset="0"/>
              </a:rPr>
              <a:t> </a:t>
            </a:r>
          </a:p>
          <a:p>
            <a:r>
              <a:rPr lang="en-US" sz="1100" dirty="0">
                <a:latin typeface="Calibri" panose="020F0502020204030204" pitchFamily="34" charset="0"/>
                <a:ea typeface="Calibri" panose="020F0502020204030204" pitchFamily="34" charset="0"/>
                <a:cs typeface="Times New Roman" panose="02020603050405020304" pitchFamily="18" charset="0"/>
              </a:rPr>
              <a:t>[HQ]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latin typeface="Calibri" panose="020F0502020204030204" pitchFamily="34" charset="0"/>
                <a:ea typeface="Calibri" panose="020F0502020204030204" pitchFamily="34" charset="0"/>
                <a:cs typeface="Times New Roman" panose="02020603050405020304" pitchFamily="18" charset="0"/>
              </a:rPr>
              <a:t>is easily in the top four Senior NCOs that I have served with in 13 years. I trust him implicitly to accomplish any mission because he is a consummate professional, forward thinking, and aggressive. Select for promotion ahead of his peers, as he is already operating at the MSG level. Send to MLC immediately and assign as a First Sergeant now</a:t>
            </a:r>
          </a:p>
          <a:p>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p>
            <a:pPr lvl="0"/>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[MQ] </a:t>
            </a:r>
            <a:r>
              <a:rPr lang="en-US" sz="11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100" dirty="0">
                <a:solidFill>
                  <a:prstClr val="black"/>
                </a:solidFill>
                <a:latin typeface="Calibri" panose="020F0502020204030204" pitchFamily="34" charset="0"/>
                <a:ea typeface="Calibri" panose="020F0502020204030204" pitchFamily="34" charset="0"/>
                <a:cs typeface="Times New Roman" panose="02020603050405020304" pitchFamily="18" charset="0"/>
              </a:rPr>
              <a:t>is #1 of 4 SFCs that I currently rate and easily among the top 4 of all SFCs I have supervised in my 12 year career. He is highly motivated and well-trained NCO, who I trust implicitly to execute all tasks and solve complex problems with minimal guidance. Select for promotion ahead of his peers, as he is already operating at the MSG level. Send to MLC immediately and assign as a First Sergeant now.</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077833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77822"/>
            <a:ext cx="12191999" cy="892552"/>
          </a:xfrm>
          <a:prstGeom prst="rect">
            <a:avLst/>
          </a:prstGeom>
          <a:noFill/>
        </p:spPr>
        <p:txBody>
          <a:bodyPr wrap="square" rtlCol="0">
            <a:spAutoFit/>
          </a:bodyPr>
          <a:lstStyle/>
          <a:p>
            <a:pPr algn="ctr"/>
            <a:r>
              <a:rPr lang="en-US" sz="3200" dirty="0">
                <a:latin typeface="Calisto MT" panose="02040603050505030304" pitchFamily="18" charset="0"/>
              </a:rPr>
              <a:t>EXAMPLES </a:t>
            </a:r>
          </a:p>
          <a:p>
            <a:pPr algn="ctr"/>
            <a:r>
              <a:rPr lang="en-US" sz="2000" dirty="0">
                <a:latin typeface="Calisto MT" panose="02040603050505030304" pitchFamily="18" charset="0"/>
              </a:rPr>
              <a:t>Senior Rater Comments </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0" y="0"/>
            <a:ext cx="926429" cy="1343406"/>
          </a:xfrm>
          <a:prstGeom prst="rect">
            <a:avLst/>
          </a:prstGeom>
        </p:spPr>
      </p:pic>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t="25385" r="49892"/>
          <a:stretch/>
        </p:blipFill>
        <p:spPr>
          <a:xfrm>
            <a:off x="11125200" y="0"/>
            <a:ext cx="926429" cy="1343406"/>
          </a:xfrm>
          <a:prstGeom prst="rect">
            <a:avLst/>
          </a:prstGeom>
        </p:spPr>
      </p:pic>
      <p:sp>
        <p:nvSpPr>
          <p:cNvPr id="7" name="Rectangle 6"/>
          <p:cNvSpPr/>
          <p:nvPr/>
        </p:nvSpPr>
        <p:spPr>
          <a:xfrm>
            <a:off x="95250" y="1421228"/>
            <a:ext cx="6096000" cy="2308324"/>
          </a:xfrm>
          <a:prstGeom prst="rect">
            <a:avLst/>
          </a:prstGeom>
        </p:spPr>
        <p:txBody>
          <a:bodyPr>
            <a:spAutoFit/>
          </a:bodyPr>
          <a:lstStyle/>
          <a:p>
            <a:r>
              <a:rPr lang="en-US" sz="1200" dirty="0">
                <a:latin typeface="Calibri" panose="020F0502020204030204" pitchFamily="34" charset="0"/>
                <a:ea typeface="Calibri" panose="020F0502020204030204" pitchFamily="34" charset="0"/>
                <a:cs typeface="Times New Roman" panose="02020603050405020304" pitchFamily="18" charset="0"/>
              </a:rPr>
              <a:t>[HQ] </a:t>
            </a:r>
            <a:r>
              <a:rPr lang="en-US" sz="12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200" dirty="0">
                <a:latin typeface="Calibri" panose="020F0502020204030204" pitchFamily="34" charset="0"/>
                <a:ea typeface="Calibri" panose="020F0502020204030204" pitchFamily="34" charset="0"/>
                <a:cs typeface="Times New Roman" panose="02020603050405020304" pitchFamily="18" charset="0"/>
              </a:rPr>
              <a:t>rates #5 of 28 Intelligence E-8s I have served with in over 27 years of service. Extremely dedicated, hard working, and task oriented, </a:t>
            </a:r>
            <a:r>
              <a:rPr lang="en-US" sz="12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200" dirty="0">
                <a:latin typeface="Calibri" panose="020F0502020204030204" pitchFamily="34" charset="0"/>
                <a:ea typeface="Calibri" panose="020F0502020204030204" pitchFamily="34" charset="0"/>
                <a:cs typeface="Times New Roman" panose="02020603050405020304" pitchFamily="18" charset="0"/>
              </a:rPr>
              <a:t>has become one of my most trusted senior NCOs. Promote immediately, send to the SGMs Academy, and select for key nominative positions. </a:t>
            </a:r>
            <a:r>
              <a:rPr lang="en-US" sz="12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200" dirty="0">
                <a:latin typeface="Calibri" panose="020F0502020204030204" pitchFamily="34" charset="0"/>
                <a:ea typeface="Calibri" panose="020F0502020204030204" pitchFamily="34" charset="0"/>
                <a:cs typeface="Times New Roman" panose="02020603050405020304" pitchFamily="18" charset="0"/>
              </a:rPr>
              <a:t>'s potential for long-lasting, positive impacts in the MI Corps is definite.</a:t>
            </a:r>
          </a:p>
          <a:p>
            <a:r>
              <a:rPr lang="en-US" sz="1200" dirty="0">
                <a:latin typeface="Calibri" panose="020F0502020204030204" pitchFamily="34" charset="0"/>
                <a:ea typeface="Calibri" panose="020F0502020204030204" pitchFamily="34" charset="0"/>
                <a:cs typeface="Times New Roman" panose="02020603050405020304" pitchFamily="18" charset="0"/>
              </a:rPr>
              <a:t> </a:t>
            </a:r>
          </a:p>
          <a:p>
            <a:r>
              <a:rPr lang="en-US" sz="1200" dirty="0">
                <a:latin typeface="Calibri" panose="020F0502020204030204" pitchFamily="34" charset="0"/>
                <a:ea typeface="Calibri" panose="020F0502020204030204" pitchFamily="34" charset="0"/>
                <a:cs typeface="Times New Roman" panose="02020603050405020304" pitchFamily="18" charset="0"/>
              </a:rPr>
              <a:t> </a:t>
            </a:r>
          </a:p>
          <a:p>
            <a:r>
              <a:rPr lang="en-US" sz="1200" dirty="0">
                <a:latin typeface="Calibri" panose="020F0502020204030204" pitchFamily="34" charset="0"/>
                <a:ea typeface="Calibri" panose="020F0502020204030204" pitchFamily="34" charset="0"/>
                <a:cs typeface="Times New Roman" panose="02020603050405020304" pitchFamily="18" charset="0"/>
              </a:rPr>
              <a:t>[HQ] </a:t>
            </a:r>
            <a:r>
              <a:rPr lang="en-US" sz="12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200" dirty="0">
                <a:latin typeface="Calibri" panose="020F0502020204030204" pitchFamily="34" charset="0"/>
                <a:ea typeface="Calibri" panose="020F0502020204030204" pitchFamily="34" charset="0"/>
                <a:cs typeface="Times New Roman" panose="02020603050405020304" pitchFamily="18" charset="0"/>
              </a:rPr>
              <a:t>is the #1 of 34, and securely in the top 1%, of Staff Sergeants I have supervised in 12 years. His superb tactical and technical expertise is only outweighed by his unparalleled tenacity and motivation to steward the profession. </a:t>
            </a:r>
            <a:r>
              <a:rPr lang="en-US" sz="1200" b="1" dirty="0">
                <a:solidFill>
                  <a:prstClr val="black"/>
                </a:solidFill>
                <a:latin typeface="Calibri" panose="020F0502020204030204" pitchFamily="34" charset="0"/>
                <a:ea typeface="Calibri" panose="020F0502020204030204" pitchFamily="34" charset="0"/>
                <a:cs typeface="Times New Roman" panose="02020603050405020304" pitchFamily="18" charset="0"/>
              </a:rPr>
              <a:t>Rank Name </a:t>
            </a:r>
            <a:r>
              <a:rPr lang="en-US" sz="1200" dirty="0">
                <a:latin typeface="Calibri" panose="020F0502020204030204" pitchFamily="34" charset="0"/>
                <a:ea typeface="Calibri" panose="020F0502020204030204" pitchFamily="34" charset="0"/>
                <a:cs typeface="Times New Roman" panose="02020603050405020304" pitchFamily="18" charset="0"/>
              </a:rPr>
              <a:t>has truly unlimited potential to serve in the most difficult positions. Already excelling in a senior SFC position, promote now and send to SLC immediately.</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582117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77822"/>
            <a:ext cx="12191999" cy="584775"/>
          </a:xfrm>
          <a:prstGeom prst="rect">
            <a:avLst/>
          </a:prstGeom>
          <a:noFill/>
        </p:spPr>
        <p:txBody>
          <a:bodyPr wrap="square" rtlCol="0">
            <a:spAutoFit/>
          </a:bodyPr>
          <a:lstStyle/>
          <a:p>
            <a:pPr algn="ctr"/>
            <a:r>
              <a:rPr lang="en-US" sz="3200">
                <a:latin typeface="Calisto MT" panose="02040603050505030304" pitchFamily="18" charset="0"/>
              </a:rPr>
              <a:t>EXAMPLES </a:t>
            </a:r>
            <a:endParaRPr lang="en-US" sz="3200" dirty="0">
              <a:latin typeface="Calisto MT" panose="02040603050505030304" pitchFamily="18" charset="0"/>
            </a:endParaRPr>
          </a:p>
        </p:txBody>
      </p:sp>
      <p:sp>
        <p:nvSpPr>
          <p:cNvPr id="7" name="TextBox 6"/>
          <p:cNvSpPr txBox="1"/>
          <p:nvPr/>
        </p:nvSpPr>
        <p:spPr>
          <a:xfrm>
            <a:off x="-1" y="1353312"/>
            <a:ext cx="12315825" cy="5493812"/>
          </a:xfrm>
          <a:prstGeom prst="rect">
            <a:avLst/>
          </a:prstGeom>
          <a:noFill/>
        </p:spPr>
        <p:txBody>
          <a:bodyPr wrap="square" rtlCol="0">
            <a:spAutoFit/>
          </a:bodyPr>
          <a:lstStyle/>
          <a:p>
            <a:r>
              <a:rPr lang="en-US" dirty="0"/>
              <a:t> </a:t>
            </a:r>
            <a:r>
              <a:rPr lang="en-US" b="1" dirty="0"/>
              <a:t>OERs Duty Descriptions/Company Grade Officers</a:t>
            </a:r>
          </a:p>
          <a:p>
            <a:endParaRPr lang="en-US" sz="1050" dirty="0"/>
          </a:p>
          <a:p>
            <a:endParaRPr lang="en-US" sz="1050" dirty="0"/>
          </a:p>
          <a:p>
            <a:r>
              <a:rPr lang="en-US" sz="1200" dirty="0"/>
              <a:t>DUTIES &amp; RESPONSIBILITIES:</a:t>
            </a:r>
          </a:p>
          <a:p>
            <a:endParaRPr lang="en-US" sz="1050" dirty="0"/>
          </a:p>
          <a:p>
            <a:r>
              <a:rPr lang="en-US" sz="1050" b="1" dirty="0"/>
              <a:t>REGIONAL SUPPORT TEAM OIC (SOF): </a:t>
            </a:r>
            <a:r>
              <a:rPr lang="en-US" sz="1050" dirty="0"/>
              <a:t>Senior Analyst and OIC of a special warfare intelligence Regional Support Team (RST) in the 1st Special Forces Command Military Intelligence Battalion. Leads, trains, and employs a 12-person RST responsible for executing multi-discipline intelligence operations in support of 1st SF Command and forward deployed special operations task forces. Responsible for RST training and readiness standards necessary to rapidly deploy intelligence capability and capacity in support of a SOJTF or contingency operations worldwide. Serves as the subject matter expert for driving commanders' and decision-makers' situational understanding through collaborative special warfare intelligence methodologies. Responsible for the health, welfare, morale, and readiness of assigned Soldiers and their Families. Ensures safety and risk management are integrated into training and operations at all levels. Responsible for SHARP and Equal Opportunity Program</a:t>
            </a:r>
          </a:p>
          <a:p>
            <a:r>
              <a:rPr lang="en-US" sz="1050" dirty="0"/>
              <a:t>execution and adherence.</a:t>
            </a:r>
          </a:p>
          <a:p>
            <a:endParaRPr lang="en-US" sz="1050" dirty="0"/>
          </a:p>
          <a:p>
            <a:r>
              <a:rPr lang="en-US" sz="1050" dirty="0"/>
              <a:t> </a:t>
            </a:r>
            <a:r>
              <a:rPr lang="en-US" sz="1050" b="1" dirty="0"/>
              <a:t>MULTI-DISCIPLINE INTELLIGENCE PL (SOF): </a:t>
            </a:r>
            <a:r>
              <a:rPr lang="en-US" sz="1050" dirty="0"/>
              <a:t>Platoon Leader of five multi-discipline intelligence Regional Support Teams of the Analytical Support Company in the only Military Intelligence Battalion within United States Army Special Operations Command and Army Special Operations Forces (SOF). Responsible for the integration and execution of multi-discipline intelligence collection, exploitation, analysis, and operations in direct support of 1st Special Forces Command and its regionally aligned Special Forces Groups. Responsible for establishing a multi-discipline intelligence Regional Support Team construct that integrates with intelligence and operational elements from the tactical level up to the national/strategic level. Responsible for the readiness, development, and welfare of 48 Soldiers.</a:t>
            </a:r>
          </a:p>
          <a:p>
            <a:r>
              <a:rPr lang="en-US" sz="1050" dirty="0"/>
              <a:t> </a:t>
            </a:r>
          </a:p>
          <a:p>
            <a:r>
              <a:rPr lang="en-US" sz="1050" b="1" dirty="0"/>
              <a:t>G2 OPERATIONS OFFICER</a:t>
            </a:r>
            <a:r>
              <a:rPr lang="en-US" sz="1050" dirty="0"/>
              <a:t>: Serves as an Intelligence Operations Officer for the 101st Airborne Division (AASLT) G2. Responsible for providing multi-disciplined intelligence and training support to the 101st ABN DIV (AASLT). A representative for the G2 within the Current Operations Integration Cell (COIC) during exercises and operations. Plans and coordinates logistical requirements for all aspects of G2 training and operations. Works with the </a:t>
            </a:r>
            <a:r>
              <a:rPr lang="en-US" sz="1050" dirty="0" err="1"/>
              <a:t>ACofS</a:t>
            </a:r>
            <a:r>
              <a:rPr lang="en-US" sz="1050" dirty="0"/>
              <a:t> G2, Deputy G2, ACE Chief, and Intel Planner to ensure that all intelligence training and support requirements are met. Plans and collaborates with G2 and other Division staff sections during garrison operations and throughout the Military Decision-Making Process (MDMP).</a:t>
            </a:r>
          </a:p>
          <a:p>
            <a:endParaRPr lang="en-US" sz="1050" dirty="0"/>
          </a:p>
          <a:p>
            <a:r>
              <a:rPr lang="en-US" sz="1050" b="1" dirty="0"/>
              <a:t>G2 TARGETING OFFICER: </a:t>
            </a:r>
            <a:r>
              <a:rPr lang="en-US" sz="1050" dirty="0"/>
              <a:t>Officer-in-Charge for the 101st Airborne Division (Air Assault) G2 Targeting Section; responsible for a team of five Soldiers providing intelligence support to Division level targeting efforts; recommends and nominates targets based on current targeting methodologies, Division-level processes, and recommendations to meet operational priorities; drives deliberate and dynamic targeting by conducting basic and intermediate target development to enable lethal and nonlethal effects on the battlefield; conducts network analysis and assists in the development of collection plans to identify and prosecute targets in conjunction with the Division Fires Cell.</a:t>
            </a:r>
          </a:p>
          <a:p>
            <a:endParaRPr lang="en-US" sz="1050" dirty="0"/>
          </a:p>
          <a:p>
            <a:r>
              <a:rPr lang="en-US" sz="1050" b="1" dirty="0"/>
              <a:t>G2 FUSION WO: </a:t>
            </a:r>
            <a:r>
              <a:rPr lang="en-US" sz="1050" dirty="0"/>
              <a:t>Serves as the 101st Airborne Division (Air Assault) G2 Analysis Control Element (ACE) Fusion Officer in Charge (OIC). Coordinates collection, analysis and dissemination of intelligence products with National, Joint, Theater, and Operational level agencies in support of mission and training requirements for the 101st Commander and Staff. Provides technical expertise on intelligence operating systems, database management, and all-source analysis; routinely integrates Division signals, geospatial, and human intelligence analysis into operational and training support. Integrates support elements into the G2, and enables cohesion within the Fusion team.</a:t>
            </a:r>
          </a:p>
          <a:p>
            <a:endParaRPr lang="en-US" dirty="0"/>
          </a:p>
        </p:txBody>
      </p:sp>
      <p:pic>
        <p:nvPicPr>
          <p:cNvPr id="8" name="Picture 7" descr="A close up of a door&#10;&#10;Description automatically generated">
            <a:extLst>
              <a:ext uri="{FF2B5EF4-FFF2-40B4-BE49-F238E27FC236}">
                <a16:creationId xmlns:a16="http://schemas.microsoft.com/office/drawing/2014/main" id="{182F5D32-5675-4930-B3C9-25A62F809B7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64" r="51836" b="-1"/>
          <a:stretch/>
        </p:blipFill>
        <p:spPr>
          <a:xfrm>
            <a:off x="140371" y="10876"/>
            <a:ext cx="1179850" cy="1179862"/>
          </a:xfrm>
          <a:prstGeom prst="rect">
            <a:avLst/>
          </a:prstGeom>
        </p:spPr>
      </p:pic>
      <p:pic>
        <p:nvPicPr>
          <p:cNvPr id="16" name="Picture 15" descr="A close up of a door&#10;&#10;Description automatically generated">
            <a:extLst>
              <a:ext uri="{FF2B5EF4-FFF2-40B4-BE49-F238E27FC236}">
                <a16:creationId xmlns:a16="http://schemas.microsoft.com/office/drawing/2014/main" id="{992678D0-DCE8-4EFF-8532-FDC8F59154A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64" r="51836" b="-1"/>
          <a:stretch/>
        </p:blipFill>
        <p:spPr>
          <a:xfrm>
            <a:off x="10871779" y="72666"/>
            <a:ext cx="1179850" cy="1179862"/>
          </a:xfrm>
          <a:prstGeom prst="rect">
            <a:avLst/>
          </a:prstGeom>
        </p:spPr>
      </p:pic>
    </p:spTree>
    <p:extLst>
      <p:ext uri="{BB962C8B-B14F-4D97-AF65-F5344CB8AC3E}">
        <p14:creationId xmlns:p14="http://schemas.microsoft.com/office/powerpoint/2010/main" val="34917653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2F6967E-8D09-4421-A7B0-227FD73D536F}"/>
              </a:ext>
            </a:extLst>
          </p:cNvPr>
          <p:cNvSpPr txBox="1"/>
          <p:nvPr/>
        </p:nvSpPr>
        <p:spPr>
          <a:xfrm>
            <a:off x="0" y="77822"/>
            <a:ext cx="12191999" cy="584775"/>
          </a:xfrm>
          <a:prstGeom prst="rect">
            <a:avLst/>
          </a:prstGeom>
          <a:noFill/>
        </p:spPr>
        <p:txBody>
          <a:bodyPr wrap="square" rtlCol="0">
            <a:spAutoFit/>
          </a:bodyPr>
          <a:lstStyle/>
          <a:p>
            <a:pPr algn="ctr"/>
            <a:r>
              <a:rPr lang="en-US" sz="3200">
                <a:latin typeface="Calisto MT" panose="02040603050505030304" pitchFamily="18" charset="0"/>
              </a:rPr>
              <a:t>EXAMPLES </a:t>
            </a:r>
            <a:endParaRPr lang="en-US" sz="3200" dirty="0">
              <a:latin typeface="Calisto MT" panose="02040603050505030304" pitchFamily="18" charset="0"/>
            </a:endParaRPr>
          </a:p>
        </p:txBody>
      </p:sp>
      <p:pic>
        <p:nvPicPr>
          <p:cNvPr id="5" name="Picture 4" descr="A close up of a door&#10;&#10;Description automatically generated">
            <a:extLst>
              <a:ext uri="{FF2B5EF4-FFF2-40B4-BE49-F238E27FC236}">
                <a16:creationId xmlns:a16="http://schemas.microsoft.com/office/drawing/2014/main" id="{A1618832-5C0A-4E32-9240-B6F713463B2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64" r="51836" b="-1"/>
          <a:stretch/>
        </p:blipFill>
        <p:spPr>
          <a:xfrm>
            <a:off x="140371" y="10876"/>
            <a:ext cx="1179850" cy="1179862"/>
          </a:xfrm>
          <a:prstGeom prst="rect">
            <a:avLst/>
          </a:prstGeom>
        </p:spPr>
      </p:pic>
      <p:pic>
        <p:nvPicPr>
          <p:cNvPr id="6" name="Picture 5" descr="A close up of a door&#10;&#10;Description automatically generated">
            <a:extLst>
              <a:ext uri="{FF2B5EF4-FFF2-40B4-BE49-F238E27FC236}">
                <a16:creationId xmlns:a16="http://schemas.microsoft.com/office/drawing/2014/main" id="{BFEA0ADB-786D-4701-BD2A-351440E20C8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64" r="51836" b="-1"/>
          <a:stretch/>
        </p:blipFill>
        <p:spPr>
          <a:xfrm>
            <a:off x="10871779" y="72666"/>
            <a:ext cx="1179850" cy="1179862"/>
          </a:xfrm>
          <a:prstGeom prst="rect">
            <a:avLst/>
          </a:prstGeom>
        </p:spPr>
      </p:pic>
      <p:sp>
        <p:nvSpPr>
          <p:cNvPr id="7" name="Rectangle 6">
            <a:extLst>
              <a:ext uri="{FF2B5EF4-FFF2-40B4-BE49-F238E27FC236}">
                <a16:creationId xmlns:a16="http://schemas.microsoft.com/office/drawing/2014/main" id="{32CF18D5-A284-47AF-8D05-0C611E1D92FC}"/>
              </a:ext>
            </a:extLst>
          </p:cNvPr>
          <p:cNvSpPr/>
          <p:nvPr/>
        </p:nvSpPr>
        <p:spPr>
          <a:xfrm>
            <a:off x="140370" y="1252528"/>
            <a:ext cx="11549121" cy="5509200"/>
          </a:xfrm>
          <a:prstGeom prst="rect">
            <a:avLst/>
          </a:prstGeom>
        </p:spPr>
        <p:txBody>
          <a:bodyPr wrap="square">
            <a:spAutoFit/>
          </a:bodyPr>
          <a:lstStyle/>
          <a:p>
            <a:r>
              <a:rPr lang="en-US" sz="1600" b="1" dirty="0">
                <a:latin typeface="Calibri" panose="020F0502020204030204" pitchFamily="34" charset="0"/>
                <a:ea typeface="Times New Roman" panose="02020603050405020304" pitchFamily="18" charset="0"/>
                <a:cs typeface="Times New Roman" panose="02020603050405020304" pitchFamily="18" charset="0"/>
              </a:rPr>
              <a:t>OERs Duty Descriptions/Field Grade Officers</a:t>
            </a:r>
          </a:p>
          <a:p>
            <a:br>
              <a:rPr lang="en-US" sz="1400" dirty="0">
                <a:latin typeface="Calibri" panose="020F0502020204030204" pitchFamily="34" charset="0"/>
                <a:ea typeface="Times New Roman" panose="02020603050405020304" pitchFamily="18" charset="0"/>
                <a:cs typeface="Times New Roman" panose="02020603050405020304" pitchFamily="18" charset="0"/>
              </a:rPr>
            </a:br>
            <a:r>
              <a:rPr lang="en-US" sz="1400" b="1" dirty="0">
                <a:latin typeface="Calibri" panose="020F0502020204030204" pitchFamily="34" charset="0"/>
                <a:ea typeface="Times New Roman" panose="02020603050405020304" pitchFamily="18" charset="0"/>
                <a:cs typeface="Times New Roman" panose="02020603050405020304" pitchFamily="18" charset="0"/>
              </a:rPr>
              <a:t>REGIONAL SUPPORT TEAM OIC (350F / SOF): </a:t>
            </a:r>
            <a:r>
              <a:rPr lang="en-US" sz="1400" dirty="0">
                <a:latin typeface="Calibri" panose="020F0502020204030204" pitchFamily="34" charset="0"/>
                <a:ea typeface="Times New Roman" panose="02020603050405020304" pitchFamily="18" charset="0"/>
                <a:cs typeface="Times New Roman" panose="02020603050405020304" pitchFamily="18" charset="0"/>
              </a:rPr>
              <a:t>Senior Analyst and OIC of a special warfare intelligence Regional Support Team (RST) in the 1st Special Forces Command Military Intelligence Battalion. Leads, trains, and employs a 12-person RST responsible for executing multi-discipline intelligence operations in support of 1st SF Command and forward deployed special operations task forces. Responsible for RST training and readiness standards necessary to rapidly deploy intelligence capability and capacity in support of a SOJTF or contingency operations worldwide. Serves as the subject matter expert for driving commanders' and decision-makers' situational understanding through collaborative special warfare intelligence methodologies. Responsible for the health, welfare, morale, and readiness of assigned Soldiers and their Families. Ensures safety and risk management are integrated into training and operations at all levels. Responsible for SHARP and Equal Opportunity Program execution and adherence.</a:t>
            </a:r>
            <a:br>
              <a:rPr lang="en-US" sz="1400" dirty="0">
                <a:latin typeface="Calibri" panose="020F0502020204030204" pitchFamily="34" charset="0"/>
                <a:ea typeface="Times New Roman" panose="02020603050405020304" pitchFamily="18" charset="0"/>
                <a:cs typeface="Times New Roman" panose="02020603050405020304" pitchFamily="18" charset="0"/>
              </a:rPr>
            </a:br>
            <a:br>
              <a:rPr lang="en-US" sz="1400" dirty="0">
                <a:latin typeface="Calibri" panose="020F0502020204030204" pitchFamily="34" charset="0"/>
                <a:ea typeface="Times New Roman" panose="02020603050405020304" pitchFamily="18" charset="0"/>
                <a:cs typeface="Times New Roman" panose="02020603050405020304" pitchFamily="18" charset="0"/>
              </a:rPr>
            </a:br>
            <a:r>
              <a:rPr lang="en-US" sz="1400" b="1" dirty="0">
                <a:latin typeface="Calibri" panose="020F0502020204030204" pitchFamily="34" charset="0"/>
                <a:ea typeface="Times New Roman" panose="02020603050405020304" pitchFamily="18" charset="0"/>
                <a:cs typeface="Times New Roman" panose="02020603050405020304" pitchFamily="18" charset="0"/>
              </a:rPr>
              <a:t>G2X HOC CHIEF (351M</a:t>
            </a:r>
            <a:r>
              <a:rPr lang="en-US" sz="1400" dirty="0">
                <a:latin typeface="Calibri" panose="020F0502020204030204" pitchFamily="34" charset="0"/>
                <a:ea typeface="Times New Roman" panose="02020603050405020304" pitchFamily="18" charset="0"/>
                <a:cs typeface="Times New Roman" panose="02020603050405020304" pitchFamily="18" charset="0"/>
              </a:rPr>
              <a:t>): Serves as the G2X HOC Chief and Senior Advisor to the </a:t>
            </a:r>
            <a:r>
              <a:rPr lang="en-US" sz="1400" dirty="0" err="1">
                <a:latin typeface="Calibri" panose="020F0502020204030204" pitchFamily="34" charset="0"/>
                <a:ea typeface="Times New Roman" panose="02020603050405020304" pitchFamily="18" charset="0"/>
                <a:cs typeface="Times New Roman" panose="02020603050405020304" pitchFamily="18" charset="0"/>
              </a:rPr>
              <a:t>ACofS</a:t>
            </a:r>
            <a:r>
              <a:rPr lang="en-US" sz="1400" dirty="0">
                <a:latin typeface="Calibri" panose="020F0502020204030204" pitchFamily="34" charset="0"/>
                <a:ea typeface="Times New Roman" panose="02020603050405020304" pitchFamily="18" charset="0"/>
                <a:cs typeface="Times New Roman" panose="02020603050405020304" pitchFamily="18" charset="0"/>
              </a:rPr>
              <a:t> G2, 101st ABN DIV (AASLT) on all HUMINT and CI related operations. Prepare to deploy in support of world-wide contingency missions within assigned areas of Division, Corps, Joint Task force (JTF) or Multi-National Force area of operations (AO). Provide operational guidance to HUMINT Collection Teams (HCTs) and Counterintelligence Teams (CIT) regarding force protection, Military Source Operations (MSO), Interrogation Operations, CI operations, operational deconfliction, and document and media exploitation; conduct risk assessment and mitigation for all operations and training events; plan and supervise all HUMINT related training for assigned personnel to ensure all team members are prepared to execute worldwide combat operations.</a:t>
            </a:r>
            <a:br>
              <a:rPr lang="en-US" sz="1400" dirty="0">
                <a:latin typeface="Calibri" panose="020F0502020204030204" pitchFamily="34" charset="0"/>
                <a:ea typeface="Times New Roman" panose="02020603050405020304" pitchFamily="18" charset="0"/>
                <a:cs typeface="Times New Roman" panose="02020603050405020304" pitchFamily="18" charset="0"/>
              </a:rPr>
            </a:br>
            <a:br>
              <a:rPr lang="en-US" sz="1400" dirty="0">
                <a:latin typeface="Calibri" panose="020F0502020204030204" pitchFamily="34" charset="0"/>
                <a:ea typeface="Times New Roman" panose="02020603050405020304" pitchFamily="18" charset="0"/>
                <a:cs typeface="Times New Roman" panose="02020603050405020304" pitchFamily="18" charset="0"/>
              </a:rPr>
            </a:br>
            <a:r>
              <a:rPr lang="en-US" sz="1400" b="1" dirty="0">
                <a:latin typeface="Calibri" panose="020F0502020204030204" pitchFamily="34" charset="0"/>
                <a:ea typeface="Times New Roman" panose="02020603050405020304" pitchFamily="18" charset="0"/>
                <a:cs typeface="Times New Roman" panose="02020603050405020304" pitchFamily="18" charset="0"/>
              </a:rPr>
              <a:t>GEOSPATIAL ENGINEER TECH (125D): </a:t>
            </a:r>
            <a:r>
              <a:rPr lang="en-US" sz="1400" dirty="0">
                <a:latin typeface="Calibri" panose="020F0502020204030204" pitchFamily="34" charset="0"/>
                <a:ea typeface="Times New Roman" panose="02020603050405020304" pitchFamily="18" charset="0"/>
                <a:cs typeface="Times New Roman" panose="02020603050405020304" pitchFamily="18" charset="0"/>
              </a:rPr>
              <a:t>Geospatial Engineering Intelligence OIC for the 101st Airborne Division (Air Assault) CJ2 for the Combined Joint Operations Area-Afghanistan (CJOA-A) in support of Operation FREEDOMS SENTINEL and the Division G2 Analysis and Control Element (ACE); responsible for acquisition, interpretation, and analysis of geospatial data for the common operational picture on Army Battle Command Systems within the Division and throughout the CJOA-A. Manages the production of maps, imagery, tactical decision aids, time sensitive graphics in direct support of Mission Command and Intelligence Preparation of the Battlefield for combat operations in support of Coalition efforts. Validates Geospatial Information accuracy and directs database development and maintenance for distribution and sharing in support of coalition efforts.   Manages Geospatial-Intelligence (GEOINT) collective training for all Geospatial Engineers and Geospatial Imagery Analysts in the Division. Coaches, mentors and trains GEOINT Soldiers, coordinates resources for subordinate geospatial teams.</a:t>
            </a:r>
            <a:endParaRPr lang="en-US" sz="2400" dirty="0"/>
          </a:p>
        </p:txBody>
      </p:sp>
    </p:spTree>
    <p:extLst>
      <p:ext uri="{BB962C8B-B14F-4D97-AF65-F5344CB8AC3E}">
        <p14:creationId xmlns:p14="http://schemas.microsoft.com/office/powerpoint/2010/main" val="20415958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3825" y="77821"/>
            <a:ext cx="12005783" cy="1077218"/>
          </a:xfrm>
          <a:prstGeom prst="rect">
            <a:avLst/>
          </a:prstGeom>
          <a:noFill/>
        </p:spPr>
        <p:txBody>
          <a:bodyPr wrap="square" rtlCol="0">
            <a:spAutoFit/>
          </a:bodyPr>
          <a:lstStyle/>
          <a:p>
            <a:pPr algn="ctr"/>
            <a:r>
              <a:rPr lang="en-US" sz="3200" dirty="0">
                <a:latin typeface="Calisto MT" panose="02040603050505030304" pitchFamily="18" charset="0"/>
              </a:rPr>
              <a:t>EXAMPLES</a:t>
            </a:r>
          </a:p>
          <a:p>
            <a:pPr algn="ctr"/>
            <a:r>
              <a:rPr lang="en-US" sz="3200" dirty="0">
                <a:latin typeface="Calisto MT" panose="02040603050505030304" pitchFamily="18" charset="0"/>
              </a:rPr>
              <a:t> RATER COMMENTS</a:t>
            </a:r>
          </a:p>
        </p:txBody>
      </p:sp>
      <p:sp>
        <p:nvSpPr>
          <p:cNvPr id="7" name="Rectangle 6"/>
          <p:cNvSpPr/>
          <p:nvPr/>
        </p:nvSpPr>
        <p:spPr>
          <a:xfrm>
            <a:off x="62392" y="840968"/>
            <a:ext cx="3737311" cy="6017032"/>
          </a:xfrm>
          <a:prstGeom prst="rect">
            <a:avLst/>
          </a:prstGeom>
        </p:spPr>
        <p:txBody>
          <a:bodyPr wrap="square">
            <a:spAutoFit/>
          </a:bodyPr>
          <a:lstStyle/>
          <a:p>
            <a:r>
              <a:rPr lang="en-US" sz="1100" dirty="0"/>
              <a:t>RATER COMMENTS:</a:t>
            </a:r>
          </a:p>
          <a:p>
            <a:endParaRPr lang="en-US" sz="1100" dirty="0"/>
          </a:p>
          <a:p>
            <a:r>
              <a:rPr lang="en-US" sz="1100" dirty="0"/>
              <a:t>o   </a:t>
            </a:r>
            <a:r>
              <a:rPr lang="en-US" sz="1100" b="1" dirty="0"/>
              <a:t>Rank Name </a:t>
            </a:r>
            <a:r>
              <a:rPr lang="en-US" sz="1100" dirty="0"/>
              <a:t>performed flawlessly. </a:t>
            </a:r>
            <a:r>
              <a:rPr lang="en-US" sz="1100" b="1" dirty="0"/>
              <a:t>Name </a:t>
            </a:r>
            <a:r>
              <a:rPr lang="en-US" sz="1100" dirty="0"/>
              <a:t>is among the top 1% of Officers with whom I have served. She distinguished herself quickly from peers as an intrepid leader with uncanny foresight and ability to accomplish nebulous missions with minimal guidance.</a:t>
            </a:r>
          </a:p>
          <a:p>
            <a:endParaRPr lang="en-US" sz="1100" dirty="0"/>
          </a:p>
          <a:p>
            <a:r>
              <a:rPr lang="en-US" sz="1100" dirty="0"/>
              <a:t>o   </a:t>
            </a:r>
            <a:r>
              <a:rPr lang="en-US" sz="1100" b="1" dirty="0"/>
              <a:t>Rank Name </a:t>
            </a:r>
            <a:r>
              <a:rPr lang="en-US" sz="1100" dirty="0"/>
              <a:t>performed impeccably. </a:t>
            </a:r>
            <a:r>
              <a:rPr lang="en-US" sz="1100" b="1" dirty="0"/>
              <a:t>Rank Name</a:t>
            </a:r>
            <a:r>
              <a:rPr lang="en-US" sz="1100" dirty="0"/>
              <a:t> is among the top % of NCOs with whom I have served in 12 years. A resolute leader who can be trusted implicitly to solve the most complex problems with little to no guidance.</a:t>
            </a:r>
          </a:p>
          <a:p>
            <a:endParaRPr lang="en-US" sz="1100" dirty="0"/>
          </a:p>
          <a:p>
            <a:r>
              <a:rPr lang="en-US" sz="1100" dirty="0"/>
              <a:t>o </a:t>
            </a:r>
            <a:r>
              <a:rPr lang="en-US" sz="1100" b="1" dirty="0"/>
              <a:t>Rank Name </a:t>
            </a:r>
            <a:r>
              <a:rPr lang="en-US" sz="1100" dirty="0"/>
              <a:t>performed excellently and is among the top 5% of Officers with whom I have served with in 12 years. </a:t>
            </a:r>
            <a:r>
              <a:rPr lang="en-US" sz="1100" b="1" dirty="0"/>
              <a:t>Rank Name </a:t>
            </a:r>
            <a:r>
              <a:rPr lang="en-US" sz="1100" dirty="0"/>
              <a:t>, with minimal guidance, consistently performed well above all expectations and ensured the success of the 101st ABN DIV G2 for the duration of his tenure. </a:t>
            </a:r>
            <a:r>
              <a:rPr lang="en-US" sz="1100" b="1" dirty="0"/>
              <a:t>Rank Name </a:t>
            </a:r>
            <a:r>
              <a:rPr lang="en-US" sz="1100" dirty="0"/>
              <a:t>continued the tradition of outstanding G2 Targeting Officers and his contributions to the G2 will be felt for years to come.</a:t>
            </a:r>
          </a:p>
          <a:p>
            <a:endParaRPr lang="en-US" sz="1100" dirty="0"/>
          </a:p>
          <a:p>
            <a:r>
              <a:rPr lang="en-US" sz="1100" dirty="0"/>
              <a:t>o </a:t>
            </a:r>
            <a:r>
              <a:rPr lang="en-US" sz="1100" b="1" dirty="0"/>
              <a:t>Rank Name </a:t>
            </a:r>
            <a:r>
              <a:rPr lang="en-US" sz="1100" dirty="0"/>
              <a:t>rates as my #1 of 3 Warrant Officers and in the top 1% of MI Warrant Officers with whom I've served in 9 years. </a:t>
            </a:r>
            <a:r>
              <a:rPr lang="en-US" sz="1100" b="1" dirty="0"/>
              <a:t>Rank Name </a:t>
            </a:r>
            <a:r>
              <a:rPr lang="en-US" sz="1100" dirty="0"/>
              <a:t>truly redefined CONUS Base support to forward deployed Special Operations Forces. His team's success was consistently highlighted by the USASOC Commanding General in high visibility updates to USSOCOM and Headquarters, Department of the Army. Unparalleled work by an outstanding Warrant Officer.</a:t>
            </a:r>
          </a:p>
          <a:p>
            <a:endParaRPr lang="en-US" sz="1100" dirty="0"/>
          </a:p>
          <a:p>
            <a:r>
              <a:rPr lang="en-US" sz="1100" dirty="0"/>
              <a:t> o   Excellent performance by </a:t>
            </a:r>
            <a:r>
              <a:rPr lang="en-US" sz="1100" b="1" dirty="0"/>
              <a:t>Rank Name </a:t>
            </a:r>
            <a:r>
              <a:rPr lang="en-US" sz="1100" dirty="0"/>
              <a:t>as the Fusion Officer in Charge (OIC). </a:t>
            </a:r>
            <a:r>
              <a:rPr lang="en-US" sz="1100" b="1" dirty="0"/>
              <a:t>Rank Name </a:t>
            </a:r>
            <a:r>
              <a:rPr lang="en-US" sz="1100" dirty="0"/>
              <a:t>'s technical and tactical expertise is well beyond that of his peers. As a result, his direct leadership and analysis allowed the Division G2 ACE to be highly successful during multiple division level exercises.</a:t>
            </a:r>
          </a:p>
        </p:txBody>
      </p:sp>
      <p:sp>
        <p:nvSpPr>
          <p:cNvPr id="8" name="Rectangle 7"/>
          <p:cNvSpPr/>
          <p:nvPr/>
        </p:nvSpPr>
        <p:spPr>
          <a:xfrm>
            <a:off x="4231721" y="1179522"/>
            <a:ext cx="3937336" cy="5678478"/>
          </a:xfrm>
          <a:prstGeom prst="rect">
            <a:avLst/>
          </a:prstGeom>
        </p:spPr>
        <p:txBody>
          <a:bodyPr wrap="square">
            <a:spAutoFit/>
          </a:bodyPr>
          <a:lstStyle/>
          <a:p>
            <a:r>
              <a:rPr lang="en-US" sz="1100" dirty="0"/>
              <a:t>o   </a:t>
            </a:r>
            <a:r>
              <a:rPr lang="en-US" sz="1100" b="1" dirty="0"/>
              <a:t>Rank Name </a:t>
            </a:r>
            <a:r>
              <a:rPr lang="en-US" sz="1100" dirty="0"/>
              <a:t>performed excellently and is among the top 10% of MI Warrant Officers that I have supervised in my 12 years. </a:t>
            </a:r>
            <a:r>
              <a:rPr lang="en-US" sz="1100" b="1" dirty="0"/>
              <a:t>Rank Name </a:t>
            </a:r>
            <a:r>
              <a:rPr lang="en-US" sz="1100" dirty="0"/>
              <a:t>, as a new Warrant Officer, flawlessly filled the role of a senior CW3 and maintained a high level of training and proficiency within the Division SIGINT section. </a:t>
            </a:r>
            <a:r>
              <a:rPr lang="en-US" sz="1100" b="1" dirty="0"/>
              <a:t>Rank Name </a:t>
            </a:r>
            <a:r>
              <a:rPr lang="en-US" sz="1100" dirty="0"/>
              <a:t>efforts greatly increased the lethality of the G2 during three separate </a:t>
            </a:r>
            <a:r>
              <a:rPr lang="en-US" sz="1100" dirty="0" err="1"/>
              <a:t>Divison</a:t>
            </a:r>
            <a:r>
              <a:rPr lang="en-US" sz="1100" dirty="0"/>
              <a:t>-level exercises. Truly outstanding work by a talented Warrant Officer.</a:t>
            </a:r>
          </a:p>
          <a:p>
            <a:endParaRPr lang="en-US" sz="1100" dirty="0"/>
          </a:p>
          <a:p>
            <a:pPr algn="ctr"/>
            <a:r>
              <a:rPr lang="en-US" sz="1100" dirty="0"/>
              <a:t> </a:t>
            </a:r>
            <a:r>
              <a:rPr lang="en-US" sz="1100" b="1" dirty="0"/>
              <a:t>CHARACTER:</a:t>
            </a:r>
          </a:p>
          <a:p>
            <a:endParaRPr lang="en-US" sz="1100" dirty="0"/>
          </a:p>
          <a:p>
            <a:r>
              <a:rPr lang="en-US" sz="1100" dirty="0"/>
              <a:t>o </a:t>
            </a:r>
            <a:r>
              <a:rPr lang="en-US" sz="1100" b="1" dirty="0"/>
              <a:t>Rank Name </a:t>
            </a:r>
            <a:r>
              <a:rPr lang="en-US" sz="1100" dirty="0"/>
              <a:t>embodied the Army Values in all that she did, inspiring Soldiers and team members to emulate her professionalism. </a:t>
            </a:r>
            <a:r>
              <a:rPr lang="en-US" sz="1100" b="1" dirty="0"/>
              <a:t>Rank Name</a:t>
            </a:r>
            <a:r>
              <a:rPr lang="en-US" sz="1100" dirty="0"/>
              <a:t> fostered a positive environment that incorporated approachable leaders, respect, and empathy for all. She did not tolerate deviations from the Army's SHARP, EO, or EEO policies. She also single-handedly created the 1st SF Command MI BN SHARP program.</a:t>
            </a:r>
          </a:p>
          <a:p>
            <a:endParaRPr lang="en-US" sz="1100" dirty="0"/>
          </a:p>
          <a:p>
            <a:r>
              <a:rPr lang="en-US" sz="1100" dirty="0"/>
              <a:t>o </a:t>
            </a:r>
            <a:r>
              <a:rPr lang="en-US" sz="1100" b="1" dirty="0"/>
              <a:t>Rank Name </a:t>
            </a:r>
            <a:r>
              <a:rPr lang="en-US" sz="1100" dirty="0"/>
              <a:t>was a consummate professional who epitomized the Army Values every day. </a:t>
            </a:r>
            <a:r>
              <a:rPr lang="en-US" sz="1100" b="1" dirty="0"/>
              <a:t>Rank Name </a:t>
            </a:r>
            <a:r>
              <a:rPr lang="en-US" sz="1100" dirty="0"/>
              <a:t>as an empathetic leader, tending to all Soldier needs with the utmost care, while also displaying a warrior ethos and encouraging resilience. He fully supported the Army's SHARP, EO, and EEO policies by projecting an attitude for all to emulate.</a:t>
            </a:r>
          </a:p>
          <a:p>
            <a:endParaRPr lang="en-US" sz="1100" dirty="0"/>
          </a:p>
          <a:p>
            <a:r>
              <a:rPr lang="en-US" sz="1100" dirty="0"/>
              <a:t>o   </a:t>
            </a:r>
            <a:r>
              <a:rPr lang="en-US" sz="1100" b="1" dirty="0"/>
              <a:t>Rank Name </a:t>
            </a:r>
            <a:r>
              <a:rPr lang="en-US" sz="1100" dirty="0"/>
              <a:t>epitomized the Army values in all his interactions with Soldiers, peers, and superiors alike. His positive attitude and commitment to fostering a collaborative environment was infectious throughout the formation and set the example for others to emulate. </a:t>
            </a:r>
            <a:r>
              <a:rPr lang="en-US" sz="1100" b="1" dirty="0"/>
              <a:t>Rank Name</a:t>
            </a:r>
            <a:r>
              <a:rPr lang="en-US" sz="1100" dirty="0"/>
              <a:t> wholeheartedly embraced the Army's Equal Opportunity and SHARP Programs.</a:t>
            </a:r>
          </a:p>
          <a:p>
            <a:endParaRPr lang="en-US" sz="1100" dirty="0"/>
          </a:p>
        </p:txBody>
      </p:sp>
      <p:sp>
        <p:nvSpPr>
          <p:cNvPr id="9" name="Rectangle 8"/>
          <p:cNvSpPr/>
          <p:nvPr/>
        </p:nvSpPr>
        <p:spPr>
          <a:xfrm>
            <a:off x="8595833" y="1179522"/>
            <a:ext cx="3533775" cy="3477875"/>
          </a:xfrm>
          <a:prstGeom prst="rect">
            <a:avLst/>
          </a:prstGeom>
        </p:spPr>
        <p:txBody>
          <a:bodyPr wrap="square">
            <a:spAutoFit/>
          </a:bodyPr>
          <a:lstStyle/>
          <a:p>
            <a:r>
              <a:rPr lang="en-US" sz="1100" dirty="0"/>
              <a:t>o </a:t>
            </a:r>
            <a:r>
              <a:rPr lang="en-US" sz="1100" b="1" dirty="0"/>
              <a:t>Rank Name </a:t>
            </a:r>
            <a:r>
              <a:rPr lang="en-US" sz="1100" dirty="0"/>
              <a:t>embodied the Army Values. His moral and ethical standards were beyond reproach and he fostered an environment of high professional standards throughout the MI BN. </a:t>
            </a:r>
            <a:r>
              <a:rPr lang="en-US" sz="1100" b="1" dirty="0"/>
              <a:t>Rank Name  </a:t>
            </a:r>
            <a:r>
              <a:rPr lang="en-US" sz="1100" dirty="0"/>
              <a:t>volunteered over 200 hours for the Fort Bragg Community with the local Boy Scout Council and as a youth sports coach. Rank Name fully supported the Commander's EO, EEO, and SHARP policies.</a:t>
            </a:r>
          </a:p>
          <a:p>
            <a:endParaRPr lang="en-US" sz="1100" dirty="0"/>
          </a:p>
          <a:p>
            <a:r>
              <a:rPr lang="en-US" sz="1100" dirty="0"/>
              <a:t>o </a:t>
            </a:r>
            <a:r>
              <a:rPr lang="en-US" sz="1100" b="1" dirty="0"/>
              <a:t>Rank Name </a:t>
            </a:r>
            <a:r>
              <a:rPr lang="en-US" sz="1100" dirty="0"/>
              <a:t>is a natural leader who quickly assumes responsibility for any analytical problem set; Rob is a proactive technician that instills a learning environment for his subordinates; </a:t>
            </a:r>
            <a:r>
              <a:rPr lang="en-US" sz="1100" b="1" dirty="0"/>
              <a:t>Rank Name </a:t>
            </a:r>
            <a:r>
              <a:rPr lang="en-US" sz="1100" dirty="0"/>
              <a:t>fully supports all aspects and enforces SHARP, EO, and EEO programs and policies.</a:t>
            </a:r>
          </a:p>
          <a:p>
            <a:endParaRPr lang="en-US" sz="1100" dirty="0"/>
          </a:p>
          <a:p>
            <a:r>
              <a:rPr lang="en-US" sz="1100" dirty="0"/>
              <a:t> o </a:t>
            </a:r>
            <a:r>
              <a:rPr lang="en-US" sz="1100" b="1" dirty="0"/>
              <a:t>Rank Name </a:t>
            </a:r>
            <a:r>
              <a:rPr lang="en-US" sz="1100" dirty="0"/>
              <a:t>exemplified the Army values in all that she did, inspiring Soldiers and team members to emulate her professionalism. </a:t>
            </a:r>
            <a:r>
              <a:rPr lang="en-US" sz="1100" b="1" dirty="0"/>
              <a:t>Rank Name</a:t>
            </a:r>
            <a:r>
              <a:rPr lang="en-US" sz="1100" dirty="0"/>
              <a:t> fostered a positive environment that incorporated approachable leaders, respect, and empathy for all. She wholeheartedly supported the Army's SHARP, EO, and EEO policies.</a:t>
            </a:r>
          </a:p>
        </p:txBody>
      </p:sp>
      <p:pic>
        <p:nvPicPr>
          <p:cNvPr id="10" name="Picture 9" descr="A close up of a door&#10;&#10;Description automatically generated">
            <a:extLst>
              <a:ext uri="{FF2B5EF4-FFF2-40B4-BE49-F238E27FC236}">
                <a16:creationId xmlns:a16="http://schemas.microsoft.com/office/drawing/2014/main" id="{842F9989-C867-4907-8F66-0007291272A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64" r="51836" b="-1"/>
          <a:stretch/>
        </p:blipFill>
        <p:spPr>
          <a:xfrm>
            <a:off x="140371" y="10876"/>
            <a:ext cx="1161829" cy="1179862"/>
          </a:xfrm>
          <a:prstGeom prst="rect">
            <a:avLst/>
          </a:prstGeom>
        </p:spPr>
      </p:pic>
      <p:pic>
        <p:nvPicPr>
          <p:cNvPr id="11" name="Picture 10" descr="A close up of a door&#10;&#10;Description automatically generated">
            <a:extLst>
              <a:ext uri="{FF2B5EF4-FFF2-40B4-BE49-F238E27FC236}">
                <a16:creationId xmlns:a16="http://schemas.microsoft.com/office/drawing/2014/main" id="{C306C31C-708D-47B1-AE4B-EF184386CEB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164" r="51836" b="-1"/>
          <a:stretch/>
        </p:blipFill>
        <p:spPr>
          <a:xfrm>
            <a:off x="10871779" y="72666"/>
            <a:ext cx="1179850" cy="1179862"/>
          </a:xfrm>
          <a:prstGeom prst="rect">
            <a:avLst/>
          </a:prstGeom>
        </p:spPr>
      </p:pic>
    </p:spTree>
    <p:extLst>
      <p:ext uri="{BB962C8B-B14F-4D97-AF65-F5344CB8AC3E}">
        <p14:creationId xmlns:p14="http://schemas.microsoft.com/office/powerpoint/2010/main" val="33161569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E5B33E6-E75C-47A4-9488-557950759065}"/>
              </a:ext>
            </a:extLst>
          </p:cNvPr>
          <p:cNvSpPr txBox="1"/>
          <p:nvPr/>
        </p:nvSpPr>
        <p:spPr>
          <a:xfrm>
            <a:off x="123825" y="77821"/>
            <a:ext cx="12068175" cy="1077218"/>
          </a:xfrm>
          <a:prstGeom prst="rect">
            <a:avLst/>
          </a:prstGeom>
          <a:noFill/>
        </p:spPr>
        <p:txBody>
          <a:bodyPr wrap="square" rtlCol="0">
            <a:spAutoFit/>
          </a:bodyPr>
          <a:lstStyle/>
          <a:p>
            <a:pPr algn="ctr"/>
            <a:r>
              <a:rPr lang="en-US" sz="3200" dirty="0">
                <a:latin typeface="Calisto MT" panose="02040603050505030304" pitchFamily="18" charset="0"/>
              </a:rPr>
              <a:t>EXAMPLES</a:t>
            </a:r>
          </a:p>
          <a:p>
            <a:pPr algn="ctr"/>
            <a:r>
              <a:rPr lang="en-US" sz="3200" dirty="0">
                <a:latin typeface="Calisto MT" panose="02040603050505030304" pitchFamily="18" charset="0"/>
              </a:rPr>
              <a:t> RATER COMMENTS</a:t>
            </a:r>
          </a:p>
        </p:txBody>
      </p:sp>
      <p:pic>
        <p:nvPicPr>
          <p:cNvPr id="5" name="Picture 4" descr="A close up of a door&#10;&#10;Description automatically generated">
            <a:extLst>
              <a:ext uri="{FF2B5EF4-FFF2-40B4-BE49-F238E27FC236}">
                <a16:creationId xmlns:a16="http://schemas.microsoft.com/office/drawing/2014/main" id="{277818F4-0D1D-4A16-AF90-8190CD4EC51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64" r="51836" b="-1"/>
          <a:stretch/>
        </p:blipFill>
        <p:spPr>
          <a:xfrm>
            <a:off x="140371" y="10876"/>
            <a:ext cx="1167867" cy="1179862"/>
          </a:xfrm>
          <a:prstGeom prst="rect">
            <a:avLst/>
          </a:prstGeom>
        </p:spPr>
      </p:pic>
      <p:pic>
        <p:nvPicPr>
          <p:cNvPr id="6" name="Picture 5" descr="A close up of a door&#10;&#10;Description automatically generated">
            <a:extLst>
              <a:ext uri="{FF2B5EF4-FFF2-40B4-BE49-F238E27FC236}">
                <a16:creationId xmlns:a16="http://schemas.microsoft.com/office/drawing/2014/main" id="{D678FF1C-2267-4F9E-BCBF-05747B4C4E0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164" r="51836" b="-1"/>
          <a:stretch/>
        </p:blipFill>
        <p:spPr>
          <a:xfrm>
            <a:off x="10871779" y="72666"/>
            <a:ext cx="1179850" cy="1179862"/>
          </a:xfrm>
          <a:prstGeom prst="rect">
            <a:avLst/>
          </a:prstGeom>
        </p:spPr>
      </p:pic>
      <p:sp>
        <p:nvSpPr>
          <p:cNvPr id="7" name="Rectangle 6">
            <a:extLst>
              <a:ext uri="{FF2B5EF4-FFF2-40B4-BE49-F238E27FC236}">
                <a16:creationId xmlns:a16="http://schemas.microsoft.com/office/drawing/2014/main" id="{2D773450-3B4B-4261-AC9F-3A8348260DB0}"/>
              </a:ext>
            </a:extLst>
          </p:cNvPr>
          <p:cNvSpPr/>
          <p:nvPr/>
        </p:nvSpPr>
        <p:spPr>
          <a:xfrm>
            <a:off x="0" y="1327133"/>
            <a:ext cx="4038224" cy="5386090"/>
          </a:xfrm>
          <a:prstGeom prst="rect">
            <a:avLst/>
          </a:prstGeom>
        </p:spPr>
        <p:txBody>
          <a:bodyPr wrap="square">
            <a:spAutoFit/>
          </a:bodyPr>
          <a:lstStyle/>
          <a:p>
            <a:r>
              <a:rPr lang="en-US" sz="1400" b="1" dirty="0">
                <a:latin typeface="Calibri" panose="020F0502020204030204" pitchFamily="34" charset="0"/>
                <a:ea typeface="Times New Roman" panose="02020603050405020304" pitchFamily="18" charset="0"/>
                <a:cs typeface="Times New Roman" panose="02020603050405020304" pitchFamily="18" charset="0"/>
              </a:rPr>
              <a:t>PRESENCE:</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was a self-motivated, professional Officer that projected confidence in any environment and circumstance. She possessed an uncanny ability to motivate Soldiers and team members during difficult situations and kept them mission focused. </a:t>
            </a:r>
            <a:r>
              <a:rPr lang="en-US" sz="1100" b="1" dirty="0">
                <a:solidFill>
                  <a:prstClr val="black"/>
                </a:solidFill>
              </a:rPr>
              <a:t>Rank Name</a:t>
            </a:r>
            <a:r>
              <a:rPr lang="en-US" sz="1100" dirty="0">
                <a:latin typeface="Calibri" panose="020F0502020204030204" pitchFamily="34" charset="0"/>
                <a:ea typeface="Times New Roman" panose="02020603050405020304" pitchFamily="18" charset="0"/>
                <a:cs typeface="Times New Roman" panose="02020603050405020304" pitchFamily="18" charset="0"/>
              </a:rPr>
              <a:t> inspired Soldiers to achieve high fitness goals by consistently scoring above 300 on her APFT.</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 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is a confident and humble leader who is adaptable in a variety of different environments. As an Intelligence officer during a Brigade FTX and Warfighter Exercise, he was regularly expected to brief Brigade, Division, and Corps commanders. Throughout the Warfighter Exercise he was the primary daytime Intelligence representative within the Division Current Operations Integration Cell (COIC).</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displayed exemplary professionalism representing the G2 as he worked to build a collaborative network of partners focused on intelligence support to targeting operations. His confidence and mission focus earned him the respect and credibility he needed to effectively marshal this network in accordance with the Division Commander's operational priorities.</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exemplified resilience, successfully completing a short notice OPERATION INHERENT RESOLVE deployment in stride. He is a consummate professional and was hand-selected to represent the MI BN during General Officer briefings due to his confidence and expertise. Aaron inspired his Soldiers to attain a high level of fitness by consistently scoring above 280 on APFTs.</a:t>
            </a:r>
            <a:endParaRPr lang="en-US" sz="1100" dirty="0"/>
          </a:p>
        </p:txBody>
      </p:sp>
      <p:sp>
        <p:nvSpPr>
          <p:cNvPr id="8" name="Rectangle 7">
            <a:extLst>
              <a:ext uri="{FF2B5EF4-FFF2-40B4-BE49-F238E27FC236}">
                <a16:creationId xmlns:a16="http://schemas.microsoft.com/office/drawing/2014/main" id="{65D7D464-1F07-48FB-90A1-732241F4AAD4}"/>
              </a:ext>
            </a:extLst>
          </p:cNvPr>
          <p:cNvSpPr/>
          <p:nvPr/>
        </p:nvSpPr>
        <p:spPr>
          <a:xfrm>
            <a:off x="4038224" y="1644946"/>
            <a:ext cx="3841897" cy="2292935"/>
          </a:xfrm>
          <a:prstGeom prst="rect">
            <a:avLst/>
          </a:prstGeom>
        </p:spPr>
        <p:txBody>
          <a:bodyPr wrap="square">
            <a:spAutoFit/>
          </a:bodyPr>
          <a:lstStyle/>
          <a:p>
            <a:r>
              <a:rPr lang="en-US" sz="1100" dirty="0">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solely authored and employed a plan to use the Distributed Common Ground System-Army (DCGS-A) on the ACE floor; he expertly trained over 20 intelligence analysts from across the Division foot-print, which exponentially increased the capacity and understanding of this program of record.</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was a self-motivated, confident, and humble leader that readily displayed her adaptability in a variety of environments.</a:t>
            </a:r>
            <a:r>
              <a:rPr lang="en-US" sz="1100" b="1" dirty="0">
                <a:solidFill>
                  <a:prstClr val="black"/>
                </a:solidFill>
              </a:rPr>
              <a:t> 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was a consummate professional, regularly sought out because her confidence and mission focus earned her respect and credibility.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mentored and inspired her section to increase their overall PT average by 13 points while maintaining her own fitness excellence.</a:t>
            </a:r>
            <a:endParaRPr lang="en-US" sz="1100" dirty="0"/>
          </a:p>
        </p:txBody>
      </p:sp>
      <p:sp>
        <p:nvSpPr>
          <p:cNvPr id="10" name="Rectangle 9">
            <a:extLst>
              <a:ext uri="{FF2B5EF4-FFF2-40B4-BE49-F238E27FC236}">
                <a16:creationId xmlns:a16="http://schemas.microsoft.com/office/drawing/2014/main" id="{869F39D7-37C7-4DE5-83D3-F00D4688F8ED}"/>
              </a:ext>
            </a:extLst>
          </p:cNvPr>
          <p:cNvSpPr/>
          <p:nvPr/>
        </p:nvSpPr>
        <p:spPr>
          <a:xfrm>
            <a:off x="4038224" y="3894532"/>
            <a:ext cx="3841897" cy="2970044"/>
          </a:xfrm>
          <a:prstGeom prst="rect">
            <a:avLst/>
          </a:prstGeom>
        </p:spPr>
        <p:txBody>
          <a:bodyPr wrap="square">
            <a:spAutoFit/>
          </a:bodyPr>
          <a:lstStyle/>
          <a:p>
            <a:r>
              <a:rPr lang="en-US" sz="1100" b="1" dirty="0">
                <a:latin typeface="Calibri" panose="020F0502020204030204" pitchFamily="34" charset="0"/>
                <a:ea typeface="Times New Roman" panose="02020603050405020304" pitchFamily="18" charset="0"/>
                <a:cs typeface="Times New Roman" panose="02020603050405020304" pitchFamily="18" charset="0"/>
              </a:rPr>
              <a:t>INTELLECT:</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anticipated difficult challenges and tackled them head on. A quick learner, she routinely demonstrated a natural ability to dissect complex problems and deliver innovative solutions to the dynamic requirements associated with establishing a new MI BN for Army SOF. She also demonstrated an uncanny ability to recognize and seize upon unique opportunities that many others would overlook.</a:t>
            </a:r>
          </a:p>
          <a:p>
            <a:endParaRPr lang="en-US" sz="1100" dirty="0">
              <a:latin typeface="Calibri" panose="020F0502020204030204" pitchFamily="34" charset="0"/>
              <a:ea typeface="Times New Roman" panose="02020603050405020304" pitchFamily="18" charset="0"/>
              <a:cs typeface="Times New Roman" panose="02020603050405020304" pitchFamily="18" charset="0"/>
            </a:endParaRPr>
          </a:p>
          <a:p>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single-handedly established the G2 Targeting SOP in support of three Division exercises. Despite having no blueprint, he carefully analyzed his team's capability gaps and rapidly leveraged a larger network to set the standard for G2 Targeting and eliminate those shortfalls. </a:t>
            </a:r>
            <a:r>
              <a:rPr lang="en-US" sz="1100" b="1" dirty="0">
                <a:solidFill>
                  <a:prstClr val="black"/>
                </a:solidFill>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s success in operationalizing his section dramatically improved the Division's situational understanding and lethality.</a:t>
            </a:r>
            <a:endParaRPr lang="en-US" dirty="0"/>
          </a:p>
        </p:txBody>
      </p:sp>
      <p:sp>
        <p:nvSpPr>
          <p:cNvPr id="11" name="Rectangle 10">
            <a:extLst>
              <a:ext uri="{FF2B5EF4-FFF2-40B4-BE49-F238E27FC236}">
                <a16:creationId xmlns:a16="http://schemas.microsoft.com/office/drawing/2014/main" id="{F05CCAAB-6682-4489-8305-C4F31A8E57F6}"/>
              </a:ext>
            </a:extLst>
          </p:cNvPr>
          <p:cNvSpPr/>
          <p:nvPr/>
        </p:nvSpPr>
        <p:spPr>
          <a:xfrm>
            <a:off x="8076448" y="1644946"/>
            <a:ext cx="4038224" cy="5339923"/>
          </a:xfrm>
          <a:prstGeom prst="rect">
            <a:avLst/>
          </a:prstGeom>
        </p:spPr>
        <p:txBody>
          <a:bodyPr wrap="square">
            <a:spAutoFit/>
          </a:bodyPr>
          <a:lstStyle/>
          <a:p>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displayed a high degree of mental agility when selected to represent the 101st Airborne Division as a Military Intelligence Training Strategy (MITS) evaluator at Ft. Polk, LA. Despite minimal experience as an Intelligence professional, he studied the MITS and provided useful feedback to several Battalion Intelligence sections. </a:t>
            </a:r>
            <a:r>
              <a:rPr lang="en-US" sz="1100" b="1" dirty="0">
                <a:solidFill>
                  <a:prstClr val="black"/>
                </a:solidFill>
              </a:rPr>
              <a:t>Rank Name</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 displayed sound judgement when faced with numerous challenges in daily operations as well as exercises.</a:t>
            </a: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routinely demonstrated a natural ability to dissect complex problems and deliver innovative solutions to dynamic requirements associated with establishing a new MI BN for Army SOF. </a:t>
            </a:r>
            <a:r>
              <a:rPr lang="en-US" sz="1100" b="1" dirty="0">
                <a:solidFill>
                  <a:prstClr val="black"/>
                </a:solidFill>
              </a:rPr>
              <a:t>Rank Name</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 also capitalized on unique opportunities to prepare 1st SF Command for its first-ever operational deployment as a SOJTF, dramatically increasing the Command Team and Staff's situational understanding.</a:t>
            </a: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's expertise on intelligence architecture allowed the G2 ACE to successfully employ an effective PACE Plan during WFX 20-01; this led the G2 to continue operations despite several technical issues during the exercise. As a result, the G2 was always able to provide the CG and his executive staff with first rate analysis </a:t>
            </a: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routinely demonstrated a natural ability to </a:t>
            </a:r>
            <a:r>
              <a:rPr lang="en-US" sz="1100" b="1" dirty="0">
                <a:solidFill>
                  <a:prstClr val="black"/>
                </a:solidFill>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routinely demonstrated a natural ability to dissect complex problems and deliver solutions to dynamic requirements associated with SIGINT training and Division-level intelligence support. Ashlee also capitalized on unique opportunities to prepare her section for continued exercise support to the Division G2 and Brigade's as well as an anticipated deployment</a:t>
            </a:r>
            <a:endParaRPr lang="en-US" dirty="0"/>
          </a:p>
        </p:txBody>
      </p:sp>
    </p:spTree>
    <p:extLst>
      <p:ext uri="{BB962C8B-B14F-4D97-AF65-F5344CB8AC3E}">
        <p14:creationId xmlns:p14="http://schemas.microsoft.com/office/powerpoint/2010/main" val="33861869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6C08F2-F0D3-4781-88FC-603C19CEF164}"/>
              </a:ext>
            </a:extLst>
          </p:cNvPr>
          <p:cNvSpPr txBox="1"/>
          <p:nvPr/>
        </p:nvSpPr>
        <p:spPr>
          <a:xfrm>
            <a:off x="179357" y="16031"/>
            <a:ext cx="12005783" cy="1077218"/>
          </a:xfrm>
          <a:prstGeom prst="rect">
            <a:avLst/>
          </a:prstGeom>
          <a:noFill/>
        </p:spPr>
        <p:txBody>
          <a:bodyPr wrap="square" rtlCol="0">
            <a:spAutoFit/>
          </a:bodyPr>
          <a:lstStyle/>
          <a:p>
            <a:pPr algn="ctr"/>
            <a:r>
              <a:rPr lang="en-US" sz="3200" dirty="0">
                <a:latin typeface="Calisto MT" panose="02040603050505030304" pitchFamily="18" charset="0"/>
              </a:rPr>
              <a:t>EXAMPLES</a:t>
            </a:r>
          </a:p>
          <a:p>
            <a:pPr algn="ctr"/>
            <a:r>
              <a:rPr lang="en-US" sz="3200" dirty="0">
                <a:latin typeface="Calisto MT" panose="02040603050505030304" pitchFamily="18" charset="0"/>
              </a:rPr>
              <a:t> RATER COMMENTS</a:t>
            </a:r>
          </a:p>
        </p:txBody>
      </p:sp>
      <p:pic>
        <p:nvPicPr>
          <p:cNvPr id="3" name="Picture 2" descr="A close up of a door&#10;&#10;Description automatically generated">
            <a:extLst>
              <a:ext uri="{FF2B5EF4-FFF2-40B4-BE49-F238E27FC236}">
                <a16:creationId xmlns:a16="http://schemas.microsoft.com/office/drawing/2014/main" id="{5B727B71-CD04-41CD-994B-7DBC6B1AB2C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64" r="51836" b="-1"/>
          <a:stretch/>
        </p:blipFill>
        <p:spPr>
          <a:xfrm>
            <a:off x="140371" y="10876"/>
            <a:ext cx="1161829" cy="1179862"/>
          </a:xfrm>
          <a:prstGeom prst="rect">
            <a:avLst/>
          </a:prstGeom>
        </p:spPr>
      </p:pic>
      <p:pic>
        <p:nvPicPr>
          <p:cNvPr id="4" name="Picture 3" descr="A close up of a door&#10;&#10;Description automatically generated">
            <a:extLst>
              <a:ext uri="{FF2B5EF4-FFF2-40B4-BE49-F238E27FC236}">
                <a16:creationId xmlns:a16="http://schemas.microsoft.com/office/drawing/2014/main" id="{572C96E6-18AC-43AB-82C5-866D051DBF6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164" r="51836" b="-1"/>
          <a:stretch/>
        </p:blipFill>
        <p:spPr>
          <a:xfrm>
            <a:off x="10871779" y="72666"/>
            <a:ext cx="1179850" cy="1179862"/>
          </a:xfrm>
          <a:prstGeom prst="rect">
            <a:avLst/>
          </a:prstGeom>
        </p:spPr>
      </p:pic>
      <p:sp>
        <p:nvSpPr>
          <p:cNvPr id="5" name="Rectangle 4">
            <a:extLst>
              <a:ext uri="{FF2B5EF4-FFF2-40B4-BE49-F238E27FC236}">
                <a16:creationId xmlns:a16="http://schemas.microsoft.com/office/drawing/2014/main" id="{60FC3CC9-1F2E-41C3-B09F-52173C8A1F3F}"/>
              </a:ext>
            </a:extLst>
          </p:cNvPr>
          <p:cNvSpPr/>
          <p:nvPr/>
        </p:nvSpPr>
        <p:spPr>
          <a:xfrm>
            <a:off x="179357" y="1252528"/>
            <a:ext cx="4148094" cy="5524589"/>
          </a:xfrm>
          <a:prstGeom prst="rect">
            <a:avLst/>
          </a:prstGeom>
        </p:spPr>
        <p:txBody>
          <a:bodyPr wrap="square">
            <a:spAutoFit/>
          </a:bodyPr>
          <a:lstStyle/>
          <a:p>
            <a:r>
              <a:rPr lang="en-US" sz="1200" b="1" dirty="0">
                <a:latin typeface="Calibri" panose="020F0502020204030204" pitchFamily="34" charset="0"/>
                <a:ea typeface="Times New Roman" panose="02020603050405020304" pitchFamily="18" charset="0"/>
                <a:cs typeface="Times New Roman" panose="02020603050405020304" pitchFamily="18" charset="0"/>
              </a:rPr>
              <a:t>LEADS:</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o   Serving as the ASC Platoon Leader, acting Company Executive Officer, and then acting Company Commander,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led her troops in seeking the most difficult missions. Despite having no blueprint for her platoon/company's functions, she confidently guided her team through countless challenges and succeeded in building a cohesive and operationally focused unit, from the ground up.</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excels at every opportunity to lead soldiers. He led a team of Intelligence Analysts as a part of the higher headquarters during a Brigade FTX. In this capacity he demonstrated an ability to lead regardless of rank, as the team replicated a Division G2 cell. Throughout the exercise the team maintained 24-hour operations and daily intelligence production requirements.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's daily presence served as a positive example throughout the G2.</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ability to effectively communicate his understanding of the enemy during multiple Division exercises earned him a reputation within Division, and among the Brigade-level stakeholders, as a trusted intelligence professional. Moreover,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's leadership within the Division's Command Post made him a natural choice when the Division Commander needed a reliable targeting officer.</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superbly led his team in operationalizing the CONUS Base through focused intelligence support to SOJTF-OIR. Recognizing an intelligence enterprise shortfall, </a:t>
            </a:r>
            <a:r>
              <a:rPr lang="en-US" sz="1100" b="1" dirty="0">
                <a:solidFill>
                  <a:prstClr val="black"/>
                </a:solidFill>
              </a:rPr>
              <a:t>Rank Name</a:t>
            </a:r>
            <a:r>
              <a:rPr lang="en-US" sz="1100" dirty="0">
                <a:latin typeface="Calibri" panose="020F0502020204030204" pitchFamily="34" charset="0"/>
                <a:ea typeface="Times New Roman" panose="02020603050405020304" pitchFamily="18" charset="0"/>
                <a:cs typeface="Times New Roman" panose="02020603050405020304" pitchFamily="18" charset="0"/>
              </a:rPr>
              <a:t> responded by establishing the MI BN's much-heralded Mission Partnership Program as well as an innovative Foundry Live Environment Training Program -- both of which enabled world-class intelligence training and support.</a:t>
            </a:r>
            <a:endParaRPr lang="en-US" dirty="0"/>
          </a:p>
        </p:txBody>
      </p:sp>
      <p:sp>
        <p:nvSpPr>
          <p:cNvPr id="6" name="Rectangle 5">
            <a:extLst>
              <a:ext uri="{FF2B5EF4-FFF2-40B4-BE49-F238E27FC236}">
                <a16:creationId xmlns:a16="http://schemas.microsoft.com/office/drawing/2014/main" id="{C7A8BFE8-3098-4663-A37D-916641AF653A}"/>
              </a:ext>
            </a:extLst>
          </p:cNvPr>
          <p:cNvSpPr/>
          <p:nvPr/>
        </p:nvSpPr>
        <p:spPr>
          <a:xfrm>
            <a:off x="4386294" y="1155039"/>
            <a:ext cx="4001386" cy="5693866"/>
          </a:xfrm>
          <a:prstGeom prst="rect">
            <a:avLst/>
          </a:prstGeom>
        </p:spPr>
        <p:txBody>
          <a:bodyPr wrap="square">
            <a:spAutoFit/>
          </a:bodyPr>
          <a:lstStyle/>
          <a:p>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aptly led a team of 1x NCO and 3x Soldiers to manage and maintain the Fusion Exploitation Framework(FEF) and Threat Entity Database(TED); </a:t>
            </a:r>
            <a:r>
              <a:rPr lang="en-US" sz="1100" b="1" dirty="0">
                <a:solidFill>
                  <a:prstClr val="black"/>
                </a:solidFill>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trained the 513th PED PLT on Tactics, Techniques, and Procedures (TTPs); he personally managed over 200,000 messages and 75,000 entities during Warfighter(WFX) 20-001 which greatly enabled G2 Targeting Cell to engage 90% targets.</a:t>
            </a: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superbly led her team through a no notice deployment to augment the JTF-21 ACE during 3BCT's JRTC rotation, significantly increasing the capability of that ACE. Ashlee continued to extend her influence by excellently mentoring, and helping certify, the 2BCT SIGINT team during a Tier III MITS event. </a:t>
            </a:r>
            <a:r>
              <a:rPr lang="en-US" sz="1100" b="1" dirty="0">
                <a:solidFill>
                  <a:prstClr val="black"/>
                </a:solidFill>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is consistently sought out because of her innate ability to build cohesive teams.</a:t>
            </a:r>
          </a:p>
          <a:p>
            <a:endParaRPr lang="en-US" sz="1100" dirty="0">
              <a:latin typeface="Calibri" panose="020F0502020204030204" pitchFamily="34" charset="0"/>
              <a:ea typeface="Times New Roman" panose="02020603050405020304" pitchFamily="18" charset="0"/>
              <a:cs typeface="Times New Roman" panose="02020603050405020304" pitchFamily="18" charset="0"/>
            </a:endParaRPr>
          </a:p>
          <a:p>
            <a:r>
              <a:rPr lang="en-US" sz="1200" b="1" dirty="0">
                <a:latin typeface="Calibri" panose="020F0502020204030204" pitchFamily="34" charset="0"/>
                <a:ea typeface="Times New Roman" panose="02020603050405020304" pitchFamily="18" charset="0"/>
                <a:cs typeface="Times New Roman" panose="02020603050405020304" pitchFamily="18" charset="0"/>
              </a:rPr>
              <a:t>DEVELOPS:</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was a consummate talent manager, highly attuned to her Soldiers' strengths and weaknesses and extremely adept at employing them accordingly. Moreover, she was 100% committed to training, coaching, and mentoring her formation, frequently capitalizing on one-of-kind professional development opportunities. Stephanie truly succeeded in building the Battalion's most capable team.</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pursued self-development by devoting significant time outside of work to studying intelligence architecture, resulting in completion of the Digital Intelligence Systems Foundation Course (DISFC) and meeting all pre-requisites to attend the Digital Intelligence Systems Master Gunner (DISMG) Course. </a:t>
            </a:r>
            <a:r>
              <a:rPr lang="en-US" sz="1100" b="1" dirty="0">
                <a:solidFill>
                  <a:prstClr val="black"/>
                </a:solidFill>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's desire to master his craft displays an exceptional level of professional stewardship.</a:t>
            </a:r>
            <a:endParaRPr lang="en-US" sz="1100" dirty="0"/>
          </a:p>
        </p:txBody>
      </p:sp>
      <p:sp>
        <p:nvSpPr>
          <p:cNvPr id="7" name="Rectangle 6">
            <a:extLst>
              <a:ext uri="{FF2B5EF4-FFF2-40B4-BE49-F238E27FC236}">
                <a16:creationId xmlns:a16="http://schemas.microsoft.com/office/drawing/2014/main" id="{C67762A6-66ED-4BCA-A6D8-7308838FAB51}"/>
              </a:ext>
            </a:extLst>
          </p:cNvPr>
          <p:cNvSpPr/>
          <p:nvPr/>
        </p:nvSpPr>
        <p:spPr>
          <a:xfrm>
            <a:off x="8469084" y="1093249"/>
            <a:ext cx="3716056" cy="5616922"/>
          </a:xfrm>
          <a:prstGeom prst="rect">
            <a:avLst/>
          </a:prstGeom>
        </p:spPr>
        <p:txBody>
          <a:bodyPr wrap="square">
            <a:spAutoFit/>
          </a:bodyPr>
          <a:lstStyle/>
          <a:p>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thorough preparation resulted in an immediate impact for G3 Fires and DIV Targeting writ large. He sought every opportunity to share his knowledge and experience with other staff sections and sister units across the Army. Due to</a:t>
            </a:r>
            <a:r>
              <a:rPr lang="en-US" sz="1100" b="1" dirty="0">
                <a:solidFill>
                  <a:prstClr val="black"/>
                </a:solidFill>
              </a:rPr>
              <a:t> 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initiative and creativity, his processes and procedures were adopted as best practices by three other DIVs and incorporated into 18th ABN Corps' exercise planning.</a:t>
            </a:r>
          </a:p>
          <a:p>
            <a:endPar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endParaRPr>
          </a:p>
          <a:p>
            <a:r>
              <a:rPr lang="en-US" sz="1100" dirty="0">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was 100% committed to training and mentoring his RST, establishing the first-ever operationally focused special warfare intelligence training program. His ability to develop his team according to their strengths and weaknesses was masterful. Moreover,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's effective employment of RST and Mission Partner analysts proved critical to the success of operations against ISIL in Syria.</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 with minimal guidance, personally authored and developed the Division WFX 20-01 Enemy </a:t>
            </a:r>
            <a:r>
              <a:rPr lang="en-US" sz="1100" dirty="0" err="1">
                <a:latin typeface="Calibri" panose="020F0502020204030204" pitchFamily="34" charset="0"/>
                <a:ea typeface="Times New Roman" panose="02020603050405020304" pitchFamily="18" charset="0"/>
                <a:cs typeface="Times New Roman" panose="02020603050405020304" pitchFamily="18" charset="0"/>
              </a:rPr>
              <a:t>Smartbook</a:t>
            </a:r>
            <a:r>
              <a:rPr lang="en-US" sz="1100" dirty="0">
                <a:latin typeface="Calibri" panose="020F0502020204030204" pitchFamily="34" charset="0"/>
                <a:ea typeface="Times New Roman" panose="02020603050405020304" pitchFamily="18" charset="0"/>
                <a:cs typeface="Times New Roman" panose="02020603050405020304" pitchFamily="18" charset="0"/>
              </a:rPr>
              <a:t> that was shared with the Division Staff and subordinate Brigades; MTCP lauded the smart-book as a best practice and shared it with sister divisions across FORSCOM, for future rotations.</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was 100% committed to training and mentoring her SIGINT section, as well as three subordinate BDE's. In anticipation of a deployment, </a:t>
            </a:r>
            <a:r>
              <a:rPr lang="en-US" sz="1100" b="1" dirty="0">
                <a:solidFill>
                  <a:prstClr val="black"/>
                </a:solidFill>
              </a:rPr>
              <a:t>Rank Name</a:t>
            </a:r>
            <a:r>
              <a:rPr lang="en-US" sz="1100" dirty="0">
                <a:latin typeface="Calibri" panose="020F0502020204030204" pitchFamily="34" charset="0"/>
                <a:ea typeface="Times New Roman" panose="02020603050405020304" pitchFamily="18" charset="0"/>
                <a:cs typeface="Times New Roman" panose="02020603050405020304" pitchFamily="18" charset="0"/>
              </a:rPr>
              <a:t> aggressively pursued SIGINT live environment training to prepare her Soldiers, exponentially increasing the capability of the DIV G2. Moreover,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developed herself by graduating the Army Space Cadre Basic Course</a:t>
            </a: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endParaRPr lang="en-US" dirty="0"/>
          </a:p>
        </p:txBody>
      </p:sp>
    </p:spTree>
    <p:extLst>
      <p:ext uri="{BB962C8B-B14F-4D97-AF65-F5344CB8AC3E}">
        <p14:creationId xmlns:p14="http://schemas.microsoft.com/office/powerpoint/2010/main" val="7517661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E5403-ADEF-4254-A465-08E1B4E636C7}"/>
              </a:ext>
            </a:extLst>
          </p:cNvPr>
          <p:cNvSpPr txBox="1"/>
          <p:nvPr/>
        </p:nvSpPr>
        <p:spPr>
          <a:xfrm>
            <a:off x="123825" y="77821"/>
            <a:ext cx="12068175" cy="1077218"/>
          </a:xfrm>
          <a:prstGeom prst="rect">
            <a:avLst/>
          </a:prstGeom>
          <a:noFill/>
        </p:spPr>
        <p:txBody>
          <a:bodyPr wrap="square" rtlCol="0">
            <a:spAutoFit/>
          </a:bodyPr>
          <a:lstStyle/>
          <a:p>
            <a:pPr algn="ctr"/>
            <a:r>
              <a:rPr lang="en-US" sz="3200" dirty="0">
                <a:latin typeface="Calisto MT" panose="02040603050505030304" pitchFamily="18" charset="0"/>
              </a:rPr>
              <a:t>EXAMPLES</a:t>
            </a:r>
          </a:p>
          <a:p>
            <a:pPr algn="ctr"/>
            <a:r>
              <a:rPr lang="en-US" sz="3200" dirty="0">
                <a:latin typeface="Calisto MT" panose="02040603050505030304" pitchFamily="18" charset="0"/>
              </a:rPr>
              <a:t> RATER COMMENTS</a:t>
            </a:r>
          </a:p>
        </p:txBody>
      </p:sp>
      <p:pic>
        <p:nvPicPr>
          <p:cNvPr id="3" name="Picture 2" descr="A close up of a door&#10;&#10;Description automatically generated">
            <a:extLst>
              <a:ext uri="{FF2B5EF4-FFF2-40B4-BE49-F238E27FC236}">
                <a16:creationId xmlns:a16="http://schemas.microsoft.com/office/drawing/2014/main" id="{A15412AD-987A-49DF-B90D-EDE7F1C80ED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64" r="51836" b="-1"/>
          <a:stretch/>
        </p:blipFill>
        <p:spPr>
          <a:xfrm>
            <a:off x="140371" y="10876"/>
            <a:ext cx="1167867" cy="1179862"/>
          </a:xfrm>
          <a:prstGeom prst="rect">
            <a:avLst/>
          </a:prstGeom>
        </p:spPr>
      </p:pic>
      <p:pic>
        <p:nvPicPr>
          <p:cNvPr id="4" name="Picture 3" descr="A close up of a door&#10;&#10;Description automatically generated">
            <a:extLst>
              <a:ext uri="{FF2B5EF4-FFF2-40B4-BE49-F238E27FC236}">
                <a16:creationId xmlns:a16="http://schemas.microsoft.com/office/drawing/2014/main" id="{889A941B-5FF4-4608-B8EC-83B4C16C360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164" r="51836" b="-1"/>
          <a:stretch/>
        </p:blipFill>
        <p:spPr>
          <a:xfrm>
            <a:off x="10871779" y="72666"/>
            <a:ext cx="1179850" cy="1179862"/>
          </a:xfrm>
          <a:prstGeom prst="rect">
            <a:avLst/>
          </a:prstGeom>
        </p:spPr>
      </p:pic>
      <p:sp>
        <p:nvSpPr>
          <p:cNvPr id="5" name="Rectangle 4">
            <a:extLst>
              <a:ext uri="{FF2B5EF4-FFF2-40B4-BE49-F238E27FC236}">
                <a16:creationId xmlns:a16="http://schemas.microsoft.com/office/drawing/2014/main" id="{C4656260-4F61-4671-A863-6020722C7A72}"/>
              </a:ext>
            </a:extLst>
          </p:cNvPr>
          <p:cNvSpPr/>
          <p:nvPr/>
        </p:nvSpPr>
        <p:spPr>
          <a:xfrm>
            <a:off x="272902" y="1348616"/>
            <a:ext cx="4990214" cy="5001369"/>
          </a:xfrm>
          <a:prstGeom prst="rect">
            <a:avLst/>
          </a:prstGeom>
        </p:spPr>
        <p:txBody>
          <a:bodyPr wrap="square">
            <a:spAutoFit/>
          </a:bodyPr>
          <a:lstStyle/>
          <a:p>
            <a:r>
              <a:rPr lang="en-US" sz="1100" dirty="0">
                <a:latin typeface="Calibri" panose="020F0502020204030204" pitchFamily="34" charset="0"/>
                <a:ea typeface="Times New Roman" panose="02020603050405020304" pitchFamily="18" charset="0"/>
                <a:cs typeface="Times New Roman" panose="02020603050405020304" pitchFamily="18" charset="0"/>
              </a:rPr>
              <a:t>ACHIEVES:</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o   As Platoon Leader, Executive Officer, and acting Company Commander, she masterfully established Regional Support Teams that provided critical intelligence support to SOF led combat operations in Iraq and Syria. As BN S1, she single-handedly established an aggressive talent management program that integrated the most capable personnel and established the BN as a highly sought-after assignment.</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 o   </a:t>
            </a:r>
            <a:r>
              <a:rPr lang="en-US" sz="1100" b="1" dirty="0">
                <a:latin typeface="Calibri" panose="020F0502020204030204" pitchFamily="34" charset="0"/>
                <a:ea typeface="Times New Roman" panose="02020603050405020304" pitchFamily="18" charset="0"/>
                <a:cs typeface="Times New Roman" panose="02020603050405020304" pitchFamily="18" charset="0"/>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immediately seized the opportunity to achieve results, evidenced by the fact that he earned the Air Assault and Pathfinder badges within 3 months of arriving to the unit. He was also recognized for performance as an Operations Officer during Warfighter Exercise 19-05 by the HICOM Commander (Commanding General, First Army).</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superb intelligence support and situational understanding enabled the DIVARTY and Division CDRs to make pivotal decisions that ensured uninterrupted operations during CPX III and WFX 20-01.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's team was able to successfully develop over 200x target nominations that resulted in the dynamic targeting of nearly 250x targets while coordinating with and leveraging 8 other staff sections.</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 o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single-handedly built the Middle East RST and laid the foundation for operational level special warfare intelligence. Embedded with CJSOTF-Syria as an RST Mission Manager, he masterfully orchestrated CONUS-based RST intelligence support to a significant named-operation against ISIL. </a:t>
            </a:r>
            <a:r>
              <a:rPr lang="en-US" sz="1100" b="1" dirty="0">
                <a:solidFill>
                  <a:prstClr val="black"/>
                </a:solidFill>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's efforts dramatically increased the supported commander's intelligence capability and capacity.</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 </a:t>
            </a:r>
            <a:endParaRPr lang="en-US" dirty="0"/>
          </a:p>
        </p:txBody>
      </p:sp>
      <p:sp>
        <p:nvSpPr>
          <p:cNvPr id="6" name="Rectangle 5">
            <a:extLst>
              <a:ext uri="{FF2B5EF4-FFF2-40B4-BE49-F238E27FC236}">
                <a16:creationId xmlns:a16="http://schemas.microsoft.com/office/drawing/2014/main" id="{0F65F66C-12E3-42A3-8D20-C33BEC75DEDD}"/>
              </a:ext>
            </a:extLst>
          </p:cNvPr>
          <p:cNvSpPr/>
          <p:nvPr/>
        </p:nvSpPr>
        <p:spPr>
          <a:xfrm>
            <a:off x="6259033" y="1348616"/>
            <a:ext cx="4990214" cy="2908489"/>
          </a:xfrm>
          <a:prstGeom prst="rect">
            <a:avLst/>
          </a:prstGeom>
        </p:spPr>
        <p:txBody>
          <a:bodyPr wrap="square">
            <a:spAutoFit/>
          </a:bodyPr>
          <a:lstStyle/>
          <a:p>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o   As a result of </a:t>
            </a:r>
            <a:r>
              <a:rPr lang="en-US" sz="1100" b="1" dirty="0">
                <a:solidFill>
                  <a:prstClr val="black"/>
                </a:solidFill>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dedication to the unit, he was nominated for the prestigious </a:t>
            </a:r>
            <a:r>
              <a:rPr lang="en-US" sz="1100" dirty="0" err="1">
                <a:solidFill>
                  <a:prstClr val="black"/>
                </a:solidFill>
                <a:latin typeface="Calibri" panose="020F0502020204030204" pitchFamily="34" charset="0"/>
                <a:ea typeface="Times New Roman" panose="02020603050405020304" pitchFamily="18" charset="0"/>
                <a:cs typeface="Times New Roman" panose="02020603050405020304" pitchFamily="18" charset="0"/>
              </a:rPr>
              <a:t>USAICoE</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 CW5 Rex Williams Award for leadership; </a:t>
            </a:r>
            <a:r>
              <a:rPr lang="en-US" sz="1100" b="1" dirty="0">
                <a:solidFill>
                  <a:prstClr val="black"/>
                </a:solidFill>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's analytical capability allowed him to become an integral member of the G2 ACE. He has rightfully won the trust and respect of the G2 and the rest of the Division staff. During WFX 20-01 Rob was recognized with a coin from the FORSCOM G2 for his efforts.</a:t>
            </a: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o   </a:t>
            </a:r>
            <a:r>
              <a:rPr lang="en-US" sz="1100" b="1" dirty="0">
                <a:solidFill>
                  <a:prstClr val="black"/>
                </a:solidFill>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impeccable foresight allowed the SIGINT section gain two new servers, greatly increasing overall data storage space and improving deployment preparation capabilities. </a:t>
            </a:r>
            <a:r>
              <a:rPr lang="en-US" sz="1100" b="1" dirty="0">
                <a:solidFill>
                  <a:prstClr val="black"/>
                </a:solidFill>
              </a:rPr>
              <a:t>Rank Name</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 aptly facilitated 2,600 hours of Significant Language Training Events; coordinated training for 58 linguists and established 5 new Command Language Programs across Ft. Campbell.</a:t>
            </a: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endParaRPr lang="en-US" dirty="0"/>
          </a:p>
        </p:txBody>
      </p:sp>
    </p:spTree>
    <p:extLst>
      <p:ext uri="{BB962C8B-B14F-4D97-AF65-F5344CB8AC3E}">
        <p14:creationId xmlns:p14="http://schemas.microsoft.com/office/powerpoint/2010/main" val="32466474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249A92-835D-407F-94DC-8DF52B5EEC96}"/>
              </a:ext>
            </a:extLst>
          </p:cNvPr>
          <p:cNvSpPr txBox="1"/>
          <p:nvPr/>
        </p:nvSpPr>
        <p:spPr>
          <a:xfrm>
            <a:off x="123825" y="77821"/>
            <a:ext cx="12068175" cy="1077218"/>
          </a:xfrm>
          <a:prstGeom prst="rect">
            <a:avLst/>
          </a:prstGeom>
          <a:noFill/>
        </p:spPr>
        <p:txBody>
          <a:bodyPr wrap="square" rtlCol="0">
            <a:spAutoFit/>
          </a:bodyPr>
          <a:lstStyle/>
          <a:p>
            <a:pPr algn="ctr"/>
            <a:r>
              <a:rPr lang="en-US" sz="3200" dirty="0">
                <a:latin typeface="Calisto MT" panose="02040603050505030304" pitchFamily="18" charset="0"/>
              </a:rPr>
              <a:t>EXAMPLES</a:t>
            </a:r>
          </a:p>
          <a:p>
            <a:pPr algn="ctr"/>
            <a:r>
              <a:rPr lang="en-US" sz="3200" dirty="0">
                <a:latin typeface="Calisto MT" panose="02040603050505030304" pitchFamily="18" charset="0"/>
              </a:rPr>
              <a:t> RATER COMMENTS</a:t>
            </a:r>
          </a:p>
        </p:txBody>
      </p:sp>
      <p:pic>
        <p:nvPicPr>
          <p:cNvPr id="3" name="Picture 2" descr="A close up of a door&#10;&#10;Description automatically generated">
            <a:extLst>
              <a:ext uri="{FF2B5EF4-FFF2-40B4-BE49-F238E27FC236}">
                <a16:creationId xmlns:a16="http://schemas.microsoft.com/office/drawing/2014/main" id="{A7F5C688-63CB-4DCA-980A-B4D45DA48CA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64" r="51836" b="-1"/>
          <a:stretch/>
        </p:blipFill>
        <p:spPr>
          <a:xfrm>
            <a:off x="140371" y="10876"/>
            <a:ext cx="1167867" cy="1179862"/>
          </a:xfrm>
          <a:prstGeom prst="rect">
            <a:avLst/>
          </a:prstGeom>
        </p:spPr>
      </p:pic>
      <p:pic>
        <p:nvPicPr>
          <p:cNvPr id="4" name="Picture 3" descr="A close up of a door&#10;&#10;Description automatically generated">
            <a:extLst>
              <a:ext uri="{FF2B5EF4-FFF2-40B4-BE49-F238E27FC236}">
                <a16:creationId xmlns:a16="http://schemas.microsoft.com/office/drawing/2014/main" id="{96912177-1AEF-4E97-8F5F-9B1129DCF56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164" r="51836" b="-1"/>
          <a:stretch/>
        </p:blipFill>
        <p:spPr>
          <a:xfrm>
            <a:off x="10871779" y="72666"/>
            <a:ext cx="1179850" cy="1179862"/>
          </a:xfrm>
          <a:prstGeom prst="rect">
            <a:avLst/>
          </a:prstGeom>
        </p:spPr>
      </p:pic>
      <p:sp>
        <p:nvSpPr>
          <p:cNvPr id="5" name="Rectangle 4">
            <a:extLst>
              <a:ext uri="{FF2B5EF4-FFF2-40B4-BE49-F238E27FC236}">
                <a16:creationId xmlns:a16="http://schemas.microsoft.com/office/drawing/2014/main" id="{289AD972-3012-4601-A0E9-8CE2E73DD7F6}"/>
              </a:ext>
            </a:extLst>
          </p:cNvPr>
          <p:cNvSpPr/>
          <p:nvPr/>
        </p:nvSpPr>
        <p:spPr>
          <a:xfrm>
            <a:off x="63574" y="1155039"/>
            <a:ext cx="5660065" cy="5432256"/>
          </a:xfrm>
          <a:prstGeom prst="rect">
            <a:avLst/>
          </a:prstGeom>
        </p:spPr>
        <p:txBody>
          <a:bodyPr wrap="square">
            <a:spAutoFit/>
          </a:bodyPr>
          <a:lstStyle/>
          <a:p>
            <a:r>
              <a:rPr lang="en-US" sz="1400" b="1" dirty="0">
                <a:latin typeface="Calibri" panose="020F0502020204030204" pitchFamily="34" charset="0"/>
                <a:ea typeface="Times New Roman" panose="02020603050405020304" pitchFamily="18" charset="0"/>
                <a:cs typeface="Times New Roman" panose="02020603050405020304" pitchFamily="18" charset="0"/>
              </a:rPr>
              <a:t>CHARACTER:</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embodied the Army Values in all that he did, inspiring Soldiers and team members to emulate his professionalism. Gene fostered a positive environment that incorporated approachable leaders, respect, and empathy for all. He wholeheartedly supported and enforced the Army's SHARP, EO, and EEO policies.</a:t>
            </a: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     </a:t>
            </a: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b="1" dirty="0">
                <a:latin typeface="Calibri" panose="020F0502020204030204" pitchFamily="34" charset="0"/>
                <a:ea typeface="Times New Roman" panose="02020603050405020304" pitchFamily="18" charset="0"/>
                <a:cs typeface="Times New Roman" panose="02020603050405020304" pitchFamily="18" charset="0"/>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embodied the Army Values in all that he did, inspiring Soldiers and team members to emulate his professionalism. </a:t>
            </a:r>
            <a:r>
              <a:rPr lang="en-US" sz="11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a:t>
            </a:r>
            <a:r>
              <a:rPr lang="en-US" sz="1100" dirty="0">
                <a:latin typeface="Calibri" panose="020F0502020204030204" pitchFamily="34" charset="0"/>
                <a:ea typeface="Times New Roman" panose="02020603050405020304" pitchFamily="18" charset="0"/>
                <a:cs typeface="Times New Roman" panose="02020603050405020304" pitchFamily="18" charset="0"/>
              </a:rPr>
              <a:t> fostered a positive environment that incorporated approachable leaders, respect, and empathy for all. He wholeheartedly supported and enforced the Army's SHARP, EO, and EEO policies.</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 </a:t>
            </a:r>
            <a:r>
              <a:rPr lang="en-US" sz="1100" dirty="0">
                <a:latin typeface="Calibri" panose="020F0502020204030204" pitchFamily="34" charset="0"/>
                <a:ea typeface="Times New Roman" panose="02020603050405020304" pitchFamily="18" charset="0"/>
                <a:cs typeface="Times New Roman" panose="02020603050405020304" pitchFamily="18" charset="0"/>
              </a:rPr>
              <a:t>was a consummate professional who exemplified the Army Values every day. </a:t>
            </a:r>
            <a:r>
              <a:rPr lang="en-US" sz="11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a:t>
            </a:r>
            <a:r>
              <a:rPr lang="en-US" sz="1100" dirty="0">
                <a:latin typeface="Calibri" panose="020F0502020204030204" pitchFamily="34" charset="0"/>
                <a:ea typeface="Times New Roman" panose="02020603050405020304" pitchFamily="18" charset="0"/>
                <a:cs typeface="Times New Roman" panose="02020603050405020304" pitchFamily="18" charset="0"/>
              </a:rPr>
              <a:t> fostered a positive environment that incorporated approachable leaders, respect, and empathy for all. He fully supported and enforced the Army's SHARP, EO, and EEO policies</a:t>
            </a:r>
          </a:p>
          <a:p>
            <a:endParaRPr lang="en-US" sz="1400" b="1" dirty="0">
              <a:latin typeface="Calibri" panose="020F0502020204030204" pitchFamily="34" charset="0"/>
              <a:cs typeface="Times New Roman" panose="02020603050405020304" pitchFamily="18" charset="0"/>
            </a:endParaRPr>
          </a:p>
          <a:p>
            <a:r>
              <a:rPr lang="en-US" sz="14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PERFORMANCE COMMENTS:</a:t>
            </a: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Provide narrative comments which demonstrate performance regarding field grade competencies and attributes in the Rated Officers current duty position.(i.e. demonstrates excellent presence, confidence and resilience in expected duties and unexpected situation, adjusts to external influence on the mission or taskings and organizations, prioritizes limited resources to accomplish mission, proactive in developing others through individual coaching counseling and mentoring, active learner to master organizational level knowledge, critical thinking and visioning skills, anticipates and provides for subordinates on-the-job needs for training and development, effective communicator across echelons and outside the Army chain of command, effective at engaging others, presenting information and recommendations and persuasion, highly proficient at critical thinking, judgment and innovation, proficient in utilizing Army design method and other to solve complex problems, uses all influence techniques to empower others; proactive in gaining trust in negotiations, remains respectful, firm and fair. Fully supports SHARP and creates a positive command/workplace environment.)</a:t>
            </a:r>
            <a:endParaRPr lang="en-US" sz="1100" dirty="0"/>
          </a:p>
        </p:txBody>
      </p:sp>
      <p:sp>
        <p:nvSpPr>
          <p:cNvPr id="6" name="Rectangle 5">
            <a:extLst>
              <a:ext uri="{FF2B5EF4-FFF2-40B4-BE49-F238E27FC236}">
                <a16:creationId xmlns:a16="http://schemas.microsoft.com/office/drawing/2014/main" id="{47C8D2D6-34B3-4890-9598-CFEC2426C618}"/>
              </a:ext>
            </a:extLst>
          </p:cNvPr>
          <p:cNvSpPr/>
          <p:nvPr/>
        </p:nvSpPr>
        <p:spPr>
          <a:xfrm>
            <a:off x="61912" y="3945808"/>
            <a:ext cx="6096000" cy="1046440"/>
          </a:xfrm>
          <a:prstGeom prst="rect">
            <a:avLst/>
          </a:prstGeom>
        </p:spPr>
        <p:txBody>
          <a:bodyPr>
            <a:spAutoFit/>
          </a:bodyPr>
          <a:lstStyle/>
          <a:p>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100" dirty="0">
                <a:latin typeface="Calibri" panose="020F0502020204030204" pitchFamily="34" charset="0"/>
                <a:ea typeface="Times New Roman" panose="02020603050405020304" pitchFamily="18" charset="0"/>
                <a:cs typeface="Times New Roman" panose="02020603050405020304" pitchFamily="18" charset="0"/>
              </a:rPr>
              <a:t> </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endParaRPr lang="en-US" dirty="0"/>
          </a:p>
        </p:txBody>
      </p:sp>
      <p:sp>
        <p:nvSpPr>
          <p:cNvPr id="7" name="Rectangle 6">
            <a:extLst>
              <a:ext uri="{FF2B5EF4-FFF2-40B4-BE49-F238E27FC236}">
                <a16:creationId xmlns:a16="http://schemas.microsoft.com/office/drawing/2014/main" id="{28D993FA-EE75-49F5-89E9-17C0F6B221D1}"/>
              </a:ext>
            </a:extLst>
          </p:cNvPr>
          <p:cNvSpPr/>
          <p:nvPr/>
        </p:nvSpPr>
        <p:spPr>
          <a:xfrm>
            <a:off x="6391564" y="1319473"/>
            <a:ext cx="5660065" cy="4493538"/>
          </a:xfrm>
          <a:prstGeom prst="rect">
            <a:avLst/>
          </a:prstGeom>
        </p:spPr>
        <p:txBody>
          <a:bodyPr wrap="square">
            <a:spAutoFit/>
          </a:bodyPr>
          <a:lstStyle/>
          <a:p>
            <a:r>
              <a:rPr lang="en-US" sz="11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ability to drive intelligence support to SOJTF-OIR and 1st SF Command through unparalleled tactical and technical expertise proved invaluable to efforts to establish a new MI BN for Army SOF. </a:t>
            </a:r>
            <a:r>
              <a:rPr lang="en-US" sz="11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 complemented his expertise with a deeply-rooted, yet humble confidence that made him the most influential technical advisor to the Command's Senior Leaders and Staff. Furthermore, his ability to coach, mentor, and foster collaboration among stakeholders was innate. </a:t>
            </a:r>
            <a:r>
              <a:rPr lang="en-US" sz="11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 unquestionably mastered the art of orchestrating operational level intelligence support to Army SOF, achieving unprecedented success in an exceedingly complex operating environment.</a:t>
            </a: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r>
              <a:rPr lang="en-US" sz="11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ability to drive superior HUMINT/CI support to the 101st ABN DIV through unparalleled tactical and technical expertise proved invaluable during three separate Division exercises.</a:t>
            </a:r>
            <a:r>
              <a:rPr lang="en-US" sz="11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 Rank Name</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 complimented his expertise with a deeply-rooted, candid, yet humble confidence that made him one of the most influential technical advisors to the Division Senior Leaders and Staff. Furthermore, his ability to coach, mentor, and foster collaboration among stakeholders, at all echelons, was innate. </a:t>
            </a:r>
            <a:r>
              <a:rPr lang="en-US" sz="11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 unquestionably mastered the art of orchestrating tactical to operational level HUMINT support, achieving astounding success in a nebulous operating environment.</a:t>
            </a: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b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br>
            <a:r>
              <a:rPr lang="en-US" sz="11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unmatched ability to drive GEOINT support to the 101st ABN DIV through superior tactical and technical expertise was critical for deployment and three separate Division exercises. </a:t>
            </a:r>
            <a:r>
              <a:rPr lang="en-US" sz="11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 coupled his expertise with an uncanny vision for operations, the capacity to solve complex problems before they occur, and admirable candor and comportment for all to emulate. Furthermore, he readily displayed adaptability in exceedingly nebulous operating environments while simultaneously coaching, mentoring, and fostering collaboration among stakeholders at every echelon. </a:t>
            </a:r>
            <a:r>
              <a:rPr lang="en-US" sz="11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 </a:t>
            </a:r>
            <a:r>
              <a:rPr lang="en-US" sz="11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undeniably mastered the art of orchestrating tactical to strategic level GEOINT support.</a:t>
            </a:r>
            <a:endParaRPr lang="en-US" dirty="0"/>
          </a:p>
        </p:txBody>
      </p:sp>
    </p:spTree>
    <p:extLst>
      <p:ext uri="{BB962C8B-B14F-4D97-AF65-F5344CB8AC3E}">
        <p14:creationId xmlns:p14="http://schemas.microsoft.com/office/powerpoint/2010/main" val="35392134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E0BE0C-FC9D-41CF-B481-5A416E2EBFBC}"/>
              </a:ext>
            </a:extLst>
          </p:cNvPr>
          <p:cNvSpPr/>
          <p:nvPr/>
        </p:nvSpPr>
        <p:spPr>
          <a:xfrm>
            <a:off x="70185" y="1190738"/>
            <a:ext cx="12051629" cy="5709255"/>
          </a:xfrm>
          <a:prstGeom prst="rect">
            <a:avLst/>
          </a:prstGeom>
        </p:spPr>
        <p:txBody>
          <a:bodyPr wrap="square">
            <a:spAutoFit/>
          </a:bodyPr>
          <a:lstStyle/>
          <a:p>
            <a:r>
              <a:rPr lang="en-US" sz="1600" b="1" dirty="0">
                <a:latin typeface="Calibri" panose="020F0502020204030204" pitchFamily="34" charset="0"/>
                <a:ea typeface="Times New Roman" panose="02020603050405020304" pitchFamily="18" charset="0"/>
                <a:cs typeface="Times New Roman" panose="02020603050405020304" pitchFamily="18" charset="0"/>
              </a:rPr>
              <a:t>OVERALL COMMENTS:</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3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 </a:t>
            </a:r>
            <a:r>
              <a:rPr lang="en-US" sz="1300" dirty="0">
                <a:latin typeface="Calibri" panose="020F0502020204030204" pitchFamily="34" charset="0"/>
                <a:ea typeface="Times New Roman" panose="02020603050405020304" pitchFamily="18" charset="0"/>
                <a:cs typeface="Times New Roman" panose="02020603050405020304" pitchFamily="18" charset="0"/>
              </a:rPr>
              <a:t>rates as my #2 of 3 Warrant Officers and in the top 5% of MI Warrant Officers with whom I've served in 9 years. </a:t>
            </a:r>
            <a:r>
              <a:rPr lang="en-US" sz="13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a:t>
            </a:r>
            <a:r>
              <a:rPr lang="en-US" sz="1300" dirty="0">
                <a:latin typeface="Calibri" panose="020F0502020204030204" pitchFamily="34" charset="0"/>
                <a:ea typeface="Times New Roman" panose="02020603050405020304" pitchFamily="18" charset="0"/>
                <a:cs typeface="Times New Roman" panose="02020603050405020304" pitchFamily="18" charset="0"/>
              </a:rPr>
              <a:t> excelled in an extremely challenging environment with minimal guidance. His experience and innovation were integral to the establishment of the MI BN and to forging critical relationships within the Army SOF intelligence enterprise. Unparalleled work by an outstanding Warrant Officer.</a:t>
            </a:r>
            <a:br>
              <a:rPr lang="en-US" sz="1300" dirty="0">
                <a:latin typeface="Calibri" panose="020F0502020204030204" pitchFamily="34" charset="0"/>
                <a:ea typeface="Times New Roman" panose="02020603050405020304" pitchFamily="18" charset="0"/>
                <a:cs typeface="Times New Roman" panose="02020603050405020304" pitchFamily="18" charset="0"/>
              </a:rPr>
            </a:br>
            <a:br>
              <a:rPr lang="en-US" sz="1300" dirty="0">
                <a:latin typeface="Calibri" panose="020F0502020204030204" pitchFamily="34" charset="0"/>
                <a:ea typeface="Times New Roman" panose="02020603050405020304" pitchFamily="18" charset="0"/>
                <a:cs typeface="Times New Roman" panose="02020603050405020304" pitchFamily="18" charset="0"/>
              </a:rPr>
            </a:br>
            <a:r>
              <a:rPr lang="en-US" sz="13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 </a:t>
            </a:r>
            <a:r>
              <a:rPr lang="en-US" sz="1300" dirty="0">
                <a:latin typeface="Calibri" panose="020F0502020204030204" pitchFamily="34" charset="0"/>
                <a:ea typeface="Times New Roman" panose="02020603050405020304" pitchFamily="18" charset="0"/>
                <a:cs typeface="Times New Roman" panose="02020603050405020304" pitchFamily="18" charset="0"/>
              </a:rPr>
              <a:t>rates in the top 5% of MI Warrant Officers with whom I have served in 12 years. </a:t>
            </a:r>
            <a:r>
              <a:rPr lang="en-US" sz="13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a:t>
            </a:r>
            <a:r>
              <a:rPr lang="en-US" sz="1300" dirty="0">
                <a:latin typeface="Calibri" panose="020F0502020204030204" pitchFamily="34" charset="0"/>
                <a:ea typeface="Times New Roman" panose="02020603050405020304" pitchFamily="18" charset="0"/>
                <a:cs typeface="Times New Roman" panose="02020603050405020304" pitchFamily="18" charset="0"/>
              </a:rPr>
              <a:t> performed exceedingly well in a complex training environment with minimal guidance. His vast experience, ability to leverage a network, and superior interpersonal skills were integral to establishing a robust training program for all CI/HUMINT Soldiers on Ft. Campbell and ensuring that the G2 was successful in multiple Division-level exercises. Truly outstanding work by a talented Warrant Officer.</a:t>
            </a:r>
            <a:br>
              <a:rPr lang="en-US" sz="1300" dirty="0">
                <a:latin typeface="Calibri" panose="020F0502020204030204" pitchFamily="34" charset="0"/>
                <a:ea typeface="Times New Roman" panose="02020603050405020304" pitchFamily="18" charset="0"/>
                <a:cs typeface="Times New Roman" panose="02020603050405020304" pitchFamily="18" charset="0"/>
              </a:rPr>
            </a:br>
            <a:endParaRPr lang="en-US" sz="1300" dirty="0">
              <a:latin typeface="Calibri" panose="020F0502020204030204" pitchFamily="34" charset="0"/>
              <a:ea typeface="Times New Roman" panose="02020603050405020304" pitchFamily="18" charset="0"/>
              <a:cs typeface="Times New Roman" panose="02020603050405020304" pitchFamily="18" charset="0"/>
            </a:endParaRPr>
          </a:p>
          <a:p>
            <a:r>
              <a:rPr lang="en-US" sz="13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 </a:t>
            </a:r>
            <a:r>
              <a:rPr lang="en-US" sz="1300" dirty="0">
                <a:latin typeface="Calibri" panose="020F0502020204030204" pitchFamily="34" charset="0"/>
                <a:ea typeface="Times New Roman" panose="02020603050405020304" pitchFamily="18" charset="0"/>
                <a:cs typeface="Times New Roman" panose="02020603050405020304" pitchFamily="18" charset="0"/>
              </a:rPr>
              <a:t>rates as my #1 of 4 CW3s that I currently rate and among the top 3% of Warrant Officers with whom I've served in 12 years. </a:t>
            </a:r>
            <a:r>
              <a:rPr lang="en-US" sz="13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a:t>
            </a:r>
            <a:r>
              <a:rPr lang="en-US" sz="1300" dirty="0">
                <a:latin typeface="Calibri" panose="020F0502020204030204" pitchFamily="34" charset="0"/>
                <a:ea typeface="Times New Roman" panose="02020603050405020304" pitchFamily="18" charset="0"/>
                <a:cs typeface="Times New Roman" panose="02020603050405020304" pitchFamily="18" charset="0"/>
              </a:rPr>
              <a:t> performed exceptionally well in both deployed and training environments. His extensive experience, dogged determination for excellence, and ability to get results despite setbacks were indispensable to the Division G2 and GEOINT Soldiers on Ft. Campbell. Unparalleled work by an outstanding Warrant Officer.</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100" dirty="0">
                <a:latin typeface="Calibri" panose="020F0502020204030204" pitchFamily="34" charset="0"/>
                <a:ea typeface="Times New Roman" panose="02020603050405020304" pitchFamily="18" charset="0"/>
                <a:cs typeface="Times New Roman" panose="02020603050405020304" pitchFamily="18" charset="0"/>
              </a:rPr>
            </a:br>
            <a:r>
              <a:rPr lang="en-US" sz="1600" b="1" dirty="0">
                <a:latin typeface="Calibri" panose="020F0502020204030204" pitchFamily="34" charset="0"/>
                <a:ea typeface="Times New Roman" panose="02020603050405020304" pitchFamily="18" charset="0"/>
                <a:cs typeface="Times New Roman" panose="02020603050405020304" pitchFamily="18" charset="0"/>
              </a:rPr>
              <a:t>SENIOR RATER COMMENTS</a:t>
            </a:r>
            <a:r>
              <a:rPr lang="en-US" sz="1100" dirty="0">
                <a:latin typeface="Calibri" panose="020F0502020204030204" pitchFamily="34" charset="0"/>
                <a:ea typeface="Times New Roman" panose="02020603050405020304" pitchFamily="18" charset="0"/>
                <a:cs typeface="Times New Roman" panose="02020603050405020304" pitchFamily="18" charset="0"/>
              </a:rPr>
              <a:t>:</a:t>
            </a:r>
            <a:br>
              <a:rPr lang="en-US" sz="1100" dirty="0">
                <a:latin typeface="Calibri" panose="020F0502020204030204" pitchFamily="34" charset="0"/>
                <a:ea typeface="Times New Roman" panose="02020603050405020304" pitchFamily="18" charset="0"/>
                <a:cs typeface="Times New Roman" panose="02020603050405020304" pitchFamily="18" charset="0"/>
              </a:rPr>
            </a:br>
            <a:br>
              <a:rPr lang="en-US" sz="1400" dirty="0">
                <a:latin typeface="Calibri" panose="020F0502020204030204" pitchFamily="34" charset="0"/>
                <a:ea typeface="Times New Roman" panose="02020603050405020304" pitchFamily="18" charset="0"/>
                <a:cs typeface="Times New Roman" panose="02020603050405020304" pitchFamily="18" charset="0"/>
              </a:rPr>
            </a:br>
            <a:r>
              <a:rPr lang="en-US" sz="13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a:t>
            </a:r>
            <a:r>
              <a:rPr lang="en-US" sz="13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 </a:t>
            </a:r>
            <a:r>
              <a:rPr lang="en-US" sz="1300" dirty="0">
                <a:latin typeface="Calibri" panose="020F0502020204030204" pitchFamily="34" charset="0"/>
                <a:ea typeface="Times New Roman" panose="02020603050405020304" pitchFamily="18" charset="0"/>
                <a:cs typeface="Times New Roman" panose="02020603050405020304" pitchFamily="18" charset="0"/>
              </a:rPr>
              <a:t>is my #2 of 3 highly competitive MI Warrant Officers and easily among the top 5% of Warrant Officers I've observed in 19 years of Service.</a:t>
            </a:r>
            <a:r>
              <a:rPr lang="en-US" sz="13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 Rank Name</a:t>
            </a:r>
            <a:r>
              <a:rPr lang="en-US" sz="13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 </a:t>
            </a:r>
            <a:r>
              <a:rPr lang="en-US" sz="1300" dirty="0">
                <a:latin typeface="Calibri" panose="020F0502020204030204" pitchFamily="34" charset="0"/>
                <a:ea typeface="Times New Roman" panose="02020603050405020304" pitchFamily="18" charset="0"/>
                <a:cs typeface="Times New Roman" panose="02020603050405020304" pitchFamily="18" charset="0"/>
              </a:rPr>
              <a:t>leadership in establishing a one of-a-kind MI BN was a game-changer for Army SOF and the MI Corps. Send to WOILE and promote to CW4 ahead of peers. Unlimited potential serve among the MI Corps' most senior Warrant Officers.</a:t>
            </a:r>
            <a:br>
              <a:rPr lang="en-US" sz="1300" dirty="0">
                <a:latin typeface="Calibri" panose="020F0502020204030204" pitchFamily="34" charset="0"/>
                <a:ea typeface="Times New Roman" panose="02020603050405020304" pitchFamily="18" charset="0"/>
                <a:cs typeface="Times New Roman" panose="02020603050405020304" pitchFamily="18" charset="0"/>
              </a:rPr>
            </a:br>
            <a:br>
              <a:rPr lang="en-US" sz="1300" dirty="0">
                <a:latin typeface="Calibri" panose="020F0502020204030204" pitchFamily="34" charset="0"/>
                <a:ea typeface="Times New Roman" panose="02020603050405020304" pitchFamily="18" charset="0"/>
                <a:cs typeface="Times New Roman" panose="02020603050405020304" pitchFamily="18" charset="0"/>
              </a:rPr>
            </a:br>
            <a:r>
              <a:rPr lang="en-US" sz="13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a:t>
            </a:r>
            <a:r>
              <a:rPr lang="en-US" sz="13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 </a:t>
            </a:r>
            <a:r>
              <a:rPr lang="en-US" sz="1300" dirty="0">
                <a:latin typeface="Calibri" panose="020F0502020204030204" pitchFamily="34" charset="0"/>
                <a:ea typeface="Times New Roman" panose="02020603050405020304" pitchFamily="18" charset="0"/>
                <a:cs typeface="Times New Roman" panose="02020603050405020304" pitchFamily="18" charset="0"/>
              </a:rPr>
              <a:t>is #2 of 6 competitive CW3s I currently senior rate and easily among the top 10% of Warrant Officers I've observed in 27 years of service. </a:t>
            </a:r>
            <a:r>
              <a:rPr lang="en-US" sz="13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a:t>
            </a:r>
            <a:r>
              <a:rPr lang="en-US" sz="13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 </a:t>
            </a:r>
            <a:r>
              <a:rPr lang="en-US" sz="1300" dirty="0">
                <a:latin typeface="Calibri" panose="020F0502020204030204" pitchFamily="34" charset="0"/>
                <a:ea typeface="Times New Roman" panose="02020603050405020304" pitchFamily="18" charset="0"/>
                <a:cs typeface="Times New Roman" panose="02020603050405020304" pitchFamily="18" charset="0"/>
              </a:rPr>
              <a:t>already performs like a senior CW4 and I implicitly trust him to execute HUMINT/CI operations for the Division. Already selected for CW4, send to WOSSE immediately. Undeniable potential to serve among the MI Corps' most senior Warrants.</a:t>
            </a:r>
            <a:br>
              <a:rPr lang="en-US" sz="1300" dirty="0">
                <a:latin typeface="Calibri" panose="020F0502020204030204" pitchFamily="34" charset="0"/>
                <a:ea typeface="Times New Roman" panose="02020603050405020304" pitchFamily="18" charset="0"/>
                <a:cs typeface="Times New Roman" panose="02020603050405020304" pitchFamily="18" charset="0"/>
              </a:rPr>
            </a:br>
            <a:r>
              <a:rPr lang="en-US" sz="1300" dirty="0">
                <a:latin typeface="Calibri" panose="020F0502020204030204" pitchFamily="34" charset="0"/>
                <a:ea typeface="Times New Roman" panose="02020603050405020304" pitchFamily="18" charset="0"/>
                <a:cs typeface="Times New Roman" panose="02020603050405020304" pitchFamily="18" charset="0"/>
              </a:rPr>
              <a:t> </a:t>
            </a:r>
            <a:br>
              <a:rPr lang="en-US" sz="1300" dirty="0">
                <a:latin typeface="Calibri" panose="020F0502020204030204" pitchFamily="34" charset="0"/>
                <a:ea typeface="Times New Roman" panose="02020603050405020304" pitchFamily="18" charset="0"/>
                <a:cs typeface="Times New Roman" panose="02020603050405020304" pitchFamily="18" charset="0"/>
              </a:rPr>
            </a:br>
            <a:r>
              <a:rPr lang="en-US" sz="1300" b="1"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Rank Name</a:t>
            </a:r>
            <a:r>
              <a:rPr lang="en-US" sz="1300" dirty="0">
                <a:solidFill>
                  <a:prstClr val="black"/>
                </a:solidFill>
                <a:latin typeface="Calibri" panose="020F0502020204030204" pitchFamily="34" charset="0"/>
                <a:ea typeface="Times New Roman" panose="02020603050405020304" pitchFamily="18" charset="0"/>
                <a:cs typeface="Times New Roman" panose="02020603050405020304" pitchFamily="18" charset="0"/>
              </a:rPr>
              <a:t> </a:t>
            </a:r>
            <a:r>
              <a:rPr lang="en-US" sz="1300" dirty="0">
                <a:latin typeface="Calibri" panose="020F0502020204030204" pitchFamily="34" charset="0"/>
                <a:ea typeface="Times New Roman" panose="02020603050405020304" pitchFamily="18" charset="0"/>
                <a:cs typeface="Times New Roman" panose="02020603050405020304" pitchFamily="18" charset="0"/>
              </a:rPr>
              <a:t>is #1 of 6 CW3s I senior rate and is in the top 3% of warrant officers I have ever supervised. Shaddrick already preforms at the senior CW4 level and will be an amazing CW5. A must promote, select for WOILE on first look, and place in enterprise-level nominative positions. The Army will need this officer in the years ahead.</a:t>
            </a:r>
            <a:br>
              <a:rPr lang="en-US" sz="1300" dirty="0">
                <a:latin typeface="Calibri" panose="020F0502020204030204" pitchFamily="34" charset="0"/>
                <a:ea typeface="Times New Roman" panose="02020603050405020304" pitchFamily="18" charset="0"/>
                <a:cs typeface="Times New Roman" panose="02020603050405020304" pitchFamily="18" charset="0"/>
              </a:rPr>
            </a:br>
            <a:endParaRPr lang="en-US" sz="1300" dirty="0"/>
          </a:p>
        </p:txBody>
      </p:sp>
      <p:sp>
        <p:nvSpPr>
          <p:cNvPr id="3" name="TextBox 2">
            <a:extLst>
              <a:ext uri="{FF2B5EF4-FFF2-40B4-BE49-F238E27FC236}">
                <a16:creationId xmlns:a16="http://schemas.microsoft.com/office/drawing/2014/main" id="{99AE0A85-E0B4-4C8E-9E8A-B6D50CCBD87B}"/>
              </a:ext>
            </a:extLst>
          </p:cNvPr>
          <p:cNvSpPr txBox="1"/>
          <p:nvPr/>
        </p:nvSpPr>
        <p:spPr>
          <a:xfrm>
            <a:off x="123825" y="77821"/>
            <a:ext cx="12068175" cy="1077218"/>
          </a:xfrm>
          <a:prstGeom prst="rect">
            <a:avLst/>
          </a:prstGeom>
          <a:noFill/>
        </p:spPr>
        <p:txBody>
          <a:bodyPr wrap="square" rtlCol="0">
            <a:spAutoFit/>
          </a:bodyPr>
          <a:lstStyle/>
          <a:p>
            <a:pPr algn="ctr"/>
            <a:r>
              <a:rPr lang="en-US" sz="3200" dirty="0">
                <a:latin typeface="Calisto MT" panose="02040603050505030304" pitchFamily="18" charset="0"/>
              </a:rPr>
              <a:t>EXAMPLES</a:t>
            </a:r>
          </a:p>
          <a:p>
            <a:pPr algn="ctr"/>
            <a:r>
              <a:rPr lang="en-US" sz="3200" dirty="0">
                <a:latin typeface="Calisto MT" panose="02040603050505030304" pitchFamily="18" charset="0"/>
              </a:rPr>
              <a:t> RATER COMMENTS</a:t>
            </a:r>
          </a:p>
        </p:txBody>
      </p:sp>
      <p:pic>
        <p:nvPicPr>
          <p:cNvPr id="4" name="Picture 3" descr="A close up of a door&#10;&#10;Description automatically generated">
            <a:extLst>
              <a:ext uri="{FF2B5EF4-FFF2-40B4-BE49-F238E27FC236}">
                <a16:creationId xmlns:a16="http://schemas.microsoft.com/office/drawing/2014/main" id="{715FDBEB-E38B-4F82-B6BD-23AF4DB8EE2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64" r="51836" b="-1"/>
          <a:stretch/>
        </p:blipFill>
        <p:spPr>
          <a:xfrm>
            <a:off x="140371" y="10876"/>
            <a:ext cx="1167867" cy="1179862"/>
          </a:xfrm>
          <a:prstGeom prst="rect">
            <a:avLst/>
          </a:prstGeom>
        </p:spPr>
      </p:pic>
      <p:pic>
        <p:nvPicPr>
          <p:cNvPr id="5" name="Picture 4" descr="A close up of a door&#10;&#10;Description automatically generated">
            <a:extLst>
              <a:ext uri="{FF2B5EF4-FFF2-40B4-BE49-F238E27FC236}">
                <a16:creationId xmlns:a16="http://schemas.microsoft.com/office/drawing/2014/main" id="{38F18686-60CD-487A-96C7-E92A0CE3D06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164" r="51836" b="-1"/>
          <a:stretch/>
        </p:blipFill>
        <p:spPr>
          <a:xfrm>
            <a:off x="10871779" y="72666"/>
            <a:ext cx="1179850" cy="1179862"/>
          </a:xfrm>
          <a:prstGeom prst="rect">
            <a:avLst/>
          </a:prstGeom>
        </p:spPr>
      </p:pic>
    </p:spTree>
    <p:extLst>
      <p:ext uri="{BB962C8B-B14F-4D97-AF65-F5344CB8AC3E}">
        <p14:creationId xmlns:p14="http://schemas.microsoft.com/office/powerpoint/2010/main" val="9418518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3774" y="2101756"/>
            <a:ext cx="11750723" cy="1323439"/>
          </a:xfrm>
          <a:prstGeom prst="rect">
            <a:avLst/>
          </a:prstGeom>
          <a:noFill/>
        </p:spPr>
        <p:txBody>
          <a:bodyPr wrap="square" rtlCol="0">
            <a:spAutoFit/>
          </a:bodyPr>
          <a:lstStyle/>
          <a:p>
            <a:pPr algn="ctr"/>
            <a:r>
              <a:rPr lang="en-US" sz="4000" dirty="0"/>
              <a:t>Good luck</a:t>
            </a:r>
          </a:p>
          <a:p>
            <a:pPr algn="ctr"/>
            <a:r>
              <a:rPr lang="en-US" sz="4000" dirty="0"/>
              <a:t> I hope this presentation helps </a:t>
            </a:r>
          </a:p>
        </p:txBody>
      </p:sp>
    </p:spTree>
    <p:extLst>
      <p:ext uri="{BB962C8B-B14F-4D97-AF65-F5344CB8AC3E}">
        <p14:creationId xmlns:p14="http://schemas.microsoft.com/office/powerpoint/2010/main" val="8821625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4663</TotalTime>
  <Words>17590</Words>
  <Application>Microsoft Office PowerPoint</Application>
  <PresentationFormat>Widescreen</PresentationFormat>
  <Paragraphs>1684</Paragraphs>
  <Slides>43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Arial</vt:lpstr>
      <vt:lpstr>Arial Rounded MT Bold</vt:lpstr>
      <vt:lpstr>Bahnschrift SemiBold</vt:lpstr>
      <vt:lpstr>Calibri</vt:lpstr>
      <vt:lpstr>Calibri Light</vt:lpstr>
      <vt:lpstr>Calisto MT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United States Army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Springer, Marketa T MSG MIL USA NETCOM</dc:creator>
  <cp:lastModifiedBy>Reyna, Charmaine L. [US]</cp:lastModifiedBy>
  <cp:revision>118</cp:revision>
  <cp:lastPrinted>2019-09-23T16:24:19Z</cp:lastPrinted>
  <dcterms:created xsi:type="dcterms:W3CDTF">2019-09-10T17:35:46Z</dcterms:created>
  <dcterms:modified xsi:type="dcterms:W3CDTF">2024-05-22T19:45:50Z</dcterms:modified>
</cp:coreProperties>
</file>